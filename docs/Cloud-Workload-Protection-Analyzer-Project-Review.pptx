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core transformation: this is no longer a browser-only or regex-only demonstration. The project now compiles Bicep with the official compiler, analyzes effective ARM semantics, and is prepared for authenticated, private, observable Azure hosting across dev and prod.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accomplishment as an engineering system, not a single application feature. Six workstreams were completed in the repository: product/API, compiler-backed analysis, Azure security, reliability and telemetry, delivery automation, and software supply-chain controls.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why the compiler is central. Microsoft does not publish a supported native TypeScript parser with full Bicep semantics. Calling the official compiler gives module resolution and language diagnostics, while ARM JSON gives a stable semantic model for rule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The API remains backward compatible for a single source string, while the production request supports an entrypoint plus relative project files. Compilation failures return structured diagnostics instead of generic server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application endpoint remains reachable for users, but Container Apps built-in auth redirects anonymous users to Entra ID. The environment is VNet integrated so the runtime reaches ACR and Key Vault through private endpoints and private DNS. Managed identity removes secrets from service access.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useful for security questions. Emphasize that the service treats submitted Bicep as untrusted. It restricts file paths and volume, blocks external modules, limits compiler time and output, and guarantees cleanup. Source is not persisted or logged.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rule catalog expanded from six text checks to ten semantic controls. The API returns the same metadata-driven catalog used for evaluation, and every finding includes evidence such as the effective ARM resource or property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main.bicep is subscription scoped because it creates the environment resource group. Modules are resource-group scoped and each owns one concern. Outputs carry IDs, endpoints, and secure connection values between modules. Names are derived from subscription, environment, and location.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 validates code, tests, infrastructure, the production image, vulnerabilities, and the SBOM. Deployment uses a GitHub federated identity instead of a client secret, runs an Azure preview, requires production environment approval, and promotes the same commit-SHA image.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precise about current evidence: the repository has ten rules and seventeen automated unit, API, and infrastructure tests. The production Bicep compiles successfully, the browser suite passes, the production container runs the pinned compiler, and the Azure preview has passed. Deployment still requires tenant registration values and explicit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say the new production topology is already deployed. The implementation and mandatory Azure validation are complete. Remaining work is operational: create tenant app registrations, deploy dev, verify authentication/private networking/telemetry, then promote the same image to prod and exercise rollback.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Future work should build on the semantic foundation. Near-term improvements enhance usability and performance. The next stage adds standards-based output and organization-specific rule packs. Longer-term value comes from comparing templates with deployed state, integrating Defender signals, and generating reviewed remediation pull requests.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main.bicep creates per-environment resource groups. Names use uniqueString with environment and location. User-assigned identity gives a stable pre-created principal. ACR Premium enables private endpoints. The official compiler is the supported semantic implementation because no native supported TS parser exists. Local modules retain relative paths in an isolated workspace; external modules are rejected. Bicep infers most dependencies from references. Dev/prod differences are conditional parameters. Compile proves syntax/types, lint enforces policy, and preview evaluates changes against Azure. Rollback updates the app to a previously verified commit-SHA image.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transformation: the project now connects Bicep language semantics to a secure operational Azure platform. Repository implementation and Azure validation are complete. The next execution gate is tenant app registration, dev deployment and verification, then controlled production promotion.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3F7FA"/>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78D4"/>
          </a:solidFill>
          <a:ln w="12700">
            <a:solidFill>
              <a:srgbClr val="0078D4"/>
            </a:solidFill>
            <a:prstDash val="solid"/>
          </a:ln>
        </p:spPr>
      </p:sp>
      <p:sp>
        <p:nvSpPr>
          <p:cNvPr id="3" name="Text 1"/>
          <p:cNvSpPr/>
          <p:nvPr/>
        </p:nvSpPr>
        <p:spPr>
          <a:xfrm>
            <a:off x="502920" y="6455664"/>
            <a:ext cx="4389120" cy="164592"/>
          </a:xfrm>
          <a:prstGeom prst="rect">
            <a:avLst/>
          </a:prstGeom>
          <a:noFill/>
          <a:ln/>
        </p:spPr>
        <p:txBody>
          <a:bodyPr wrap="square" lIns="0" tIns="0" rIns="0" bIns="0" rtlCol="0" anchor="ctr"/>
          <a:lstStyle/>
          <a:p>
            <a:pPr indent="0" marL="0">
              <a:buNone/>
            </a:pPr>
            <a:r>
              <a:rPr lang="en-US" sz="850" spc="100" kern="0" dirty="0">
                <a:solidFill>
                  <a:srgbClr val="778897"/>
                </a:solidFill>
              </a:rPr>
              <a:t>CLOUD WORKLOAD PROTECTION READINESS ANALYZER</a:t>
            </a:r>
            <a:endParaRPr lang="en-US" sz="850" dirty="0"/>
          </a:p>
        </p:txBody>
      </p:sp>
      <p:sp>
        <p:nvSpPr>
          <p:cNvPr id="4" name="Text 2"/>
          <p:cNvSpPr/>
          <p:nvPr/>
        </p:nvSpPr>
        <p:spPr>
          <a:xfrm>
            <a:off x="8503920" y="6455664"/>
            <a:ext cx="3154680" cy="164592"/>
          </a:xfrm>
          <a:prstGeom prst="rect">
            <a:avLst/>
          </a:prstGeom>
          <a:noFill/>
          <a:ln/>
        </p:spPr>
        <p:txBody>
          <a:bodyPr wrap="square" lIns="0" tIns="0" rIns="0" bIns="0" rtlCol="0" anchor="ctr"/>
          <a:lstStyle/>
          <a:p>
            <a:pPr algn="r" indent="0" marL="0">
              <a:buNone/>
            </a:pPr>
            <a:r>
              <a:rPr lang="en-US" sz="850" dirty="0">
                <a:solidFill>
                  <a:srgbClr val="778897"/>
                </a:solidFill>
              </a:rPr>
              <a:t>PRODUCTION IMPLEMENTATION</a:t>
            </a:r>
            <a:endParaRPr lang="en-US" sz="850" dirty="0"/>
          </a:p>
        </p:txBody>
      </p:sp>
      <p:sp>
        <p:nvSpPr>
          <p:cNvPr id="25" name="Slide Number Placeholder 0"/>
          <p:cNvSpPr>
            <a:spLocks noGrp="1"/>
          </p:cNvSpPr>
          <p:nvPr>
            <p:ph type="sldNum" sz="quarter" idx="4294967295"/>
          </p:nvPr>
        </p:nvSpPr>
        <p:spPr>
          <a:xfrm>
            <a:off x="11722608" y="644652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778897"/>
                </a:solidFill>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722608" y="644652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778897"/>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A43"/>
        </a:solidFill>
      </p:bgPr>
    </p:bg>
    <p:spTree>
      <p:nvGrpSpPr>
        <p:cNvPr id="1" name=""/>
        <p:cNvGrpSpPr/>
        <p:nvPr/>
      </p:nvGrpSpPr>
      <p:grpSpPr>
        <a:xfrm>
          <a:off x="0" y="0"/>
          <a:ext cx="0" cy="0"/>
          <a:chOff x="0" y="0"/>
          <a:chExt cx="0" cy="0"/>
        </a:xfrm>
      </p:grpSpPr>
      <p:sp>
        <p:nvSpPr>
          <p:cNvPr id="2" name="Shape 0"/>
          <p:cNvSpPr/>
          <p:nvPr/>
        </p:nvSpPr>
        <p:spPr>
          <a:xfrm>
            <a:off x="8458200" y="-502920"/>
            <a:ext cx="4251960" cy="4251960"/>
          </a:xfrm>
          <a:prstGeom prst="ellipse">
            <a:avLst/>
          </a:prstGeom>
          <a:solidFill>
            <a:srgbClr val="0078D4">
              <a:alpha val="84000"/>
            </a:srgbClr>
          </a:solidFill>
          <a:ln w="12700">
            <a:solidFill>
              <a:srgbClr val="0078D4">
                <a:alpha val="0"/>
              </a:srgbClr>
            </a:solidFill>
            <a:prstDash val="solid"/>
          </a:ln>
        </p:spPr>
      </p:sp>
      <p:sp>
        <p:nvSpPr>
          <p:cNvPr id="3" name="Shape 1"/>
          <p:cNvSpPr/>
          <p:nvPr/>
        </p:nvSpPr>
        <p:spPr>
          <a:xfrm>
            <a:off x="9509760" y="3474720"/>
            <a:ext cx="2148840" cy="2148840"/>
          </a:xfrm>
          <a:prstGeom prst="ellipse">
            <a:avLst/>
          </a:prstGeom>
          <a:solidFill>
            <a:srgbClr val="F59E0B"/>
          </a:solidFill>
          <a:ln w="12700">
            <a:solidFill>
              <a:srgbClr val="F59E0B"/>
            </a:solidFill>
            <a:prstDash val="solid"/>
          </a:ln>
        </p:spPr>
      </p:sp>
      <p:sp>
        <p:nvSpPr>
          <p:cNvPr id="4" name="Text 2"/>
          <p:cNvSpPr/>
          <p:nvPr/>
        </p:nvSpPr>
        <p:spPr>
          <a:xfrm>
            <a:off x="658368" y="585216"/>
            <a:ext cx="5486400" cy="246888"/>
          </a:xfrm>
          <a:prstGeom prst="rect">
            <a:avLst/>
          </a:prstGeom>
          <a:noFill/>
          <a:ln/>
        </p:spPr>
        <p:txBody>
          <a:bodyPr wrap="square" lIns="0" tIns="0" rIns="0" bIns="0" rtlCol="0" anchor="ctr"/>
          <a:lstStyle/>
          <a:p>
            <a:pPr indent="0" marL="0">
              <a:buNone/>
            </a:pPr>
            <a:r>
              <a:rPr lang="en-US" sz="1150" b="1" spc="200" kern="0" dirty="0">
                <a:solidFill>
                  <a:srgbClr val="84D5FF"/>
                </a:solidFill>
              </a:rPr>
              <a:t>BICEP → SEMANTICS → SECURE AZURE</a:t>
            </a:r>
            <a:endParaRPr lang="en-US" sz="1150" dirty="0"/>
          </a:p>
        </p:txBody>
      </p:sp>
      <p:sp>
        <p:nvSpPr>
          <p:cNvPr id="5" name="Text 3"/>
          <p:cNvSpPr/>
          <p:nvPr/>
        </p:nvSpPr>
        <p:spPr>
          <a:xfrm>
            <a:off x="658368" y="1097280"/>
            <a:ext cx="7406640" cy="2240280"/>
          </a:xfrm>
          <a:prstGeom prst="rect">
            <a:avLst/>
          </a:prstGeom>
          <a:noFill/>
          <a:ln/>
        </p:spPr>
        <p:txBody>
          <a:bodyPr wrap="square" lIns="0" tIns="0" rIns="0" bIns="0" rtlCol="0" anchor="ctr"/>
          <a:lstStyle/>
          <a:p>
            <a:pPr indent="0" marL="0">
              <a:buNone/>
            </a:pPr>
            <a:r>
              <a:rPr lang="en-US" sz="3500" b="1" dirty="0">
                <a:solidFill>
                  <a:srgbClr val="FFFFFF"/>
                </a:solidFill>
              </a:rPr>
              <a:t>Cloud Workload</a:t>
            </a:r>
            <a:endParaRPr lang="en-US" sz="3500" dirty="0"/>
          </a:p>
          <a:p>
            <a:pPr indent="0" marL="0">
              <a:buNone/>
            </a:pPr>
            <a:r>
              <a:rPr lang="en-US" sz="3500" b="1" dirty="0">
                <a:solidFill>
                  <a:srgbClr val="FFFFFF"/>
                </a:solidFill>
              </a:rPr>
              <a:t>Protection Readiness</a:t>
            </a:r>
            <a:endParaRPr lang="en-US" sz="3500" dirty="0"/>
          </a:p>
          <a:p>
            <a:pPr indent="0" marL="0">
              <a:buNone/>
            </a:pPr>
            <a:r>
              <a:rPr lang="en-US" sz="3500" b="1" dirty="0">
                <a:solidFill>
                  <a:srgbClr val="FFFFFF"/>
                </a:solidFill>
              </a:rPr>
              <a:t>Analyzer</a:t>
            </a:r>
            <a:endParaRPr lang="en-US" sz="3500" dirty="0"/>
          </a:p>
        </p:txBody>
      </p:sp>
      <p:sp>
        <p:nvSpPr>
          <p:cNvPr id="6" name="Text 4"/>
          <p:cNvSpPr/>
          <p:nvPr/>
        </p:nvSpPr>
        <p:spPr>
          <a:xfrm>
            <a:off x="694944" y="3749040"/>
            <a:ext cx="5212080" cy="384048"/>
          </a:xfrm>
          <a:prstGeom prst="rect">
            <a:avLst/>
          </a:prstGeom>
          <a:noFill/>
          <a:ln/>
        </p:spPr>
        <p:txBody>
          <a:bodyPr wrap="square" lIns="0" tIns="0" rIns="0" bIns="0" rtlCol="0" anchor="ctr"/>
          <a:lstStyle/>
          <a:p>
            <a:pPr indent="0" marL="0">
              <a:buNone/>
            </a:pPr>
            <a:r>
              <a:rPr lang="en-US" sz="2000" dirty="0">
                <a:solidFill>
                  <a:srgbClr val="CFDCE6"/>
                </a:solidFill>
              </a:rPr>
              <a:t>Production implementation review</a:t>
            </a:r>
            <a:endParaRPr lang="en-US" sz="2000" dirty="0"/>
          </a:p>
        </p:txBody>
      </p:sp>
      <p:sp>
        <p:nvSpPr>
          <p:cNvPr id="7" name="Shape 5"/>
          <p:cNvSpPr/>
          <p:nvPr/>
        </p:nvSpPr>
        <p:spPr>
          <a:xfrm>
            <a:off x="694944" y="4617720"/>
            <a:ext cx="2148840" cy="347472"/>
          </a:xfrm>
          <a:prstGeom prst="roundRect">
            <a:avLst>
              <a:gd name="adj" fmla="val 26316"/>
            </a:avLst>
          </a:prstGeom>
          <a:solidFill>
            <a:srgbClr val="0078D4"/>
          </a:solidFill>
          <a:ln w="12700">
            <a:solidFill>
              <a:srgbClr val="0078D4"/>
            </a:solidFill>
            <a:prstDash val="solid"/>
          </a:ln>
        </p:spPr>
      </p:sp>
      <p:sp>
        <p:nvSpPr>
          <p:cNvPr id="8" name="Text 6"/>
          <p:cNvSpPr/>
          <p:nvPr/>
        </p:nvSpPr>
        <p:spPr>
          <a:xfrm>
            <a:off x="694944" y="4668012"/>
            <a:ext cx="2148840" cy="201168"/>
          </a:xfrm>
          <a:prstGeom prst="rect">
            <a:avLst/>
          </a:prstGeom>
          <a:noFill/>
          <a:ln/>
        </p:spPr>
        <p:txBody>
          <a:bodyPr wrap="square" lIns="0" tIns="0" rIns="0" bIns="0" rtlCol="0" anchor="ctr"/>
          <a:lstStyle/>
          <a:p>
            <a:pPr algn="ctr" indent="0" marL="0">
              <a:buNone/>
            </a:pPr>
            <a:r>
              <a:rPr lang="en-US" sz="1050" b="1" dirty="0">
                <a:solidFill>
                  <a:srgbClr val="FFFFFF"/>
                </a:solidFill>
              </a:rPr>
              <a:t>SEMANTIC ANALYSIS</a:t>
            </a:r>
            <a:endParaRPr lang="en-US" sz="1050" dirty="0"/>
          </a:p>
        </p:txBody>
      </p:sp>
      <p:sp>
        <p:nvSpPr>
          <p:cNvPr id="9" name="Shape 7"/>
          <p:cNvSpPr/>
          <p:nvPr/>
        </p:nvSpPr>
        <p:spPr>
          <a:xfrm>
            <a:off x="2999232" y="4617720"/>
            <a:ext cx="2148840" cy="347472"/>
          </a:xfrm>
          <a:prstGeom prst="roundRect">
            <a:avLst>
              <a:gd name="adj" fmla="val 26316"/>
            </a:avLst>
          </a:prstGeom>
          <a:solidFill>
            <a:srgbClr val="008C83"/>
          </a:solidFill>
          <a:ln w="12700">
            <a:solidFill>
              <a:srgbClr val="008C83"/>
            </a:solidFill>
            <a:prstDash val="solid"/>
          </a:ln>
        </p:spPr>
      </p:sp>
      <p:sp>
        <p:nvSpPr>
          <p:cNvPr id="10" name="Text 8"/>
          <p:cNvSpPr/>
          <p:nvPr/>
        </p:nvSpPr>
        <p:spPr>
          <a:xfrm>
            <a:off x="2999232" y="4668012"/>
            <a:ext cx="2148840" cy="201168"/>
          </a:xfrm>
          <a:prstGeom prst="rect">
            <a:avLst/>
          </a:prstGeom>
          <a:noFill/>
          <a:ln/>
        </p:spPr>
        <p:txBody>
          <a:bodyPr wrap="square" lIns="0" tIns="0" rIns="0" bIns="0" rtlCol="0" anchor="ctr"/>
          <a:lstStyle/>
          <a:p>
            <a:pPr algn="ctr" indent="0" marL="0">
              <a:buNone/>
            </a:pPr>
            <a:r>
              <a:rPr lang="en-US" sz="1050" b="1" dirty="0">
                <a:solidFill>
                  <a:srgbClr val="FFFFFF"/>
                </a:solidFill>
              </a:rPr>
              <a:t>PRIVATE AZURE</a:t>
            </a:r>
            <a:endParaRPr lang="en-US" sz="1050" dirty="0"/>
          </a:p>
        </p:txBody>
      </p:sp>
      <p:sp>
        <p:nvSpPr>
          <p:cNvPr id="11" name="Shape 9"/>
          <p:cNvSpPr/>
          <p:nvPr/>
        </p:nvSpPr>
        <p:spPr>
          <a:xfrm>
            <a:off x="5303520" y="4617720"/>
            <a:ext cx="2423160" cy="347472"/>
          </a:xfrm>
          <a:prstGeom prst="roundRect">
            <a:avLst>
              <a:gd name="adj" fmla="val 26316"/>
            </a:avLst>
          </a:prstGeom>
          <a:solidFill>
            <a:srgbClr val="F59E0B"/>
          </a:solidFill>
          <a:ln w="12700">
            <a:solidFill>
              <a:srgbClr val="F59E0B"/>
            </a:solidFill>
            <a:prstDash val="solid"/>
          </a:ln>
        </p:spPr>
      </p:sp>
      <p:sp>
        <p:nvSpPr>
          <p:cNvPr id="12" name="Text 10"/>
          <p:cNvSpPr/>
          <p:nvPr/>
        </p:nvSpPr>
        <p:spPr>
          <a:xfrm>
            <a:off x="5303520" y="4668012"/>
            <a:ext cx="2423160" cy="201168"/>
          </a:xfrm>
          <a:prstGeom prst="rect">
            <a:avLst/>
          </a:prstGeom>
          <a:noFill/>
          <a:ln/>
        </p:spPr>
        <p:txBody>
          <a:bodyPr wrap="square" lIns="0" tIns="0" rIns="0" bIns="0" rtlCol="0" anchor="ctr"/>
          <a:lstStyle/>
          <a:p>
            <a:pPr algn="ctr" indent="0" marL="0">
              <a:buNone/>
            </a:pPr>
            <a:r>
              <a:rPr lang="en-US" sz="1050" b="1" dirty="0">
                <a:solidFill>
                  <a:srgbClr val="102A43"/>
                </a:solidFill>
              </a:rPr>
              <a:t>DEV + PROD DELIVERY</a:t>
            </a:r>
            <a:endParaRPr lang="en-US" sz="1050" dirty="0"/>
          </a:p>
        </p:txBody>
      </p:sp>
      <p:sp>
        <p:nvSpPr>
          <p:cNvPr id="13" name="Text 11"/>
          <p:cNvSpPr/>
          <p:nvPr/>
        </p:nvSpPr>
        <p:spPr>
          <a:xfrm>
            <a:off x="694944" y="6053328"/>
            <a:ext cx="7772400" cy="256032"/>
          </a:xfrm>
          <a:prstGeom prst="rect">
            <a:avLst/>
          </a:prstGeom>
          <a:noFill/>
          <a:ln/>
        </p:spPr>
        <p:txBody>
          <a:bodyPr wrap="square" lIns="0" tIns="0" rIns="0" bIns="0" rtlCol="0" anchor="ctr"/>
          <a:lstStyle/>
          <a:p>
            <a:pPr indent="0" marL="0">
              <a:buNone/>
            </a:pPr>
            <a:r>
              <a:rPr lang="en-US" sz="1200" dirty="0">
                <a:solidFill>
                  <a:srgbClr val="9EB7C8"/>
                </a:solidFill>
              </a:rPr>
              <a:t>Project accomplishments • Bicep design • Go-live plan • Future roadmap</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7FA"/>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78D4"/>
          </a:solidFill>
          <a:ln w="12700">
            <a:solidFill>
              <a:srgbClr val="0078D4"/>
            </a:solidFill>
            <a:prstDash val="solid"/>
          </a:ln>
        </p:spPr>
      </p:sp>
      <p:sp>
        <p:nvSpPr>
          <p:cNvPr id="3" name="Text 1"/>
          <p:cNvSpPr/>
          <p:nvPr/>
        </p:nvSpPr>
        <p:spPr>
          <a:xfrm>
            <a:off x="502920" y="6455664"/>
            <a:ext cx="4389120" cy="164592"/>
          </a:xfrm>
          <a:prstGeom prst="rect">
            <a:avLst/>
          </a:prstGeom>
          <a:noFill/>
          <a:ln/>
        </p:spPr>
        <p:txBody>
          <a:bodyPr wrap="square" lIns="0" tIns="0" rIns="0" bIns="0" rtlCol="0" anchor="ctr"/>
          <a:lstStyle/>
          <a:p>
            <a:pPr indent="0" marL="0">
              <a:buNone/>
            </a:pPr>
            <a:r>
              <a:rPr lang="en-US" sz="850" spc="100" kern="0" dirty="0">
                <a:solidFill>
                  <a:srgbClr val="778897"/>
                </a:solidFill>
              </a:rPr>
              <a:t>CLOUD WORKLOAD PROTECTION READINESS ANALYZER</a:t>
            </a:r>
            <a:endParaRPr lang="en-US" sz="850" dirty="0"/>
          </a:p>
        </p:txBody>
      </p:sp>
      <p:sp>
        <p:nvSpPr>
          <p:cNvPr id="4" name="Text 2"/>
          <p:cNvSpPr/>
          <p:nvPr/>
        </p:nvSpPr>
        <p:spPr>
          <a:xfrm>
            <a:off x="8503920" y="6455664"/>
            <a:ext cx="2743200" cy="164592"/>
          </a:xfrm>
          <a:prstGeom prst="rect">
            <a:avLst/>
          </a:prstGeom>
          <a:noFill/>
          <a:ln/>
        </p:spPr>
        <p:txBody>
          <a:bodyPr wrap="square" lIns="0" tIns="0" rIns="0" bIns="0" rtlCol="0" anchor="ctr"/>
          <a:lstStyle/>
          <a:p>
            <a:pPr algn="r" indent="0" marL="0">
              <a:buNone/>
            </a:pPr>
            <a:r>
              <a:rPr lang="en-US" sz="850" dirty="0">
                <a:solidFill>
                  <a:srgbClr val="778897"/>
                </a:solidFill>
              </a:rPr>
              <a:t>PRODUCTION IMPLEMENTATION</a:t>
            </a:r>
            <a:endParaRPr lang="en-US" sz="850" dirty="0"/>
          </a:p>
        </p:txBody>
      </p:sp>
      <p:sp>
        <p:nvSpPr>
          <p:cNvPr id="5" name="Text 3"/>
          <p:cNvSpPr/>
          <p:nvPr/>
        </p:nvSpPr>
        <p:spPr>
          <a:xfrm>
            <a:off x="11475720" y="6437376"/>
            <a:ext cx="228600" cy="164592"/>
          </a:xfrm>
          <a:prstGeom prst="rect">
            <a:avLst/>
          </a:prstGeom>
          <a:noFill/>
          <a:ln/>
        </p:spPr>
        <p:txBody>
          <a:bodyPr wrap="square" lIns="0" tIns="0" rIns="0" bIns="0" rtlCol="0" anchor="ctr"/>
          <a:lstStyle/>
          <a:p>
            <a:pPr algn="r" indent="0" marL="0">
              <a:buNone/>
            </a:pPr>
            <a:r>
              <a:rPr lang="en-US" sz="850" dirty="0">
                <a:solidFill>
                  <a:srgbClr val="778897"/>
                </a:solidFill>
              </a:rPr>
              <a:t>2</a:t>
            </a:r>
            <a:endParaRPr lang="en-US" sz="850" dirty="0"/>
          </a:p>
        </p:txBody>
      </p:sp>
      <p:sp>
        <p:nvSpPr>
          <p:cNvPr id="6" name="Text 4"/>
          <p:cNvSpPr/>
          <p:nvPr/>
        </p:nvSpPr>
        <p:spPr>
          <a:xfrm>
            <a:off x="548640" y="310896"/>
            <a:ext cx="5029200" cy="219456"/>
          </a:xfrm>
          <a:prstGeom prst="rect">
            <a:avLst/>
          </a:prstGeom>
          <a:noFill/>
          <a:ln/>
        </p:spPr>
        <p:txBody>
          <a:bodyPr wrap="square" lIns="0" tIns="0" rIns="0" bIns="0" rtlCol="0" anchor="ctr"/>
          <a:lstStyle/>
          <a:p>
            <a:pPr indent="0" marL="0">
              <a:buNone/>
            </a:pPr>
            <a:r>
              <a:rPr lang="en-US" sz="1050" b="1" spc="160" kern="0" dirty="0">
                <a:solidFill>
                  <a:srgbClr val="0078D4"/>
                </a:solidFill>
              </a:rPr>
              <a:t>EXECUTIVE SNAPSHOT</a:t>
            </a:r>
            <a:endParaRPr lang="en-US" sz="1050" dirty="0"/>
          </a:p>
        </p:txBody>
      </p:sp>
      <p:sp>
        <p:nvSpPr>
          <p:cNvPr id="7" name="Text 5"/>
          <p:cNvSpPr/>
          <p:nvPr/>
        </p:nvSpPr>
        <p:spPr>
          <a:xfrm>
            <a:off x="548640" y="640080"/>
            <a:ext cx="11018520" cy="484632"/>
          </a:xfrm>
          <a:prstGeom prst="rect">
            <a:avLst/>
          </a:prstGeom>
          <a:noFill/>
          <a:ln/>
        </p:spPr>
        <p:txBody>
          <a:bodyPr wrap="square" lIns="0" tIns="0" rIns="0" bIns="0" rtlCol="0" anchor="ctr"/>
          <a:lstStyle/>
          <a:p>
            <a:pPr indent="0" marL="0">
              <a:buNone/>
            </a:pPr>
            <a:r>
              <a:rPr lang="en-US" sz="2900" b="1" dirty="0">
                <a:solidFill>
                  <a:srgbClr val="102A43"/>
                </a:solidFill>
              </a:rPr>
              <a:t>A complete production engineering path</a:t>
            </a:r>
            <a:endParaRPr lang="en-US" sz="2900" dirty="0"/>
          </a:p>
        </p:txBody>
      </p:sp>
      <p:sp>
        <p:nvSpPr>
          <p:cNvPr id="8" name="Text 6"/>
          <p:cNvSpPr/>
          <p:nvPr/>
        </p:nvSpPr>
        <p:spPr>
          <a:xfrm>
            <a:off x="566928" y="1170432"/>
            <a:ext cx="10698480" cy="347472"/>
          </a:xfrm>
          <a:prstGeom prst="rect">
            <a:avLst/>
          </a:prstGeom>
          <a:noFill/>
          <a:ln/>
        </p:spPr>
        <p:txBody>
          <a:bodyPr wrap="square" lIns="0" tIns="0" rIns="0" bIns="0" rtlCol="0" anchor="ctr"/>
          <a:lstStyle/>
          <a:p>
            <a:pPr indent="0" marL="0">
              <a:buNone/>
            </a:pPr>
            <a:r>
              <a:rPr lang="en-US" sz="1350" dirty="0">
                <a:solidFill>
                  <a:srgbClr val="5D6B78"/>
                </a:solidFill>
              </a:rPr>
              <a:t>The implementation spans product experience, semantic analysis, Azure architecture, security, operations, and delivery.</a:t>
            </a:r>
            <a:endParaRPr lang="en-US" sz="1350" dirty="0"/>
          </a:p>
        </p:txBody>
      </p:sp>
      <p:sp>
        <p:nvSpPr>
          <p:cNvPr id="9" name="Shape 7"/>
          <p:cNvSpPr/>
          <p:nvPr/>
        </p:nvSpPr>
        <p:spPr>
          <a:xfrm>
            <a:off x="685800" y="1691640"/>
            <a:ext cx="5257800" cy="4069080"/>
          </a:xfrm>
          <a:prstGeom prst="roundRect">
            <a:avLst/>
          </a:prstGeom>
          <a:solidFill>
            <a:srgbClr val="E7F4FC"/>
          </a:solidFill>
          <a:ln w="12700">
            <a:solidFill>
              <a:srgbClr val="0078D4"/>
            </a:solidFill>
            <a:prstDash val="solid"/>
          </a:ln>
        </p:spPr>
      </p:sp>
      <p:sp>
        <p:nvSpPr>
          <p:cNvPr id="10" name="Text 8"/>
          <p:cNvSpPr/>
          <p:nvPr/>
        </p:nvSpPr>
        <p:spPr>
          <a:xfrm>
            <a:off x="1005840" y="2057400"/>
            <a:ext cx="4389120" cy="320040"/>
          </a:xfrm>
          <a:prstGeom prst="rect">
            <a:avLst/>
          </a:prstGeom>
          <a:noFill/>
          <a:ln/>
        </p:spPr>
        <p:txBody>
          <a:bodyPr wrap="square" lIns="0" tIns="0" rIns="0" bIns="0" rtlCol="0" anchor="ctr"/>
          <a:lstStyle/>
          <a:p>
            <a:pPr algn="ctr" indent="0" marL="0">
              <a:buNone/>
            </a:pPr>
            <a:r>
              <a:rPr lang="en-US" sz="2000" b="1" dirty="0">
                <a:solidFill>
                  <a:srgbClr val="102A43"/>
                </a:solidFill>
              </a:rPr>
              <a:t>APPLICATION + ANALYZER</a:t>
            </a:r>
            <a:endParaRPr lang="en-US" sz="2000" dirty="0"/>
          </a:p>
        </p:txBody>
      </p:sp>
      <p:sp>
        <p:nvSpPr>
          <p:cNvPr id="11" name="Text 9"/>
          <p:cNvSpPr/>
          <p:nvPr/>
        </p:nvSpPr>
        <p:spPr>
          <a:xfrm>
            <a:off x="1143000" y="2743200"/>
            <a:ext cx="4114800" cy="2103120"/>
          </a:xfrm>
          <a:prstGeom prst="rect">
            <a:avLst/>
          </a:prstGeom>
          <a:noFill/>
          <a:ln/>
        </p:spPr>
        <p:txBody>
          <a:bodyPr wrap="square" lIns="0" tIns="0" rIns="0" bIns="0" rtlCol="0" anchor="ctr"/>
          <a:lstStyle/>
          <a:p>
            <a:pPr algn="ctr" indent="0" marL="0">
              <a:buNone/>
            </a:pPr>
            <a:r>
              <a:rPr lang="en-US" sz="1700" dirty="0">
                <a:solidFill>
                  <a:srgbClr val="203040"/>
                </a:solidFill>
              </a:rPr>
              <a:t>React portal and Express API</a:t>
            </a:r>
            <a:endParaRPr lang="en-US" sz="1700" dirty="0"/>
          </a:p>
          <a:p>
            <a:pPr algn="ctr" indent="0" marL="0">
              <a:buNone/>
            </a:pPr>
            <a:r>
              <a:rPr lang="en-US" sz="1700" dirty="0">
                <a:solidFill>
                  <a:srgbClr val="203040"/>
                </a:solidFill>
              </a:rPr>
              <a:t>Official Bicep compiler</a:t>
            </a:r>
            <a:endParaRPr lang="en-US" sz="1700" dirty="0"/>
          </a:p>
          <a:p>
            <a:pPr algn="ctr" indent="0" marL="0">
              <a:buNone/>
            </a:pPr>
            <a:r>
              <a:rPr lang="en-US" sz="1700" dirty="0">
                <a:solidFill>
                  <a:srgbClr val="203040"/>
                </a:solidFill>
              </a:rPr>
              <a:t>Local module support</a:t>
            </a:r>
            <a:endParaRPr lang="en-US" sz="1700" dirty="0"/>
          </a:p>
          <a:p>
            <a:pPr algn="ctr" indent="0" marL="0">
              <a:buNone/>
            </a:pPr>
            <a:r>
              <a:rPr lang="en-US" sz="1700" dirty="0">
                <a:solidFill>
                  <a:srgbClr val="203040"/>
                </a:solidFill>
              </a:rPr>
              <a:t>Compiler diagnostics and evidence</a:t>
            </a:r>
            <a:endParaRPr lang="en-US" sz="1700" dirty="0"/>
          </a:p>
          <a:p>
            <a:pPr algn="ctr" indent="0" marL="0">
              <a:buNone/>
            </a:pPr>
            <a:r>
              <a:rPr lang="en-US" sz="1700" dirty="0">
                <a:solidFill>
                  <a:srgbClr val="203040"/>
                </a:solidFill>
              </a:rPr>
              <a:t>Ten semantic rules</a:t>
            </a:r>
            <a:endParaRPr lang="en-US" sz="1700" dirty="0"/>
          </a:p>
        </p:txBody>
      </p:sp>
      <p:sp>
        <p:nvSpPr>
          <p:cNvPr id="12" name="Shape 10"/>
          <p:cNvSpPr/>
          <p:nvPr/>
        </p:nvSpPr>
        <p:spPr>
          <a:xfrm>
            <a:off x="6263640" y="1691640"/>
            <a:ext cx="5257800" cy="4069080"/>
          </a:xfrm>
          <a:prstGeom prst="roundRect">
            <a:avLst/>
          </a:prstGeom>
          <a:solidFill>
            <a:srgbClr val="E5F7F2"/>
          </a:solidFill>
          <a:ln w="12700">
            <a:solidFill>
              <a:srgbClr val="008C83"/>
            </a:solidFill>
            <a:prstDash val="solid"/>
          </a:ln>
        </p:spPr>
      </p:sp>
      <p:sp>
        <p:nvSpPr>
          <p:cNvPr id="13" name="Text 11"/>
          <p:cNvSpPr/>
          <p:nvPr/>
        </p:nvSpPr>
        <p:spPr>
          <a:xfrm>
            <a:off x="6583680" y="2057400"/>
            <a:ext cx="4389120" cy="320040"/>
          </a:xfrm>
          <a:prstGeom prst="rect">
            <a:avLst/>
          </a:prstGeom>
          <a:noFill/>
          <a:ln/>
        </p:spPr>
        <p:txBody>
          <a:bodyPr wrap="square" lIns="0" tIns="0" rIns="0" bIns="0" rtlCol="0" anchor="ctr"/>
          <a:lstStyle/>
          <a:p>
            <a:pPr algn="ctr" indent="0" marL="0">
              <a:buNone/>
            </a:pPr>
            <a:r>
              <a:rPr lang="en-US" sz="2000" b="1" dirty="0">
                <a:solidFill>
                  <a:srgbClr val="102A43"/>
                </a:solidFill>
              </a:rPr>
              <a:t>AZURE + OPERATIONS</a:t>
            </a:r>
            <a:endParaRPr lang="en-US" sz="2000" dirty="0"/>
          </a:p>
        </p:txBody>
      </p:sp>
      <p:sp>
        <p:nvSpPr>
          <p:cNvPr id="14" name="Text 12"/>
          <p:cNvSpPr/>
          <p:nvPr/>
        </p:nvSpPr>
        <p:spPr>
          <a:xfrm>
            <a:off x="6720840" y="2743200"/>
            <a:ext cx="4114800" cy="2103120"/>
          </a:xfrm>
          <a:prstGeom prst="rect">
            <a:avLst/>
          </a:prstGeom>
          <a:noFill/>
          <a:ln/>
        </p:spPr>
        <p:txBody>
          <a:bodyPr wrap="square" lIns="0" tIns="0" rIns="0" bIns="0" rtlCol="0" anchor="ctr"/>
          <a:lstStyle/>
          <a:p>
            <a:pPr algn="ctr" indent="0" marL="0">
              <a:buNone/>
            </a:pPr>
            <a:r>
              <a:rPr lang="en-US" sz="1700" dirty="0">
                <a:solidFill>
                  <a:srgbClr val="203040"/>
                </a:solidFill>
              </a:rPr>
              <a:t>Entra authentication</a:t>
            </a:r>
            <a:endParaRPr lang="en-US" sz="1700" dirty="0"/>
          </a:p>
          <a:p>
            <a:pPr algn="ctr" indent="0" marL="0">
              <a:buNone/>
            </a:pPr>
            <a:r>
              <a:rPr lang="en-US" sz="1700" dirty="0">
                <a:solidFill>
                  <a:srgbClr val="203040"/>
                </a:solidFill>
              </a:rPr>
              <a:t>VNet and private endpoints</a:t>
            </a:r>
            <a:endParaRPr lang="en-US" sz="1700" dirty="0"/>
          </a:p>
          <a:p>
            <a:pPr algn="ctr" indent="0" marL="0">
              <a:buNone/>
            </a:pPr>
            <a:r>
              <a:rPr lang="en-US" sz="1700" dirty="0">
                <a:solidFill>
                  <a:srgbClr val="203040"/>
                </a:solidFill>
              </a:rPr>
              <a:t>Managed identity and scoped RBAC</a:t>
            </a:r>
            <a:endParaRPr lang="en-US" sz="1700" dirty="0"/>
          </a:p>
          <a:p>
            <a:pPr algn="ctr" indent="0" marL="0">
              <a:buNone/>
            </a:pPr>
            <a:r>
              <a:rPr lang="en-US" sz="1700" dirty="0">
                <a:solidFill>
                  <a:srgbClr val="203040"/>
                </a:solidFill>
              </a:rPr>
              <a:t>Application Insights and alerts</a:t>
            </a:r>
            <a:endParaRPr lang="en-US" sz="1700" dirty="0"/>
          </a:p>
          <a:p>
            <a:pPr algn="ctr" indent="0" marL="0">
              <a:buNone/>
            </a:pPr>
            <a:r>
              <a:rPr lang="en-US" sz="1700" dirty="0">
                <a:solidFill>
                  <a:srgbClr val="203040"/>
                </a:solidFill>
              </a:rPr>
              <a:t>Dev/prod OIDC delivery</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7FA"/>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78D4"/>
          </a:solidFill>
          <a:ln w="12700">
            <a:solidFill>
              <a:srgbClr val="0078D4"/>
            </a:solidFill>
            <a:prstDash val="solid"/>
          </a:ln>
        </p:spPr>
      </p:sp>
      <p:sp>
        <p:nvSpPr>
          <p:cNvPr id="3" name="Text 1"/>
          <p:cNvSpPr/>
          <p:nvPr/>
        </p:nvSpPr>
        <p:spPr>
          <a:xfrm>
            <a:off x="502920" y="6455664"/>
            <a:ext cx="4389120" cy="164592"/>
          </a:xfrm>
          <a:prstGeom prst="rect">
            <a:avLst/>
          </a:prstGeom>
          <a:noFill/>
          <a:ln/>
        </p:spPr>
        <p:txBody>
          <a:bodyPr wrap="square" lIns="0" tIns="0" rIns="0" bIns="0" rtlCol="0" anchor="ctr"/>
          <a:lstStyle/>
          <a:p>
            <a:pPr indent="0" marL="0">
              <a:buNone/>
            </a:pPr>
            <a:r>
              <a:rPr lang="en-US" sz="850" spc="100" kern="0" dirty="0">
                <a:solidFill>
                  <a:srgbClr val="778897"/>
                </a:solidFill>
              </a:rPr>
              <a:t>CLOUD WORKLOAD PROTECTION READINESS ANALYZER</a:t>
            </a:r>
            <a:endParaRPr lang="en-US" sz="850" dirty="0"/>
          </a:p>
        </p:txBody>
      </p:sp>
      <p:sp>
        <p:nvSpPr>
          <p:cNvPr id="4" name="Text 2"/>
          <p:cNvSpPr/>
          <p:nvPr/>
        </p:nvSpPr>
        <p:spPr>
          <a:xfrm>
            <a:off x="8503920" y="6455664"/>
            <a:ext cx="2743200" cy="164592"/>
          </a:xfrm>
          <a:prstGeom prst="rect">
            <a:avLst/>
          </a:prstGeom>
          <a:noFill/>
          <a:ln/>
        </p:spPr>
        <p:txBody>
          <a:bodyPr wrap="square" lIns="0" tIns="0" rIns="0" bIns="0" rtlCol="0" anchor="ctr"/>
          <a:lstStyle/>
          <a:p>
            <a:pPr algn="r" indent="0" marL="0">
              <a:buNone/>
            </a:pPr>
            <a:r>
              <a:rPr lang="en-US" sz="850" dirty="0">
                <a:solidFill>
                  <a:srgbClr val="778897"/>
                </a:solidFill>
              </a:rPr>
              <a:t>PRODUCTION IMPLEMENTATION</a:t>
            </a:r>
            <a:endParaRPr lang="en-US" sz="850" dirty="0"/>
          </a:p>
        </p:txBody>
      </p:sp>
      <p:sp>
        <p:nvSpPr>
          <p:cNvPr id="5" name="Text 3"/>
          <p:cNvSpPr/>
          <p:nvPr/>
        </p:nvSpPr>
        <p:spPr>
          <a:xfrm>
            <a:off x="11475720" y="6437376"/>
            <a:ext cx="228600" cy="164592"/>
          </a:xfrm>
          <a:prstGeom prst="rect">
            <a:avLst/>
          </a:prstGeom>
          <a:noFill/>
          <a:ln/>
        </p:spPr>
        <p:txBody>
          <a:bodyPr wrap="square" lIns="0" tIns="0" rIns="0" bIns="0" rtlCol="0" anchor="ctr"/>
          <a:lstStyle/>
          <a:p>
            <a:pPr algn="r" indent="0" marL="0">
              <a:buNone/>
            </a:pPr>
            <a:r>
              <a:rPr lang="en-US" sz="850" dirty="0">
                <a:solidFill>
                  <a:srgbClr val="778897"/>
                </a:solidFill>
              </a:rPr>
              <a:t>3</a:t>
            </a:r>
            <a:endParaRPr lang="en-US" sz="850" dirty="0"/>
          </a:p>
        </p:txBody>
      </p:sp>
      <p:sp>
        <p:nvSpPr>
          <p:cNvPr id="6" name="Text 4"/>
          <p:cNvSpPr/>
          <p:nvPr/>
        </p:nvSpPr>
        <p:spPr>
          <a:xfrm>
            <a:off x="548640" y="310896"/>
            <a:ext cx="5029200" cy="219456"/>
          </a:xfrm>
          <a:prstGeom prst="rect">
            <a:avLst/>
          </a:prstGeom>
          <a:noFill/>
          <a:ln/>
        </p:spPr>
        <p:txBody>
          <a:bodyPr wrap="square" lIns="0" tIns="0" rIns="0" bIns="0" rtlCol="0" anchor="ctr"/>
          <a:lstStyle/>
          <a:p>
            <a:pPr indent="0" marL="0">
              <a:buNone/>
            </a:pPr>
            <a:r>
              <a:rPr lang="en-US" sz="1050" b="1" spc="160" kern="0" dirty="0">
                <a:solidFill>
                  <a:srgbClr val="0078D4"/>
                </a:solidFill>
              </a:rPr>
              <a:t>PROJECT JOURNEY</a:t>
            </a:r>
            <a:endParaRPr lang="en-US" sz="1050" dirty="0"/>
          </a:p>
        </p:txBody>
      </p:sp>
      <p:sp>
        <p:nvSpPr>
          <p:cNvPr id="7" name="Text 5"/>
          <p:cNvSpPr/>
          <p:nvPr/>
        </p:nvSpPr>
        <p:spPr>
          <a:xfrm>
            <a:off x="548640" y="640080"/>
            <a:ext cx="11018520" cy="484632"/>
          </a:xfrm>
          <a:prstGeom prst="rect">
            <a:avLst/>
          </a:prstGeom>
          <a:noFill/>
          <a:ln/>
        </p:spPr>
        <p:txBody>
          <a:bodyPr wrap="square" lIns="0" tIns="0" rIns="0" bIns="0" rtlCol="0" anchor="ctr"/>
          <a:lstStyle/>
          <a:p>
            <a:pPr indent="0" marL="0">
              <a:buNone/>
            </a:pPr>
            <a:r>
              <a:rPr lang="en-US" sz="2900" b="1" dirty="0">
                <a:solidFill>
                  <a:srgbClr val="102A43"/>
                </a:solidFill>
              </a:rPr>
              <a:t>From pattern matching to trusted deployment semantics</a:t>
            </a:r>
            <a:endParaRPr lang="en-US" sz="2900" dirty="0"/>
          </a:p>
        </p:txBody>
      </p:sp>
      <p:sp>
        <p:nvSpPr>
          <p:cNvPr id="8" name="Text 6"/>
          <p:cNvSpPr/>
          <p:nvPr/>
        </p:nvSpPr>
        <p:spPr>
          <a:xfrm>
            <a:off x="566928" y="1170432"/>
            <a:ext cx="10698480" cy="347472"/>
          </a:xfrm>
          <a:prstGeom prst="rect">
            <a:avLst/>
          </a:prstGeom>
          <a:noFill/>
          <a:ln/>
        </p:spPr>
        <p:txBody>
          <a:bodyPr wrap="square" lIns="0" tIns="0" rIns="0" bIns="0" rtlCol="0" anchor="ctr"/>
          <a:lstStyle/>
          <a:p>
            <a:pPr indent="0" marL="0">
              <a:buNone/>
            </a:pPr>
            <a:r>
              <a:rPr lang="en-US" sz="1350" dirty="0">
                <a:solidFill>
                  <a:srgbClr val="5D6B78"/>
                </a:solidFill>
              </a:rPr>
              <a:t>The key design decision was to analyze what Azure will deploy—not what a regular expression happens to see.</a:t>
            </a:r>
            <a:endParaRPr lang="en-US" sz="1350" dirty="0"/>
          </a:p>
        </p:txBody>
      </p:sp>
      <p:sp>
        <p:nvSpPr>
          <p:cNvPr id="9" name="Shape 7"/>
          <p:cNvSpPr/>
          <p:nvPr/>
        </p:nvSpPr>
        <p:spPr>
          <a:xfrm>
            <a:off x="594360" y="1691640"/>
            <a:ext cx="3246120" cy="3977640"/>
          </a:xfrm>
          <a:prstGeom prst="roundRect">
            <a:avLst>
              <a:gd name="adj" fmla="val 2254"/>
            </a:avLst>
          </a:prstGeom>
          <a:solidFill>
            <a:srgbClr val="FFFFFF"/>
          </a:solidFill>
          <a:ln w="12700">
            <a:solidFill>
              <a:srgbClr val="D7E2EA"/>
            </a:solidFill>
            <a:prstDash val="solid"/>
          </a:ln>
        </p:spPr>
      </p:sp>
      <p:sp>
        <p:nvSpPr>
          <p:cNvPr id="10" name="Shape 8"/>
          <p:cNvSpPr/>
          <p:nvPr/>
        </p:nvSpPr>
        <p:spPr>
          <a:xfrm>
            <a:off x="594360" y="1691640"/>
            <a:ext cx="91440" cy="3977640"/>
          </a:xfrm>
          <a:prstGeom prst="rect">
            <a:avLst/>
          </a:prstGeom>
          <a:solidFill>
            <a:srgbClr val="DC5A4A"/>
          </a:solidFill>
          <a:ln w="12700">
            <a:solidFill>
              <a:srgbClr val="DC5A4A"/>
            </a:solidFill>
            <a:prstDash val="solid"/>
          </a:ln>
        </p:spPr>
      </p:sp>
      <p:sp>
        <p:nvSpPr>
          <p:cNvPr id="11" name="Text 9"/>
          <p:cNvSpPr/>
          <p:nvPr/>
        </p:nvSpPr>
        <p:spPr>
          <a:xfrm>
            <a:off x="886968" y="1920240"/>
            <a:ext cx="2715768" cy="310896"/>
          </a:xfrm>
          <a:prstGeom prst="rect">
            <a:avLst/>
          </a:prstGeom>
          <a:noFill/>
          <a:ln/>
        </p:spPr>
        <p:txBody>
          <a:bodyPr wrap="square" lIns="0" tIns="0" rIns="0" bIns="0" rtlCol="0" anchor="ctr"/>
          <a:lstStyle/>
          <a:p>
            <a:pPr indent="0" marL="0">
              <a:buNone/>
            </a:pPr>
            <a:r>
              <a:rPr lang="en-US" sz="1700" b="1" dirty="0">
                <a:solidFill>
                  <a:srgbClr val="203040"/>
                </a:solidFill>
              </a:rPr>
              <a:t>1. Original challenge</a:t>
            </a:r>
            <a:endParaRPr lang="en-US" sz="1700" dirty="0"/>
          </a:p>
        </p:txBody>
      </p:sp>
      <p:sp>
        <p:nvSpPr>
          <p:cNvPr id="12" name="Text 10"/>
          <p:cNvSpPr/>
          <p:nvPr/>
        </p:nvSpPr>
        <p:spPr>
          <a:xfrm>
            <a:off x="886968" y="2404872"/>
            <a:ext cx="2715768" cy="3044952"/>
          </a:xfrm>
          <a:prstGeom prst="rect">
            <a:avLst/>
          </a:prstGeom>
          <a:noFill/>
          <a:ln/>
        </p:spPr>
        <p:txBody>
          <a:bodyPr wrap="square" lIns="0" tIns="0" rIns="0" bIns="0" rtlCol="0" anchor="t"/>
          <a:lstStyle/>
          <a:p>
            <a:pPr indent="0" marL="0">
              <a:buNone/>
            </a:pPr>
            <a:r>
              <a:rPr lang="en-US" sz="1320" dirty="0">
                <a:solidFill>
                  <a:srgbClr val="5D6B78"/>
                </a:solidFill>
              </a:rPr>
              <a:t>Bicep is expressive: modules, parameters, variables, loops, conditions, and symbolic references hide effective values from text-only checks.</a:t>
            </a:r>
            <a:endParaRPr lang="en-US" sz="1320" dirty="0"/>
          </a:p>
        </p:txBody>
      </p:sp>
      <p:sp>
        <p:nvSpPr>
          <p:cNvPr id="13" name="Shape 11"/>
          <p:cNvSpPr/>
          <p:nvPr/>
        </p:nvSpPr>
        <p:spPr>
          <a:xfrm>
            <a:off x="3977640" y="3291840"/>
            <a:ext cx="384048" cy="438912"/>
          </a:xfrm>
          <a:prstGeom prst="chevron">
            <a:avLst/>
          </a:prstGeom>
          <a:solidFill>
            <a:srgbClr val="AFC6D6"/>
          </a:solidFill>
          <a:ln w="12700">
            <a:solidFill>
              <a:srgbClr val="AFC6D6"/>
            </a:solidFill>
            <a:prstDash val="solid"/>
          </a:ln>
        </p:spPr>
      </p:sp>
      <p:sp>
        <p:nvSpPr>
          <p:cNvPr id="14" name="Shape 12"/>
          <p:cNvSpPr/>
          <p:nvPr/>
        </p:nvSpPr>
        <p:spPr>
          <a:xfrm>
            <a:off x="4407408" y="1691640"/>
            <a:ext cx="3246120" cy="3977640"/>
          </a:xfrm>
          <a:prstGeom prst="roundRect">
            <a:avLst>
              <a:gd name="adj" fmla="val 2254"/>
            </a:avLst>
          </a:prstGeom>
          <a:solidFill>
            <a:srgbClr val="FFFFFF"/>
          </a:solidFill>
          <a:ln w="12700">
            <a:solidFill>
              <a:srgbClr val="D7E2EA"/>
            </a:solidFill>
            <a:prstDash val="solid"/>
          </a:ln>
        </p:spPr>
      </p:sp>
      <p:sp>
        <p:nvSpPr>
          <p:cNvPr id="15" name="Shape 13"/>
          <p:cNvSpPr/>
          <p:nvPr/>
        </p:nvSpPr>
        <p:spPr>
          <a:xfrm>
            <a:off x="4407408" y="1691640"/>
            <a:ext cx="91440" cy="3977640"/>
          </a:xfrm>
          <a:prstGeom prst="rect">
            <a:avLst/>
          </a:prstGeom>
          <a:solidFill>
            <a:srgbClr val="0078D4"/>
          </a:solidFill>
          <a:ln w="12700">
            <a:solidFill>
              <a:srgbClr val="0078D4"/>
            </a:solidFill>
            <a:prstDash val="solid"/>
          </a:ln>
        </p:spPr>
      </p:sp>
      <p:sp>
        <p:nvSpPr>
          <p:cNvPr id="16" name="Text 14"/>
          <p:cNvSpPr/>
          <p:nvPr/>
        </p:nvSpPr>
        <p:spPr>
          <a:xfrm>
            <a:off x="4700016" y="1920240"/>
            <a:ext cx="2715768" cy="310896"/>
          </a:xfrm>
          <a:prstGeom prst="rect">
            <a:avLst/>
          </a:prstGeom>
          <a:noFill/>
          <a:ln/>
        </p:spPr>
        <p:txBody>
          <a:bodyPr wrap="square" lIns="0" tIns="0" rIns="0" bIns="0" rtlCol="0" anchor="ctr"/>
          <a:lstStyle/>
          <a:p>
            <a:pPr indent="0" marL="0">
              <a:buNone/>
            </a:pPr>
            <a:r>
              <a:rPr lang="en-US" sz="1700" b="1" dirty="0">
                <a:solidFill>
                  <a:srgbClr val="203040"/>
                </a:solidFill>
              </a:rPr>
              <a:t>2. Engineering decision</a:t>
            </a:r>
            <a:endParaRPr lang="en-US" sz="1700" dirty="0"/>
          </a:p>
        </p:txBody>
      </p:sp>
      <p:sp>
        <p:nvSpPr>
          <p:cNvPr id="17" name="Text 15"/>
          <p:cNvSpPr/>
          <p:nvPr/>
        </p:nvSpPr>
        <p:spPr>
          <a:xfrm>
            <a:off x="4700016" y="2404872"/>
            <a:ext cx="2715768" cy="3044952"/>
          </a:xfrm>
          <a:prstGeom prst="rect">
            <a:avLst/>
          </a:prstGeom>
          <a:noFill/>
          <a:ln/>
        </p:spPr>
        <p:txBody>
          <a:bodyPr wrap="square" lIns="0" tIns="0" rIns="0" bIns="0" rtlCol="0" anchor="t"/>
          <a:lstStyle/>
          <a:p>
            <a:pPr indent="0" marL="0">
              <a:buNone/>
            </a:pPr>
            <a:r>
              <a:rPr lang="en-US" sz="1320" dirty="0">
                <a:solidFill>
                  <a:srgbClr val="5D6B78"/>
                </a:solidFill>
              </a:rPr>
              <a:t>Use the official Bicep compiler as the semantic boundary. Compile local projects with no external restore, then inspect the generated ARM template.</a:t>
            </a:r>
            <a:endParaRPr lang="en-US" sz="1320" dirty="0"/>
          </a:p>
        </p:txBody>
      </p:sp>
      <p:sp>
        <p:nvSpPr>
          <p:cNvPr id="18" name="Shape 16"/>
          <p:cNvSpPr/>
          <p:nvPr/>
        </p:nvSpPr>
        <p:spPr>
          <a:xfrm>
            <a:off x="7790688" y="3291840"/>
            <a:ext cx="384048" cy="438912"/>
          </a:xfrm>
          <a:prstGeom prst="chevron">
            <a:avLst/>
          </a:prstGeom>
          <a:solidFill>
            <a:srgbClr val="AFC6D6"/>
          </a:solidFill>
          <a:ln w="12700">
            <a:solidFill>
              <a:srgbClr val="AFC6D6"/>
            </a:solidFill>
            <a:prstDash val="solid"/>
          </a:ln>
        </p:spPr>
      </p:sp>
      <p:sp>
        <p:nvSpPr>
          <p:cNvPr id="19" name="Shape 17"/>
          <p:cNvSpPr/>
          <p:nvPr/>
        </p:nvSpPr>
        <p:spPr>
          <a:xfrm>
            <a:off x="8220456" y="1691640"/>
            <a:ext cx="3246120" cy="3977640"/>
          </a:xfrm>
          <a:prstGeom prst="roundRect">
            <a:avLst>
              <a:gd name="adj" fmla="val 2254"/>
            </a:avLst>
          </a:prstGeom>
          <a:solidFill>
            <a:srgbClr val="FFFFFF"/>
          </a:solidFill>
          <a:ln w="12700">
            <a:solidFill>
              <a:srgbClr val="D7E2EA"/>
            </a:solidFill>
            <a:prstDash val="solid"/>
          </a:ln>
        </p:spPr>
      </p:sp>
      <p:sp>
        <p:nvSpPr>
          <p:cNvPr id="20" name="Shape 18"/>
          <p:cNvSpPr/>
          <p:nvPr/>
        </p:nvSpPr>
        <p:spPr>
          <a:xfrm>
            <a:off x="8220456" y="1691640"/>
            <a:ext cx="91440" cy="3977640"/>
          </a:xfrm>
          <a:prstGeom prst="rect">
            <a:avLst/>
          </a:prstGeom>
          <a:solidFill>
            <a:srgbClr val="008C83"/>
          </a:solidFill>
          <a:ln w="12700">
            <a:solidFill>
              <a:srgbClr val="008C83"/>
            </a:solidFill>
            <a:prstDash val="solid"/>
          </a:ln>
        </p:spPr>
      </p:sp>
      <p:sp>
        <p:nvSpPr>
          <p:cNvPr id="21" name="Text 19"/>
          <p:cNvSpPr/>
          <p:nvPr/>
        </p:nvSpPr>
        <p:spPr>
          <a:xfrm>
            <a:off x="8513064" y="1920240"/>
            <a:ext cx="2715768" cy="310896"/>
          </a:xfrm>
          <a:prstGeom prst="rect">
            <a:avLst/>
          </a:prstGeom>
          <a:noFill/>
          <a:ln/>
        </p:spPr>
        <p:txBody>
          <a:bodyPr wrap="square" lIns="0" tIns="0" rIns="0" bIns="0" rtlCol="0" anchor="ctr"/>
          <a:lstStyle/>
          <a:p>
            <a:pPr indent="0" marL="0">
              <a:buNone/>
            </a:pPr>
            <a:r>
              <a:rPr lang="en-US" sz="1700" b="1" dirty="0">
                <a:solidFill>
                  <a:srgbClr val="203040"/>
                </a:solidFill>
              </a:rPr>
              <a:t>3. Production result</a:t>
            </a:r>
            <a:endParaRPr lang="en-US" sz="1700" dirty="0"/>
          </a:p>
        </p:txBody>
      </p:sp>
      <p:sp>
        <p:nvSpPr>
          <p:cNvPr id="22" name="Text 20"/>
          <p:cNvSpPr/>
          <p:nvPr/>
        </p:nvSpPr>
        <p:spPr>
          <a:xfrm>
            <a:off x="8513064" y="2404872"/>
            <a:ext cx="2715768" cy="3044952"/>
          </a:xfrm>
          <a:prstGeom prst="rect">
            <a:avLst/>
          </a:prstGeom>
          <a:noFill/>
          <a:ln/>
        </p:spPr>
        <p:txBody>
          <a:bodyPr wrap="square" lIns="0" tIns="0" rIns="0" bIns="0" rtlCol="0" anchor="t"/>
          <a:lstStyle/>
          <a:p>
            <a:pPr indent="0" marL="0">
              <a:buNone/>
            </a:pPr>
            <a:r>
              <a:rPr lang="en-US" sz="1320" dirty="0">
                <a:solidFill>
                  <a:srgbClr val="5D6B78"/>
                </a:solidFill>
              </a:rPr>
              <a:t>Module-aware findings, compiler diagnostics, evidence paths, bounded execution, and deterministic rules aligned to deployable Azure properties.</a:t>
            </a:r>
            <a:endParaRPr lang="en-US" sz="13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7FA"/>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78D4"/>
          </a:solidFill>
          <a:ln w="12700">
            <a:solidFill>
              <a:srgbClr val="0078D4"/>
            </a:solidFill>
            <a:prstDash val="solid"/>
          </a:ln>
        </p:spPr>
      </p:sp>
      <p:sp>
        <p:nvSpPr>
          <p:cNvPr id="3" name="Text 1"/>
          <p:cNvSpPr/>
          <p:nvPr/>
        </p:nvSpPr>
        <p:spPr>
          <a:xfrm>
            <a:off x="502920" y="6455664"/>
            <a:ext cx="4389120" cy="164592"/>
          </a:xfrm>
          <a:prstGeom prst="rect">
            <a:avLst/>
          </a:prstGeom>
          <a:noFill/>
          <a:ln/>
        </p:spPr>
        <p:txBody>
          <a:bodyPr wrap="square" lIns="0" tIns="0" rIns="0" bIns="0" rtlCol="0" anchor="ctr"/>
          <a:lstStyle/>
          <a:p>
            <a:pPr indent="0" marL="0">
              <a:buNone/>
            </a:pPr>
            <a:r>
              <a:rPr lang="en-US" sz="850" spc="100" kern="0" dirty="0">
                <a:solidFill>
                  <a:srgbClr val="778897"/>
                </a:solidFill>
              </a:rPr>
              <a:t>CLOUD WORKLOAD PROTECTION READINESS ANALYZER</a:t>
            </a:r>
            <a:endParaRPr lang="en-US" sz="850" dirty="0"/>
          </a:p>
        </p:txBody>
      </p:sp>
      <p:sp>
        <p:nvSpPr>
          <p:cNvPr id="4" name="Text 2"/>
          <p:cNvSpPr/>
          <p:nvPr/>
        </p:nvSpPr>
        <p:spPr>
          <a:xfrm>
            <a:off x="8503920" y="6455664"/>
            <a:ext cx="2743200" cy="164592"/>
          </a:xfrm>
          <a:prstGeom prst="rect">
            <a:avLst/>
          </a:prstGeom>
          <a:noFill/>
          <a:ln/>
        </p:spPr>
        <p:txBody>
          <a:bodyPr wrap="square" lIns="0" tIns="0" rIns="0" bIns="0" rtlCol="0" anchor="ctr"/>
          <a:lstStyle/>
          <a:p>
            <a:pPr algn="r" indent="0" marL="0">
              <a:buNone/>
            </a:pPr>
            <a:r>
              <a:rPr lang="en-US" sz="850" dirty="0">
                <a:solidFill>
                  <a:srgbClr val="778897"/>
                </a:solidFill>
              </a:rPr>
              <a:t>PRODUCTION IMPLEMENTATION</a:t>
            </a:r>
            <a:endParaRPr lang="en-US" sz="850" dirty="0"/>
          </a:p>
        </p:txBody>
      </p:sp>
      <p:sp>
        <p:nvSpPr>
          <p:cNvPr id="5" name="Text 3"/>
          <p:cNvSpPr/>
          <p:nvPr/>
        </p:nvSpPr>
        <p:spPr>
          <a:xfrm>
            <a:off x="11475720" y="6437376"/>
            <a:ext cx="228600" cy="164592"/>
          </a:xfrm>
          <a:prstGeom prst="rect">
            <a:avLst/>
          </a:prstGeom>
          <a:noFill/>
          <a:ln/>
        </p:spPr>
        <p:txBody>
          <a:bodyPr wrap="square" lIns="0" tIns="0" rIns="0" bIns="0" rtlCol="0" anchor="ctr"/>
          <a:lstStyle/>
          <a:p>
            <a:pPr algn="r" indent="0" marL="0">
              <a:buNone/>
            </a:pPr>
            <a:r>
              <a:rPr lang="en-US" sz="850" dirty="0">
                <a:solidFill>
                  <a:srgbClr val="778897"/>
                </a:solidFill>
              </a:rPr>
              <a:t>4</a:t>
            </a:r>
            <a:endParaRPr lang="en-US" sz="850" dirty="0"/>
          </a:p>
        </p:txBody>
      </p:sp>
      <p:sp>
        <p:nvSpPr>
          <p:cNvPr id="6" name="Text 4"/>
          <p:cNvSpPr/>
          <p:nvPr/>
        </p:nvSpPr>
        <p:spPr>
          <a:xfrm>
            <a:off x="548640" y="310896"/>
            <a:ext cx="5029200" cy="219456"/>
          </a:xfrm>
          <a:prstGeom prst="rect">
            <a:avLst/>
          </a:prstGeom>
          <a:noFill/>
          <a:ln/>
        </p:spPr>
        <p:txBody>
          <a:bodyPr wrap="square" lIns="0" tIns="0" rIns="0" bIns="0" rtlCol="0" anchor="ctr"/>
          <a:lstStyle/>
          <a:p>
            <a:pPr indent="0" marL="0">
              <a:buNone/>
            </a:pPr>
            <a:r>
              <a:rPr lang="en-US" sz="1050" b="1" spc="160" kern="0" dirty="0">
                <a:solidFill>
                  <a:srgbClr val="0078D4"/>
                </a:solidFill>
              </a:rPr>
              <a:t>PRODUCT EXPERIENCE</a:t>
            </a:r>
            <a:endParaRPr lang="en-US" sz="1050" dirty="0"/>
          </a:p>
        </p:txBody>
      </p:sp>
      <p:sp>
        <p:nvSpPr>
          <p:cNvPr id="7" name="Text 5"/>
          <p:cNvSpPr/>
          <p:nvPr/>
        </p:nvSpPr>
        <p:spPr>
          <a:xfrm>
            <a:off x="548640" y="640080"/>
            <a:ext cx="11018520" cy="484632"/>
          </a:xfrm>
          <a:prstGeom prst="rect">
            <a:avLst/>
          </a:prstGeom>
          <a:noFill/>
          <a:ln/>
        </p:spPr>
        <p:txBody>
          <a:bodyPr wrap="square" lIns="0" tIns="0" rIns="0" bIns="0" rtlCol="0" anchor="ctr"/>
          <a:lstStyle/>
          <a:p>
            <a:pPr indent="0" marL="0">
              <a:buNone/>
            </a:pPr>
            <a:r>
              <a:rPr lang="en-US" sz="2900" b="1" dirty="0">
                <a:solidFill>
                  <a:srgbClr val="102A43"/>
                </a:solidFill>
              </a:rPr>
              <a:t>One workflow from Bicep input to actionable evidence</a:t>
            </a:r>
            <a:endParaRPr lang="en-US" sz="2900" dirty="0"/>
          </a:p>
        </p:txBody>
      </p:sp>
      <p:sp>
        <p:nvSpPr>
          <p:cNvPr id="8" name="Shape 6"/>
          <p:cNvSpPr/>
          <p:nvPr/>
        </p:nvSpPr>
        <p:spPr>
          <a:xfrm>
            <a:off x="502920" y="1874520"/>
            <a:ext cx="1920240" cy="3063240"/>
          </a:xfrm>
          <a:prstGeom prst="roundRect">
            <a:avLst>
              <a:gd name="adj" fmla="val 3810"/>
            </a:avLst>
          </a:prstGeom>
          <a:solidFill>
            <a:srgbClr val="FFFFFF"/>
          </a:solidFill>
          <a:ln w="12700">
            <a:solidFill>
              <a:srgbClr val="D7E2EA"/>
            </a:solidFill>
            <a:prstDash val="solid"/>
          </a:ln>
        </p:spPr>
      </p:sp>
      <p:sp>
        <p:nvSpPr>
          <p:cNvPr id="9" name="Shape 7"/>
          <p:cNvSpPr/>
          <p:nvPr/>
        </p:nvSpPr>
        <p:spPr>
          <a:xfrm>
            <a:off x="1115568" y="2176272"/>
            <a:ext cx="694944" cy="694944"/>
          </a:xfrm>
          <a:prstGeom prst="ellipse">
            <a:avLst/>
          </a:prstGeom>
          <a:solidFill>
            <a:srgbClr val="0078D4"/>
          </a:solidFill>
          <a:ln w="12700">
            <a:solidFill>
              <a:srgbClr val="0078D4"/>
            </a:solidFill>
            <a:prstDash val="solid"/>
          </a:ln>
        </p:spPr>
      </p:sp>
      <p:sp>
        <p:nvSpPr>
          <p:cNvPr id="10" name="Text 8"/>
          <p:cNvSpPr/>
          <p:nvPr/>
        </p:nvSpPr>
        <p:spPr>
          <a:xfrm>
            <a:off x="1115568" y="2368296"/>
            <a:ext cx="694944" cy="201168"/>
          </a:xfrm>
          <a:prstGeom prst="rect">
            <a:avLst/>
          </a:prstGeom>
          <a:noFill/>
          <a:ln/>
        </p:spPr>
        <p:txBody>
          <a:bodyPr wrap="square" lIns="0" tIns="0" rIns="0" bIns="0" rtlCol="0" anchor="ctr"/>
          <a:lstStyle/>
          <a:p>
            <a:pPr algn="ctr" indent="0" marL="0">
              <a:buNone/>
            </a:pPr>
            <a:r>
              <a:rPr lang="en-US" sz="1500" b="1" dirty="0">
                <a:solidFill>
                  <a:srgbClr val="FFFFFF"/>
                </a:solidFill>
              </a:rPr>
              <a:t>01</a:t>
            </a:r>
            <a:endParaRPr lang="en-US" sz="1500" dirty="0"/>
          </a:p>
        </p:txBody>
      </p:sp>
      <p:sp>
        <p:nvSpPr>
          <p:cNvPr id="11" name="Text 9"/>
          <p:cNvSpPr/>
          <p:nvPr/>
        </p:nvSpPr>
        <p:spPr>
          <a:xfrm>
            <a:off x="667512" y="3172968"/>
            <a:ext cx="1591056" cy="347472"/>
          </a:xfrm>
          <a:prstGeom prst="rect">
            <a:avLst/>
          </a:prstGeom>
          <a:noFill/>
          <a:ln/>
        </p:spPr>
        <p:txBody>
          <a:bodyPr wrap="square" lIns="0" tIns="0" rIns="0" bIns="0" rtlCol="0" anchor="ctr"/>
          <a:lstStyle/>
          <a:p>
            <a:pPr algn="ctr" indent="0" marL="0">
              <a:buNone/>
            </a:pPr>
            <a:r>
              <a:rPr lang="en-US" sz="1900" b="1" dirty="0">
                <a:solidFill>
                  <a:srgbClr val="102A43"/>
                </a:solidFill>
              </a:rPr>
              <a:t>Submit</a:t>
            </a:r>
            <a:endParaRPr lang="en-US" sz="1900" dirty="0"/>
          </a:p>
        </p:txBody>
      </p:sp>
      <p:sp>
        <p:nvSpPr>
          <p:cNvPr id="12" name="Text 10"/>
          <p:cNvSpPr/>
          <p:nvPr/>
        </p:nvSpPr>
        <p:spPr>
          <a:xfrm>
            <a:off x="685800" y="3767328"/>
            <a:ext cx="1554480" cy="777240"/>
          </a:xfrm>
          <a:prstGeom prst="rect">
            <a:avLst/>
          </a:prstGeom>
          <a:noFill/>
          <a:ln/>
        </p:spPr>
        <p:txBody>
          <a:bodyPr wrap="square" lIns="0" tIns="0" rIns="0" bIns="0" rtlCol="0" anchor="ctr"/>
          <a:lstStyle/>
          <a:p>
            <a:pPr algn="ctr" indent="0" marL="0">
              <a:buNone/>
            </a:pPr>
            <a:r>
              <a:rPr lang="en-US" sz="1300" dirty="0">
                <a:solidFill>
                  <a:srgbClr val="5D6B78"/>
                </a:solidFill>
              </a:rPr>
              <a:t>Single file or local multi-file project</a:t>
            </a:r>
            <a:endParaRPr lang="en-US" sz="1300" dirty="0"/>
          </a:p>
        </p:txBody>
      </p:sp>
      <p:sp>
        <p:nvSpPr>
          <p:cNvPr id="13" name="Shape 11"/>
          <p:cNvSpPr/>
          <p:nvPr/>
        </p:nvSpPr>
        <p:spPr>
          <a:xfrm>
            <a:off x="2450592" y="3163824"/>
            <a:ext cx="310896" cy="438912"/>
          </a:xfrm>
          <a:prstGeom prst="chevron">
            <a:avLst/>
          </a:prstGeom>
          <a:solidFill>
            <a:srgbClr val="AFC6D6"/>
          </a:solidFill>
          <a:ln w="12700">
            <a:solidFill>
              <a:srgbClr val="AFC6D6"/>
            </a:solidFill>
            <a:prstDash val="solid"/>
          </a:ln>
        </p:spPr>
      </p:sp>
      <p:sp>
        <p:nvSpPr>
          <p:cNvPr id="14" name="Shape 12"/>
          <p:cNvSpPr/>
          <p:nvPr/>
        </p:nvSpPr>
        <p:spPr>
          <a:xfrm>
            <a:off x="2834640" y="1874520"/>
            <a:ext cx="1920240" cy="3063240"/>
          </a:xfrm>
          <a:prstGeom prst="roundRect">
            <a:avLst>
              <a:gd name="adj" fmla="val 3810"/>
            </a:avLst>
          </a:prstGeom>
          <a:solidFill>
            <a:srgbClr val="E7F4FC"/>
          </a:solidFill>
          <a:ln w="12700">
            <a:solidFill>
              <a:srgbClr val="B9DAEE"/>
            </a:solidFill>
            <a:prstDash val="solid"/>
          </a:ln>
        </p:spPr>
      </p:sp>
      <p:sp>
        <p:nvSpPr>
          <p:cNvPr id="15" name="Shape 13"/>
          <p:cNvSpPr/>
          <p:nvPr/>
        </p:nvSpPr>
        <p:spPr>
          <a:xfrm>
            <a:off x="3447288" y="2176272"/>
            <a:ext cx="694944" cy="694944"/>
          </a:xfrm>
          <a:prstGeom prst="ellipse">
            <a:avLst/>
          </a:prstGeom>
          <a:solidFill>
            <a:srgbClr val="0078D4"/>
          </a:solidFill>
          <a:ln w="12700">
            <a:solidFill>
              <a:srgbClr val="0078D4"/>
            </a:solidFill>
            <a:prstDash val="solid"/>
          </a:ln>
        </p:spPr>
      </p:sp>
      <p:sp>
        <p:nvSpPr>
          <p:cNvPr id="16" name="Text 14"/>
          <p:cNvSpPr/>
          <p:nvPr/>
        </p:nvSpPr>
        <p:spPr>
          <a:xfrm>
            <a:off x="3447288" y="2368296"/>
            <a:ext cx="694944" cy="201168"/>
          </a:xfrm>
          <a:prstGeom prst="rect">
            <a:avLst/>
          </a:prstGeom>
          <a:noFill/>
          <a:ln/>
        </p:spPr>
        <p:txBody>
          <a:bodyPr wrap="square" lIns="0" tIns="0" rIns="0" bIns="0" rtlCol="0" anchor="ctr"/>
          <a:lstStyle/>
          <a:p>
            <a:pPr algn="ctr" indent="0" marL="0">
              <a:buNone/>
            </a:pPr>
            <a:r>
              <a:rPr lang="en-US" sz="1500" b="1" dirty="0">
                <a:solidFill>
                  <a:srgbClr val="FFFFFF"/>
                </a:solidFill>
              </a:rPr>
              <a:t>02</a:t>
            </a:r>
            <a:endParaRPr lang="en-US" sz="1500" dirty="0"/>
          </a:p>
        </p:txBody>
      </p:sp>
      <p:sp>
        <p:nvSpPr>
          <p:cNvPr id="17" name="Text 15"/>
          <p:cNvSpPr/>
          <p:nvPr/>
        </p:nvSpPr>
        <p:spPr>
          <a:xfrm>
            <a:off x="2999232" y="3172968"/>
            <a:ext cx="1591056" cy="347472"/>
          </a:xfrm>
          <a:prstGeom prst="rect">
            <a:avLst/>
          </a:prstGeom>
          <a:noFill/>
          <a:ln/>
        </p:spPr>
        <p:txBody>
          <a:bodyPr wrap="square" lIns="0" tIns="0" rIns="0" bIns="0" rtlCol="0" anchor="ctr"/>
          <a:lstStyle/>
          <a:p>
            <a:pPr algn="ctr" indent="0" marL="0">
              <a:buNone/>
            </a:pPr>
            <a:r>
              <a:rPr lang="en-US" sz="1900" b="1" dirty="0">
                <a:solidFill>
                  <a:srgbClr val="102A43"/>
                </a:solidFill>
              </a:rPr>
              <a:t>Validate</a:t>
            </a:r>
            <a:endParaRPr lang="en-US" sz="1900" dirty="0"/>
          </a:p>
        </p:txBody>
      </p:sp>
      <p:sp>
        <p:nvSpPr>
          <p:cNvPr id="18" name="Text 16"/>
          <p:cNvSpPr/>
          <p:nvPr/>
        </p:nvSpPr>
        <p:spPr>
          <a:xfrm>
            <a:off x="3017520" y="3767328"/>
            <a:ext cx="1554480" cy="777240"/>
          </a:xfrm>
          <a:prstGeom prst="rect">
            <a:avLst/>
          </a:prstGeom>
          <a:noFill/>
          <a:ln/>
        </p:spPr>
        <p:txBody>
          <a:bodyPr wrap="square" lIns="0" tIns="0" rIns="0" bIns="0" rtlCol="0" anchor="ctr"/>
          <a:lstStyle/>
          <a:p>
            <a:pPr algn="ctr" indent="0" marL="0">
              <a:buNone/>
            </a:pPr>
            <a:r>
              <a:rPr lang="en-US" sz="1300" dirty="0">
                <a:solidFill>
                  <a:srgbClr val="5D6B78"/>
                </a:solidFill>
              </a:rPr>
              <a:t>Paths, extensions, count, and total size</a:t>
            </a:r>
            <a:endParaRPr lang="en-US" sz="1300" dirty="0"/>
          </a:p>
        </p:txBody>
      </p:sp>
      <p:sp>
        <p:nvSpPr>
          <p:cNvPr id="19" name="Shape 17"/>
          <p:cNvSpPr/>
          <p:nvPr/>
        </p:nvSpPr>
        <p:spPr>
          <a:xfrm>
            <a:off x="4782312" y="3163824"/>
            <a:ext cx="310896" cy="438912"/>
          </a:xfrm>
          <a:prstGeom prst="chevron">
            <a:avLst/>
          </a:prstGeom>
          <a:solidFill>
            <a:srgbClr val="AFC6D6"/>
          </a:solidFill>
          <a:ln w="12700">
            <a:solidFill>
              <a:srgbClr val="AFC6D6"/>
            </a:solidFill>
            <a:prstDash val="solid"/>
          </a:ln>
        </p:spPr>
      </p:sp>
      <p:sp>
        <p:nvSpPr>
          <p:cNvPr id="20" name="Shape 18"/>
          <p:cNvSpPr/>
          <p:nvPr/>
        </p:nvSpPr>
        <p:spPr>
          <a:xfrm>
            <a:off x="5166360" y="1874520"/>
            <a:ext cx="1920240" cy="3063240"/>
          </a:xfrm>
          <a:prstGeom prst="roundRect">
            <a:avLst>
              <a:gd name="adj" fmla="val 3810"/>
            </a:avLst>
          </a:prstGeom>
          <a:solidFill>
            <a:srgbClr val="FFFFFF"/>
          </a:solidFill>
          <a:ln w="12700">
            <a:solidFill>
              <a:srgbClr val="D7E2EA"/>
            </a:solidFill>
            <a:prstDash val="solid"/>
          </a:ln>
        </p:spPr>
      </p:sp>
      <p:sp>
        <p:nvSpPr>
          <p:cNvPr id="21" name="Shape 19"/>
          <p:cNvSpPr/>
          <p:nvPr/>
        </p:nvSpPr>
        <p:spPr>
          <a:xfrm>
            <a:off x="5779008" y="2176272"/>
            <a:ext cx="694944" cy="694944"/>
          </a:xfrm>
          <a:prstGeom prst="ellipse">
            <a:avLst/>
          </a:prstGeom>
          <a:solidFill>
            <a:srgbClr val="0078D4"/>
          </a:solidFill>
          <a:ln w="12700">
            <a:solidFill>
              <a:srgbClr val="0078D4"/>
            </a:solidFill>
            <a:prstDash val="solid"/>
          </a:ln>
        </p:spPr>
      </p:sp>
      <p:sp>
        <p:nvSpPr>
          <p:cNvPr id="22" name="Text 20"/>
          <p:cNvSpPr/>
          <p:nvPr/>
        </p:nvSpPr>
        <p:spPr>
          <a:xfrm>
            <a:off x="5779008" y="2368296"/>
            <a:ext cx="694944" cy="201168"/>
          </a:xfrm>
          <a:prstGeom prst="rect">
            <a:avLst/>
          </a:prstGeom>
          <a:noFill/>
          <a:ln/>
        </p:spPr>
        <p:txBody>
          <a:bodyPr wrap="square" lIns="0" tIns="0" rIns="0" bIns="0" rtlCol="0" anchor="ctr"/>
          <a:lstStyle/>
          <a:p>
            <a:pPr algn="ctr" indent="0" marL="0">
              <a:buNone/>
            </a:pPr>
            <a:r>
              <a:rPr lang="en-US" sz="1500" b="1" dirty="0">
                <a:solidFill>
                  <a:srgbClr val="FFFFFF"/>
                </a:solidFill>
              </a:rPr>
              <a:t>03</a:t>
            </a:r>
            <a:endParaRPr lang="en-US" sz="1500" dirty="0"/>
          </a:p>
        </p:txBody>
      </p:sp>
      <p:sp>
        <p:nvSpPr>
          <p:cNvPr id="23" name="Text 21"/>
          <p:cNvSpPr/>
          <p:nvPr/>
        </p:nvSpPr>
        <p:spPr>
          <a:xfrm>
            <a:off x="5330952" y="3172968"/>
            <a:ext cx="1591056" cy="347472"/>
          </a:xfrm>
          <a:prstGeom prst="rect">
            <a:avLst/>
          </a:prstGeom>
          <a:noFill/>
          <a:ln/>
        </p:spPr>
        <p:txBody>
          <a:bodyPr wrap="square" lIns="0" tIns="0" rIns="0" bIns="0" rtlCol="0" anchor="ctr"/>
          <a:lstStyle/>
          <a:p>
            <a:pPr algn="ctr" indent="0" marL="0">
              <a:buNone/>
            </a:pPr>
            <a:r>
              <a:rPr lang="en-US" sz="1900" b="1" dirty="0">
                <a:solidFill>
                  <a:srgbClr val="102A43"/>
                </a:solidFill>
              </a:rPr>
              <a:t>Compile</a:t>
            </a:r>
            <a:endParaRPr lang="en-US" sz="1900" dirty="0"/>
          </a:p>
        </p:txBody>
      </p:sp>
      <p:sp>
        <p:nvSpPr>
          <p:cNvPr id="24" name="Text 22"/>
          <p:cNvSpPr/>
          <p:nvPr/>
        </p:nvSpPr>
        <p:spPr>
          <a:xfrm>
            <a:off x="5349240" y="3767328"/>
            <a:ext cx="1554480" cy="777240"/>
          </a:xfrm>
          <a:prstGeom prst="rect">
            <a:avLst/>
          </a:prstGeom>
          <a:noFill/>
          <a:ln/>
        </p:spPr>
        <p:txBody>
          <a:bodyPr wrap="square" lIns="0" tIns="0" rIns="0" bIns="0" rtlCol="0" anchor="ctr"/>
          <a:lstStyle/>
          <a:p>
            <a:pPr algn="ctr" indent="0" marL="0">
              <a:buNone/>
            </a:pPr>
            <a:r>
              <a:rPr lang="en-US" sz="1300" dirty="0">
                <a:solidFill>
                  <a:srgbClr val="5D6B78"/>
                </a:solidFill>
              </a:rPr>
              <a:t>Official Bicep CLI with --no-restore</a:t>
            </a:r>
            <a:endParaRPr lang="en-US" sz="1300" dirty="0"/>
          </a:p>
        </p:txBody>
      </p:sp>
      <p:sp>
        <p:nvSpPr>
          <p:cNvPr id="25" name="Shape 23"/>
          <p:cNvSpPr/>
          <p:nvPr/>
        </p:nvSpPr>
        <p:spPr>
          <a:xfrm>
            <a:off x="7114032" y="3163824"/>
            <a:ext cx="310896" cy="438912"/>
          </a:xfrm>
          <a:prstGeom prst="chevron">
            <a:avLst/>
          </a:prstGeom>
          <a:solidFill>
            <a:srgbClr val="AFC6D6"/>
          </a:solidFill>
          <a:ln w="12700">
            <a:solidFill>
              <a:srgbClr val="AFC6D6"/>
            </a:solidFill>
            <a:prstDash val="solid"/>
          </a:ln>
        </p:spPr>
      </p:sp>
      <p:sp>
        <p:nvSpPr>
          <p:cNvPr id="26" name="Shape 24"/>
          <p:cNvSpPr/>
          <p:nvPr/>
        </p:nvSpPr>
        <p:spPr>
          <a:xfrm>
            <a:off x="7498080" y="1874520"/>
            <a:ext cx="1920240" cy="3063240"/>
          </a:xfrm>
          <a:prstGeom prst="roundRect">
            <a:avLst>
              <a:gd name="adj" fmla="val 3810"/>
            </a:avLst>
          </a:prstGeom>
          <a:solidFill>
            <a:srgbClr val="E7F4FC"/>
          </a:solidFill>
          <a:ln w="12700">
            <a:solidFill>
              <a:srgbClr val="B9DAEE"/>
            </a:solidFill>
            <a:prstDash val="solid"/>
          </a:ln>
        </p:spPr>
      </p:sp>
      <p:sp>
        <p:nvSpPr>
          <p:cNvPr id="27" name="Shape 25"/>
          <p:cNvSpPr/>
          <p:nvPr/>
        </p:nvSpPr>
        <p:spPr>
          <a:xfrm>
            <a:off x="8110728" y="2176272"/>
            <a:ext cx="694944" cy="694944"/>
          </a:xfrm>
          <a:prstGeom prst="ellipse">
            <a:avLst/>
          </a:prstGeom>
          <a:solidFill>
            <a:srgbClr val="0078D4"/>
          </a:solidFill>
          <a:ln w="12700">
            <a:solidFill>
              <a:srgbClr val="0078D4"/>
            </a:solidFill>
            <a:prstDash val="solid"/>
          </a:ln>
        </p:spPr>
      </p:sp>
      <p:sp>
        <p:nvSpPr>
          <p:cNvPr id="28" name="Text 26"/>
          <p:cNvSpPr/>
          <p:nvPr/>
        </p:nvSpPr>
        <p:spPr>
          <a:xfrm>
            <a:off x="8110728" y="2368296"/>
            <a:ext cx="694944" cy="201168"/>
          </a:xfrm>
          <a:prstGeom prst="rect">
            <a:avLst/>
          </a:prstGeom>
          <a:noFill/>
          <a:ln/>
        </p:spPr>
        <p:txBody>
          <a:bodyPr wrap="square" lIns="0" tIns="0" rIns="0" bIns="0" rtlCol="0" anchor="ctr"/>
          <a:lstStyle/>
          <a:p>
            <a:pPr algn="ctr" indent="0" marL="0">
              <a:buNone/>
            </a:pPr>
            <a:r>
              <a:rPr lang="en-US" sz="1500" b="1" dirty="0">
                <a:solidFill>
                  <a:srgbClr val="FFFFFF"/>
                </a:solidFill>
              </a:rPr>
              <a:t>04</a:t>
            </a:r>
            <a:endParaRPr lang="en-US" sz="1500" dirty="0"/>
          </a:p>
        </p:txBody>
      </p:sp>
      <p:sp>
        <p:nvSpPr>
          <p:cNvPr id="29" name="Text 27"/>
          <p:cNvSpPr/>
          <p:nvPr/>
        </p:nvSpPr>
        <p:spPr>
          <a:xfrm>
            <a:off x="7662672" y="3172968"/>
            <a:ext cx="1591056" cy="347472"/>
          </a:xfrm>
          <a:prstGeom prst="rect">
            <a:avLst/>
          </a:prstGeom>
          <a:noFill/>
          <a:ln/>
        </p:spPr>
        <p:txBody>
          <a:bodyPr wrap="square" lIns="0" tIns="0" rIns="0" bIns="0" rtlCol="0" anchor="ctr"/>
          <a:lstStyle/>
          <a:p>
            <a:pPr algn="ctr" indent="0" marL="0">
              <a:buNone/>
            </a:pPr>
            <a:r>
              <a:rPr lang="en-US" sz="1900" b="1" dirty="0">
                <a:solidFill>
                  <a:srgbClr val="102A43"/>
                </a:solidFill>
              </a:rPr>
              <a:t>Evaluate</a:t>
            </a:r>
            <a:endParaRPr lang="en-US" sz="1900" dirty="0"/>
          </a:p>
        </p:txBody>
      </p:sp>
      <p:sp>
        <p:nvSpPr>
          <p:cNvPr id="30" name="Text 28"/>
          <p:cNvSpPr/>
          <p:nvPr/>
        </p:nvSpPr>
        <p:spPr>
          <a:xfrm>
            <a:off x="7680960" y="3767328"/>
            <a:ext cx="1554480" cy="777240"/>
          </a:xfrm>
          <a:prstGeom prst="rect">
            <a:avLst/>
          </a:prstGeom>
          <a:noFill/>
          <a:ln/>
        </p:spPr>
        <p:txBody>
          <a:bodyPr wrap="square" lIns="0" tIns="0" rIns="0" bIns="0" rtlCol="0" anchor="ctr"/>
          <a:lstStyle/>
          <a:p>
            <a:pPr algn="ctr" indent="0" marL="0">
              <a:buNone/>
            </a:pPr>
            <a:r>
              <a:rPr lang="en-US" sz="1300" dirty="0">
                <a:solidFill>
                  <a:srgbClr val="5D6B78"/>
                </a:solidFill>
              </a:rPr>
              <a:t>10 semantic workload-protection rules</a:t>
            </a:r>
            <a:endParaRPr lang="en-US" sz="1300" dirty="0"/>
          </a:p>
        </p:txBody>
      </p:sp>
      <p:sp>
        <p:nvSpPr>
          <p:cNvPr id="31" name="Shape 29"/>
          <p:cNvSpPr/>
          <p:nvPr/>
        </p:nvSpPr>
        <p:spPr>
          <a:xfrm>
            <a:off x="9445752" y="3163824"/>
            <a:ext cx="310896" cy="438912"/>
          </a:xfrm>
          <a:prstGeom prst="chevron">
            <a:avLst/>
          </a:prstGeom>
          <a:solidFill>
            <a:srgbClr val="AFC6D6"/>
          </a:solidFill>
          <a:ln w="12700">
            <a:solidFill>
              <a:srgbClr val="AFC6D6"/>
            </a:solidFill>
            <a:prstDash val="solid"/>
          </a:ln>
        </p:spPr>
      </p:sp>
      <p:sp>
        <p:nvSpPr>
          <p:cNvPr id="32" name="Shape 30"/>
          <p:cNvSpPr/>
          <p:nvPr/>
        </p:nvSpPr>
        <p:spPr>
          <a:xfrm>
            <a:off x="9829800" y="1874520"/>
            <a:ext cx="1920240" cy="3063240"/>
          </a:xfrm>
          <a:prstGeom prst="roundRect">
            <a:avLst>
              <a:gd name="adj" fmla="val 3810"/>
            </a:avLst>
          </a:prstGeom>
          <a:solidFill>
            <a:srgbClr val="FFFFFF"/>
          </a:solidFill>
          <a:ln w="12700">
            <a:solidFill>
              <a:srgbClr val="D7E2EA"/>
            </a:solidFill>
            <a:prstDash val="solid"/>
          </a:ln>
        </p:spPr>
      </p:sp>
      <p:sp>
        <p:nvSpPr>
          <p:cNvPr id="33" name="Shape 31"/>
          <p:cNvSpPr/>
          <p:nvPr/>
        </p:nvSpPr>
        <p:spPr>
          <a:xfrm>
            <a:off x="10442448" y="2176272"/>
            <a:ext cx="694944" cy="694944"/>
          </a:xfrm>
          <a:prstGeom prst="ellipse">
            <a:avLst/>
          </a:prstGeom>
          <a:solidFill>
            <a:srgbClr val="F59E0B"/>
          </a:solidFill>
          <a:ln w="12700">
            <a:solidFill>
              <a:srgbClr val="F59E0B"/>
            </a:solidFill>
            <a:prstDash val="solid"/>
          </a:ln>
        </p:spPr>
      </p:sp>
      <p:sp>
        <p:nvSpPr>
          <p:cNvPr id="34" name="Text 32"/>
          <p:cNvSpPr/>
          <p:nvPr/>
        </p:nvSpPr>
        <p:spPr>
          <a:xfrm>
            <a:off x="10442448" y="2368296"/>
            <a:ext cx="694944" cy="201168"/>
          </a:xfrm>
          <a:prstGeom prst="rect">
            <a:avLst/>
          </a:prstGeom>
          <a:noFill/>
          <a:ln/>
        </p:spPr>
        <p:txBody>
          <a:bodyPr wrap="square" lIns="0" tIns="0" rIns="0" bIns="0" rtlCol="0" anchor="ctr"/>
          <a:lstStyle/>
          <a:p>
            <a:pPr algn="ctr" indent="0" marL="0">
              <a:buNone/>
            </a:pPr>
            <a:r>
              <a:rPr lang="en-US" sz="1500" b="1" dirty="0">
                <a:solidFill>
                  <a:srgbClr val="FFFFFF"/>
                </a:solidFill>
              </a:rPr>
              <a:t>05</a:t>
            </a:r>
            <a:endParaRPr lang="en-US" sz="1500" dirty="0"/>
          </a:p>
        </p:txBody>
      </p:sp>
      <p:sp>
        <p:nvSpPr>
          <p:cNvPr id="35" name="Text 33"/>
          <p:cNvSpPr/>
          <p:nvPr/>
        </p:nvSpPr>
        <p:spPr>
          <a:xfrm>
            <a:off x="9994392" y="3172968"/>
            <a:ext cx="1591056" cy="347472"/>
          </a:xfrm>
          <a:prstGeom prst="rect">
            <a:avLst/>
          </a:prstGeom>
          <a:noFill/>
          <a:ln/>
        </p:spPr>
        <p:txBody>
          <a:bodyPr wrap="square" lIns="0" tIns="0" rIns="0" bIns="0" rtlCol="0" anchor="ctr"/>
          <a:lstStyle/>
          <a:p>
            <a:pPr algn="ctr" indent="0" marL="0">
              <a:buNone/>
            </a:pPr>
            <a:r>
              <a:rPr lang="en-US" sz="1900" b="1" dirty="0">
                <a:solidFill>
                  <a:srgbClr val="102A43"/>
                </a:solidFill>
              </a:rPr>
              <a:t>Act</a:t>
            </a:r>
            <a:endParaRPr lang="en-US" sz="1900" dirty="0"/>
          </a:p>
        </p:txBody>
      </p:sp>
      <p:sp>
        <p:nvSpPr>
          <p:cNvPr id="36" name="Text 34"/>
          <p:cNvSpPr/>
          <p:nvPr/>
        </p:nvSpPr>
        <p:spPr>
          <a:xfrm>
            <a:off x="10012680" y="3767328"/>
            <a:ext cx="1554480" cy="777240"/>
          </a:xfrm>
          <a:prstGeom prst="rect">
            <a:avLst/>
          </a:prstGeom>
          <a:noFill/>
          <a:ln/>
        </p:spPr>
        <p:txBody>
          <a:bodyPr wrap="square" lIns="0" tIns="0" rIns="0" bIns="0" rtlCol="0" anchor="ctr"/>
          <a:lstStyle/>
          <a:p>
            <a:pPr algn="ctr" indent="0" marL="0">
              <a:buNone/>
            </a:pPr>
            <a:r>
              <a:rPr lang="en-US" sz="1300" dirty="0">
                <a:solidFill>
                  <a:srgbClr val="5D6B78"/>
                </a:solidFill>
              </a:rPr>
              <a:t>Score, evidence, and remediation guidance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7FA"/>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78D4"/>
          </a:solidFill>
          <a:ln w="12700">
            <a:solidFill>
              <a:srgbClr val="0078D4"/>
            </a:solidFill>
            <a:prstDash val="solid"/>
          </a:ln>
        </p:spPr>
      </p:sp>
      <p:sp>
        <p:nvSpPr>
          <p:cNvPr id="3" name="Text 1"/>
          <p:cNvSpPr/>
          <p:nvPr/>
        </p:nvSpPr>
        <p:spPr>
          <a:xfrm>
            <a:off x="502920" y="6455664"/>
            <a:ext cx="4389120" cy="164592"/>
          </a:xfrm>
          <a:prstGeom prst="rect">
            <a:avLst/>
          </a:prstGeom>
          <a:noFill/>
          <a:ln/>
        </p:spPr>
        <p:txBody>
          <a:bodyPr wrap="square" lIns="0" tIns="0" rIns="0" bIns="0" rtlCol="0" anchor="ctr"/>
          <a:lstStyle/>
          <a:p>
            <a:pPr indent="0" marL="0">
              <a:buNone/>
            </a:pPr>
            <a:r>
              <a:rPr lang="en-US" sz="850" spc="100" kern="0" dirty="0">
                <a:solidFill>
                  <a:srgbClr val="778897"/>
                </a:solidFill>
              </a:rPr>
              <a:t>CLOUD WORKLOAD PROTECTION READINESS ANALYZER</a:t>
            </a:r>
            <a:endParaRPr lang="en-US" sz="850" dirty="0"/>
          </a:p>
        </p:txBody>
      </p:sp>
      <p:sp>
        <p:nvSpPr>
          <p:cNvPr id="4" name="Text 2"/>
          <p:cNvSpPr/>
          <p:nvPr/>
        </p:nvSpPr>
        <p:spPr>
          <a:xfrm>
            <a:off x="8503920" y="6455664"/>
            <a:ext cx="2743200" cy="164592"/>
          </a:xfrm>
          <a:prstGeom prst="rect">
            <a:avLst/>
          </a:prstGeom>
          <a:noFill/>
          <a:ln/>
        </p:spPr>
        <p:txBody>
          <a:bodyPr wrap="square" lIns="0" tIns="0" rIns="0" bIns="0" rtlCol="0" anchor="ctr"/>
          <a:lstStyle/>
          <a:p>
            <a:pPr algn="r" indent="0" marL="0">
              <a:buNone/>
            </a:pPr>
            <a:r>
              <a:rPr lang="en-US" sz="850" dirty="0">
                <a:solidFill>
                  <a:srgbClr val="778897"/>
                </a:solidFill>
              </a:rPr>
              <a:t>PRODUCTION IMPLEMENTATION</a:t>
            </a:r>
            <a:endParaRPr lang="en-US" sz="850" dirty="0"/>
          </a:p>
        </p:txBody>
      </p:sp>
      <p:sp>
        <p:nvSpPr>
          <p:cNvPr id="5" name="Text 3"/>
          <p:cNvSpPr/>
          <p:nvPr/>
        </p:nvSpPr>
        <p:spPr>
          <a:xfrm>
            <a:off x="11475720" y="6437376"/>
            <a:ext cx="228600" cy="164592"/>
          </a:xfrm>
          <a:prstGeom prst="rect">
            <a:avLst/>
          </a:prstGeom>
          <a:noFill/>
          <a:ln/>
        </p:spPr>
        <p:txBody>
          <a:bodyPr wrap="square" lIns="0" tIns="0" rIns="0" bIns="0" rtlCol="0" anchor="ctr"/>
          <a:lstStyle/>
          <a:p>
            <a:pPr algn="r" indent="0" marL="0">
              <a:buNone/>
            </a:pPr>
            <a:r>
              <a:rPr lang="en-US" sz="850" dirty="0">
                <a:solidFill>
                  <a:srgbClr val="778897"/>
                </a:solidFill>
              </a:rPr>
              <a:t>5</a:t>
            </a:r>
            <a:endParaRPr lang="en-US" sz="850" dirty="0"/>
          </a:p>
        </p:txBody>
      </p:sp>
      <p:sp>
        <p:nvSpPr>
          <p:cNvPr id="6" name="Text 4"/>
          <p:cNvSpPr/>
          <p:nvPr/>
        </p:nvSpPr>
        <p:spPr>
          <a:xfrm>
            <a:off x="548640" y="310896"/>
            <a:ext cx="5029200" cy="219456"/>
          </a:xfrm>
          <a:prstGeom prst="rect">
            <a:avLst/>
          </a:prstGeom>
          <a:noFill/>
          <a:ln/>
        </p:spPr>
        <p:txBody>
          <a:bodyPr wrap="square" lIns="0" tIns="0" rIns="0" bIns="0" rtlCol="0" anchor="ctr"/>
          <a:lstStyle/>
          <a:p>
            <a:pPr indent="0" marL="0">
              <a:buNone/>
            </a:pPr>
            <a:r>
              <a:rPr lang="en-US" sz="1050" b="1" spc="160" kern="0" dirty="0">
                <a:solidFill>
                  <a:srgbClr val="0078D4"/>
                </a:solidFill>
              </a:rPr>
              <a:t>PRODUCTION ARCHITECTURE</a:t>
            </a:r>
            <a:endParaRPr lang="en-US" sz="1050" dirty="0"/>
          </a:p>
        </p:txBody>
      </p:sp>
      <p:sp>
        <p:nvSpPr>
          <p:cNvPr id="7" name="Text 5"/>
          <p:cNvSpPr/>
          <p:nvPr/>
        </p:nvSpPr>
        <p:spPr>
          <a:xfrm>
            <a:off x="548640" y="640080"/>
            <a:ext cx="11018520" cy="484632"/>
          </a:xfrm>
          <a:prstGeom prst="rect">
            <a:avLst/>
          </a:prstGeom>
          <a:noFill/>
          <a:ln/>
        </p:spPr>
        <p:txBody>
          <a:bodyPr wrap="square" lIns="0" tIns="0" rIns="0" bIns="0" rtlCol="0" anchor="ctr"/>
          <a:lstStyle/>
          <a:p>
            <a:pPr indent="0" marL="0">
              <a:buNone/>
            </a:pPr>
            <a:r>
              <a:rPr lang="en-US" sz="2900" b="1" dirty="0">
                <a:solidFill>
                  <a:srgbClr val="102A43"/>
                </a:solidFill>
              </a:rPr>
              <a:t>Authenticated public experience, private Azure dependencies</a:t>
            </a:r>
            <a:endParaRPr lang="en-US" sz="2900" dirty="0"/>
          </a:p>
        </p:txBody>
      </p:sp>
      <p:sp>
        <p:nvSpPr>
          <p:cNvPr id="8" name="Shape 6"/>
          <p:cNvSpPr/>
          <p:nvPr/>
        </p:nvSpPr>
        <p:spPr>
          <a:xfrm>
            <a:off x="502920" y="2286000"/>
            <a:ext cx="1737360" cy="1051560"/>
          </a:xfrm>
          <a:prstGeom prst="roundRect">
            <a:avLst>
              <a:gd name="adj" fmla="val 6957"/>
            </a:avLst>
          </a:prstGeom>
          <a:solidFill>
            <a:srgbClr val="FFFFFF"/>
          </a:solidFill>
          <a:ln w="19050">
            <a:solidFill>
              <a:srgbClr val="D7E2EA"/>
            </a:solidFill>
            <a:prstDash val="solid"/>
          </a:ln>
        </p:spPr>
      </p:sp>
      <p:sp>
        <p:nvSpPr>
          <p:cNvPr id="9" name="Text 7"/>
          <p:cNvSpPr/>
          <p:nvPr/>
        </p:nvSpPr>
        <p:spPr>
          <a:xfrm>
            <a:off x="667512" y="2487168"/>
            <a:ext cx="1408176" cy="292608"/>
          </a:xfrm>
          <a:prstGeom prst="rect">
            <a:avLst/>
          </a:prstGeom>
          <a:noFill/>
          <a:ln/>
        </p:spPr>
        <p:txBody>
          <a:bodyPr wrap="square" lIns="0" tIns="0" rIns="0" bIns="0" rtlCol="0" anchor="ctr"/>
          <a:lstStyle/>
          <a:p>
            <a:pPr algn="ctr" indent="0" marL="0">
              <a:buNone/>
            </a:pPr>
            <a:r>
              <a:rPr lang="en-US" sz="1600" b="1" dirty="0">
                <a:solidFill>
                  <a:srgbClr val="102A43"/>
                </a:solidFill>
              </a:rPr>
              <a:t>User</a:t>
            </a:r>
            <a:endParaRPr lang="en-US" sz="1600" dirty="0"/>
          </a:p>
        </p:txBody>
      </p:sp>
      <p:sp>
        <p:nvSpPr>
          <p:cNvPr id="10" name="Text 8"/>
          <p:cNvSpPr/>
          <p:nvPr/>
        </p:nvSpPr>
        <p:spPr>
          <a:xfrm>
            <a:off x="667512" y="2898648"/>
            <a:ext cx="1408176" cy="301752"/>
          </a:xfrm>
          <a:prstGeom prst="rect">
            <a:avLst/>
          </a:prstGeom>
          <a:noFill/>
          <a:ln/>
        </p:spPr>
        <p:txBody>
          <a:bodyPr wrap="square" lIns="0" tIns="0" rIns="0" bIns="0" rtlCol="0" anchor="ctr"/>
          <a:lstStyle/>
          <a:p>
            <a:pPr algn="ctr" indent="0" marL="0">
              <a:buNone/>
            </a:pPr>
            <a:r>
              <a:rPr lang="en-US" sz="1150" dirty="0">
                <a:solidFill>
                  <a:srgbClr val="5D6B78"/>
                </a:solidFill>
              </a:rPr>
              <a:t>Microsoft Entra identity</a:t>
            </a:r>
            <a:endParaRPr lang="en-US" sz="1150" dirty="0"/>
          </a:p>
        </p:txBody>
      </p:sp>
      <p:sp>
        <p:nvSpPr>
          <p:cNvPr id="11" name="Shape 9"/>
          <p:cNvSpPr/>
          <p:nvPr/>
        </p:nvSpPr>
        <p:spPr>
          <a:xfrm>
            <a:off x="2743200" y="2148840"/>
            <a:ext cx="2240280" cy="1691640"/>
          </a:xfrm>
          <a:prstGeom prst="roundRect">
            <a:avLst>
              <a:gd name="adj" fmla="val 4324"/>
            </a:avLst>
          </a:prstGeom>
          <a:solidFill>
            <a:srgbClr val="E7F4FC"/>
          </a:solidFill>
          <a:ln w="19050">
            <a:solidFill>
              <a:srgbClr val="0078D4"/>
            </a:solidFill>
            <a:prstDash val="solid"/>
          </a:ln>
        </p:spPr>
      </p:sp>
      <p:sp>
        <p:nvSpPr>
          <p:cNvPr id="12" name="Text 10"/>
          <p:cNvSpPr/>
          <p:nvPr/>
        </p:nvSpPr>
        <p:spPr>
          <a:xfrm>
            <a:off x="2907792" y="2350008"/>
            <a:ext cx="1911096" cy="292608"/>
          </a:xfrm>
          <a:prstGeom prst="rect">
            <a:avLst/>
          </a:prstGeom>
          <a:noFill/>
          <a:ln/>
        </p:spPr>
        <p:txBody>
          <a:bodyPr wrap="square" lIns="0" tIns="0" rIns="0" bIns="0" rtlCol="0" anchor="ctr"/>
          <a:lstStyle/>
          <a:p>
            <a:pPr algn="ctr" indent="0" marL="0">
              <a:buNone/>
            </a:pPr>
            <a:r>
              <a:rPr lang="en-US" sz="1600" b="1" dirty="0">
                <a:solidFill>
                  <a:srgbClr val="102A43"/>
                </a:solidFill>
              </a:rPr>
              <a:t>Container App</a:t>
            </a:r>
            <a:endParaRPr lang="en-US" sz="1600" dirty="0"/>
          </a:p>
        </p:txBody>
      </p:sp>
      <p:sp>
        <p:nvSpPr>
          <p:cNvPr id="13" name="Text 11"/>
          <p:cNvSpPr/>
          <p:nvPr/>
        </p:nvSpPr>
        <p:spPr>
          <a:xfrm>
            <a:off x="2907792" y="2761488"/>
            <a:ext cx="1911096" cy="941832"/>
          </a:xfrm>
          <a:prstGeom prst="rect">
            <a:avLst/>
          </a:prstGeom>
          <a:noFill/>
          <a:ln/>
        </p:spPr>
        <p:txBody>
          <a:bodyPr wrap="square" lIns="0" tIns="0" rIns="0" bIns="0" rtlCol="0" anchor="ctr"/>
          <a:lstStyle/>
          <a:p>
            <a:pPr algn="ctr" indent="0" marL="0">
              <a:buNone/>
            </a:pPr>
            <a:r>
              <a:rPr lang="en-US" sz="1150" dirty="0">
                <a:solidFill>
                  <a:srgbClr val="5D6B78"/>
                </a:solidFill>
              </a:rPr>
              <a:t>React + Express</a:t>
            </a:r>
            <a:endParaRPr lang="en-US" sz="1150" dirty="0"/>
          </a:p>
          <a:p>
            <a:pPr algn="ctr" indent="0" marL="0">
              <a:buNone/>
            </a:pPr>
            <a:r>
              <a:rPr lang="en-US" sz="1150" dirty="0">
                <a:solidFill>
                  <a:srgbClr val="5D6B78"/>
                </a:solidFill>
              </a:rPr>
              <a:t>Bicep compiler</a:t>
            </a:r>
            <a:endParaRPr lang="en-US" sz="1150" dirty="0"/>
          </a:p>
          <a:p>
            <a:pPr algn="ctr" indent="0" marL="0">
              <a:buNone/>
            </a:pPr>
            <a:r>
              <a:rPr lang="en-US" sz="1150" dirty="0">
                <a:solidFill>
                  <a:srgbClr val="5D6B78"/>
                </a:solidFill>
              </a:rPr>
              <a:t>Semantic analyzer</a:t>
            </a:r>
            <a:endParaRPr lang="en-US" sz="1150" dirty="0"/>
          </a:p>
        </p:txBody>
      </p:sp>
      <p:sp>
        <p:nvSpPr>
          <p:cNvPr id="14" name="Shape 12"/>
          <p:cNvSpPr/>
          <p:nvPr/>
        </p:nvSpPr>
        <p:spPr>
          <a:xfrm>
            <a:off x="5669280" y="1508760"/>
            <a:ext cx="2331720" cy="1051560"/>
          </a:xfrm>
          <a:prstGeom prst="roundRect">
            <a:avLst>
              <a:gd name="adj" fmla="val 6957"/>
            </a:avLst>
          </a:prstGeom>
          <a:solidFill>
            <a:srgbClr val="E5F7F2"/>
          </a:solidFill>
          <a:ln w="19050">
            <a:solidFill>
              <a:srgbClr val="008C83"/>
            </a:solidFill>
            <a:prstDash val="solid"/>
          </a:ln>
        </p:spPr>
      </p:sp>
      <p:sp>
        <p:nvSpPr>
          <p:cNvPr id="15" name="Text 13"/>
          <p:cNvSpPr/>
          <p:nvPr/>
        </p:nvSpPr>
        <p:spPr>
          <a:xfrm>
            <a:off x="5833872" y="1709928"/>
            <a:ext cx="2002536" cy="292608"/>
          </a:xfrm>
          <a:prstGeom prst="rect">
            <a:avLst/>
          </a:prstGeom>
          <a:noFill/>
          <a:ln/>
        </p:spPr>
        <p:txBody>
          <a:bodyPr wrap="square" lIns="0" tIns="0" rIns="0" bIns="0" rtlCol="0" anchor="ctr"/>
          <a:lstStyle/>
          <a:p>
            <a:pPr algn="ctr" indent="0" marL="0">
              <a:buNone/>
            </a:pPr>
            <a:r>
              <a:rPr lang="en-US" sz="1600" b="1" dirty="0">
                <a:solidFill>
                  <a:srgbClr val="102A43"/>
                </a:solidFill>
              </a:rPr>
              <a:t>ACR Premium</a:t>
            </a:r>
            <a:endParaRPr lang="en-US" sz="1600" dirty="0"/>
          </a:p>
        </p:txBody>
      </p:sp>
      <p:sp>
        <p:nvSpPr>
          <p:cNvPr id="16" name="Text 14"/>
          <p:cNvSpPr/>
          <p:nvPr/>
        </p:nvSpPr>
        <p:spPr>
          <a:xfrm>
            <a:off x="5833872" y="2121408"/>
            <a:ext cx="2002536" cy="301752"/>
          </a:xfrm>
          <a:prstGeom prst="rect">
            <a:avLst/>
          </a:prstGeom>
          <a:noFill/>
          <a:ln/>
        </p:spPr>
        <p:txBody>
          <a:bodyPr wrap="square" lIns="0" tIns="0" rIns="0" bIns="0" rtlCol="0" anchor="ctr"/>
          <a:lstStyle/>
          <a:p>
            <a:pPr algn="ctr" indent="0" marL="0">
              <a:buNone/>
            </a:pPr>
            <a:r>
              <a:rPr lang="en-US" sz="1150" dirty="0">
                <a:solidFill>
                  <a:srgbClr val="5D6B78"/>
                </a:solidFill>
              </a:rPr>
              <a:t>Private image pull</a:t>
            </a:r>
            <a:endParaRPr lang="en-US" sz="1150" dirty="0"/>
          </a:p>
          <a:p>
            <a:pPr algn="ctr" indent="0" marL="0">
              <a:buNone/>
            </a:pPr>
            <a:r>
              <a:rPr lang="en-US" sz="1150" dirty="0">
                <a:solidFill>
                  <a:srgbClr val="5D6B78"/>
                </a:solidFill>
              </a:rPr>
              <a:t>AcrPull RBAC</a:t>
            </a:r>
            <a:endParaRPr lang="en-US" sz="1150" dirty="0"/>
          </a:p>
        </p:txBody>
      </p:sp>
      <p:sp>
        <p:nvSpPr>
          <p:cNvPr id="17" name="Shape 15"/>
          <p:cNvSpPr/>
          <p:nvPr/>
        </p:nvSpPr>
        <p:spPr>
          <a:xfrm>
            <a:off x="5669280" y="2788920"/>
            <a:ext cx="2331720" cy="1051560"/>
          </a:xfrm>
          <a:prstGeom prst="roundRect">
            <a:avLst>
              <a:gd name="adj" fmla="val 6957"/>
            </a:avLst>
          </a:prstGeom>
          <a:solidFill>
            <a:srgbClr val="E5F7F2"/>
          </a:solidFill>
          <a:ln w="19050">
            <a:solidFill>
              <a:srgbClr val="008C83"/>
            </a:solidFill>
            <a:prstDash val="solid"/>
          </a:ln>
        </p:spPr>
      </p:sp>
      <p:sp>
        <p:nvSpPr>
          <p:cNvPr id="18" name="Text 16"/>
          <p:cNvSpPr/>
          <p:nvPr/>
        </p:nvSpPr>
        <p:spPr>
          <a:xfrm>
            <a:off x="5833872" y="2990088"/>
            <a:ext cx="2002536" cy="292608"/>
          </a:xfrm>
          <a:prstGeom prst="rect">
            <a:avLst/>
          </a:prstGeom>
          <a:noFill/>
          <a:ln/>
        </p:spPr>
        <p:txBody>
          <a:bodyPr wrap="square" lIns="0" tIns="0" rIns="0" bIns="0" rtlCol="0" anchor="ctr"/>
          <a:lstStyle/>
          <a:p>
            <a:pPr algn="ctr" indent="0" marL="0">
              <a:buNone/>
            </a:pPr>
            <a:r>
              <a:rPr lang="en-US" sz="1600" b="1" dirty="0">
                <a:solidFill>
                  <a:srgbClr val="102A43"/>
                </a:solidFill>
              </a:rPr>
              <a:t>Key Vault</a:t>
            </a:r>
            <a:endParaRPr lang="en-US" sz="1600" dirty="0"/>
          </a:p>
        </p:txBody>
      </p:sp>
      <p:sp>
        <p:nvSpPr>
          <p:cNvPr id="19" name="Text 17"/>
          <p:cNvSpPr/>
          <p:nvPr/>
        </p:nvSpPr>
        <p:spPr>
          <a:xfrm>
            <a:off x="5833872" y="3401568"/>
            <a:ext cx="2002536" cy="301752"/>
          </a:xfrm>
          <a:prstGeom prst="rect">
            <a:avLst/>
          </a:prstGeom>
          <a:noFill/>
          <a:ln/>
        </p:spPr>
        <p:txBody>
          <a:bodyPr wrap="square" lIns="0" tIns="0" rIns="0" bIns="0" rtlCol="0" anchor="ctr"/>
          <a:lstStyle/>
          <a:p>
            <a:pPr algn="ctr" indent="0" marL="0">
              <a:buNone/>
            </a:pPr>
            <a:r>
              <a:rPr lang="en-US" sz="1150" dirty="0">
                <a:solidFill>
                  <a:srgbClr val="5D6B78"/>
                </a:solidFill>
              </a:rPr>
              <a:t>Private endpoint</a:t>
            </a:r>
            <a:endParaRPr lang="en-US" sz="1150" dirty="0"/>
          </a:p>
          <a:p>
            <a:pPr algn="ctr" indent="0" marL="0">
              <a:buNone/>
            </a:pPr>
            <a:r>
              <a:rPr lang="en-US" sz="1150" dirty="0">
                <a:solidFill>
                  <a:srgbClr val="5D6B78"/>
                </a:solidFill>
              </a:rPr>
              <a:t>Secrets User RBAC</a:t>
            </a:r>
            <a:endParaRPr lang="en-US" sz="1150" dirty="0"/>
          </a:p>
        </p:txBody>
      </p:sp>
      <p:sp>
        <p:nvSpPr>
          <p:cNvPr id="20" name="Shape 18"/>
          <p:cNvSpPr/>
          <p:nvPr/>
        </p:nvSpPr>
        <p:spPr>
          <a:xfrm>
            <a:off x="5669280" y="4069080"/>
            <a:ext cx="2331720" cy="1051560"/>
          </a:xfrm>
          <a:prstGeom prst="roundRect">
            <a:avLst>
              <a:gd name="adj" fmla="val 6957"/>
            </a:avLst>
          </a:prstGeom>
          <a:solidFill>
            <a:srgbClr val="FFF4DB"/>
          </a:solidFill>
          <a:ln w="19050">
            <a:solidFill>
              <a:srgbClr val="F59E0B"/>
            </a:solidFill>
            <a:prstDash val="solid"/>
          </a:ln>
        </p:spPr>
      </p:sp>
      <p:sp>
        <p:nvSpPr>
          <p:cNvPr id="21" name="Text 19"/>
          <p:cNvSpPr/>
          <p:nvPr/>
        </p:nvSpPr>
        <p:spPr>
          <a:xfrm>
            <a:off x="5833872" y="4270248"/>
            <a:ext cx="2002536" cy="292608"/>
          </a:xfrm>
          <a:prstGeom prst="rect">
            <a:avLst/>
          </a:prstGeom>
          <a:noFill/>
          <a:ln/>
        </p:spPr>
        <p:txBody>
          <a:bodyPr wrap="square" lIns="0" tIns="0" rIns="0" bIns="0" rtlCol="0" anchor="ctr"/>
          <a:lstStyle/>
          <a:p>
            <a:pPr algn="ctr" indent="0" marL="0">
              <a:buNone/>
            </a:pPr>
            <a:r>
              <a:rPr lang="en-US" sz="1600" b="1" dirty="0">
                <a:solidFill>
                  <a:srgbClr val="102A43"/>
                </a:solidFill>
              </a:rPr>
              <a:t>App Insights</a:t>
            </a:r>
            <a:endParaRPr lang="en-US" sz="1600" dirty="0"/>
          </a:p>
        </p:txBody>
      </p:sp>
      <p:sp>
        <p:nvSpPr>
          <p:cNvPr id="22" name="Text 20"/>
          <p:cNvSpPr/>
          <p:nvPr/>
        </p:nvSpPr>
        <p:spPr>
          <a:xfrm>
            <a:off x="5833872" y="4681728"/>
            <a:ext cx="2002536" cy="301752"/>
          </a:xfrm>
          <a:prstGeom prst="rect">
            <a:avLst/>
          </a:prstGeom>
          <a:noFill/>
          <a:ln/>
        </p:spPr>
        <p:txBody>
          <a:bodyPr wrap="square" lIns="0" tIns="0" rIns="0" bIns="0" rtlCol="0" anchor="ctr"/>
          <a:lstStyle/>
          <a:p>
            <a:pPr algn="ctr" indent="0" marL="0">
              <a:buNone/>
            </a:pPr>
            <a:r>
              <a:rPr lang="en-US" sz="1150" dirty="0">
                <a:solidFill>
                  <a:srgbClr val="5D6B78"/>
                </a:solidFill>
              </a:rPr>
              <a:t>Requests, traces,</a:t>
            </a:r>
            <a:endParaRPr lang="en-US" sz="1150" dirty="0"/>
          </a:p>
          <a:p>
            <a:pPr algn="ctr" indent="0" marL="0">
              <a:buNone/>
            </a:pPr>
            <a:r>
              <a:rPr lang="en-US" sz="1150" dirty="0">
                <a:solidFill>
                  <a:srgbClr val="5D6B78"/>
                </a:solidFill>
              </a:rPr>
              <a:t>dependencies, exceptions</a:t>
            </a:r>
            <a:endParaRPr lang="en-US" sz="1150" dirty="0"/>
          </a:p>
        </p:txBody>
      </p:sp>
      <p:sp>
        <p:nvSpPr>
          <p:cNvPr id="23" name="Shape 21"/>
          <p:cNvSpPr/>
          <p:nvPr/>
        </p:nvSpPr>
        <p:spPr>
          <a:xfrm>
            <a:off x="8732520" y="2148840"/>
            <a:ext cx="2606040" cy="1691640"/>
          </a:xfrm>
          <a:prstGeom prst="roundRect">
            <a:avLst>
              <a:gd name="adj" fmla="val 4324"/>
            </a:avLst>
          </a:prstGeom>
          <a:solidFill>
            <a:srgbClr val="FFFFFF"/>
          </a:solidFill>
          <a:ln w="19050">
            <a:solidFill>
              <a:srgbClr val="163B59"/>
            </a:solidFill>
            <a:prstDash val="solid"/>
          </a:ln>
        </p:spPr>
      </p:sp>
      <p:sp>
        <p:nvSpPr>
          <p:cNvPr id="24" name="Text 22"/>
          <p:cNvSpPr/>
          <p:nvPr/>
        </p:nvSpPr>
        <p:spPr>
          <a:xfrm>
            <a:off x="8897112" y="2350008"/>
            <a:ext cx="2276856" cy="292608"/>
          </a:xfrm>
          <a:prstGeom prst="rect">
            <a:avLst/>
          </a:prstGeom>
          <a:noFill/>
          <a:ln/>
        </p:spPr>
        <p:txBody>
          <a:bodyPr wrap="square" lIns="0" tIns="0" rIns="0" bIns="0" rtlCol="0" anchor="ctr"/>
          <a:lstStyle/>
          <a:p>
            <a:pPr algn="ctr" indent="0" marL="0">
              <a:buNone/>
            </a:pPr>
            <a:r>
              <a:rPr lang="en-US" sz="1600" b="1" dirty="0">
                <a:solidFill>
                  <a:srgbClr val="102A43"/>
                </a:solidFill>
              </a:rPr>
              <a:t>VNet + private DNS</a:t>
            </a:r>
            <a:endParaRPr lang="en-US" sz="1600" dirty="0"/>
          </a:p>
        </p:txBody>
      </p:sp>
      <p:sp>
        <p:nvSpPr>
          <p:cNvPr id="25" name="Text 23"/>
          <p:cNvSpPr/>
          <p:nvPr/>
        </p:nvSpPr>
        <p:spPr>
          <a:xfrm>
            <a:off x="8897112" y="2761488"/>
            <a:ext cx="2276856" cy="941832"/>
          </a:xfrm>
          <a:prstGeom prst="rect">
            <a:avLst/>
          </a:prstGeom>
          <a:noFill/>
          <a:ln/>
        </p:spPr>
        <p:txBody>
          <a:bodyPr wrap="square" lIns="0" tIns="0" rIns="0" bIns="0" rtlCol="0" anchor="ctr"/>
          <a:lstStyle/>
          <a:p>
            <a:pPr algn="ctr" indent="0" marL="0">
              <a:buNone/>
            </a:pPr>
            <a:r>
              <a:rPr lang="en-US" sz="1150" dirty="0">
                <a:solidFill>
                  <a:srgbClr val="5D6B78"/>
                </a:solidFill>
              </a:rPr>
              <a:t>Container Apps subnet</a:t>
            </a:r>
            <a:endParaRPr lang="en-US" sz="1150" dirty="0"/>
          </a:p>
          <a:p>
            <a:pPr algn="ctr" indent="0" marL="0">
              <a:buNone/>
            </a:pPr>
            <a:r>
              <a:rPr lang="en-US" sz="1150" dirty="0">
                <a:solidFill>
                  <a:srgbClr val="5D6B78"/>
                </a:solidFill>
              </a:rPr>
              <a:t>Private endpoint subnet</a:t>
            </a:r>
            <a:endParaRPr lang="en-US" sz="1150" dirty="0"/>
          </a:p>
          <a:p>
            <a:pPr algn="ctr" indent="0" marL="0">
              <a:buNone/>
            </a:pPr>
            <a:r>
              <a:rPr lang="en-US" sz="1150" dirty="0">
                <a:solidFill>
                  <a:srgbClr val="5D6B78"/>
                </a:solidFill>
              </a:rPr>
              <a:t>ACR + Key Vault zones</a:t>
            </a:r>
            <a:endParaRPr lang="en-US" sz="1150" dirty="0"/>
          </a:p>
        </p:txBody>
      </p:sp>
      <p:sp>
        <p:nvSpPr>
          <p:cNvPr id="26" name="Shape 24"/>
          <p:cNvSpPr/>
          <p:nvPr/>
        </p:nvSpPr>
        <p:spPr>
          <a:xfrm>
            <a:off x="2231136" y="2578608"/>
            <a:ext cx="475488" cy="420624"/>
          </a:xfrm>
          <a:prstGeom prst="rightArrow">
            <a:avLst/>
          </a:prstGeom>
          <a:solidFill>
            <a:srgbClr val="0078D4"/>
          </a:solidFill>
          <a:ln w="12700">
            <a:solidFill>
              <a:srgbClr val="0078D4"/>
            </a:solidFill>
            <a:prstDash val="solid"/>
          </a:ln>
        </p:spPr>
      </p:sp>
      <p:sp>
        <p:nvSpPr>
          <p:cNvPr id="27" name="Shape 25"/>
          <p:cNvSpPr/>
          <p:nvPr/>
        </p:nvSpPr>
        <p:spPr>
          <a:xfrm>
            <a:off x="5047488" y="1847088"/>
            <a:ext cx="530352" cy="384048"/>
          </a:xfrm>
          <a:prstGeom prst="rightArrow">
            <a:avLst/>
          </a:prstGeom>
          <a:solidFill>
            <a:srgbClr val="008C83"/>
          </a:solidFill>
          <a:ln w="12700">
            <a:solidFill>
              <a:srgbClr val="008C83"/>
            </a:solidFill>
            <a:prstDash val="solid"/>
          </a:ln>
        </p:spPr>
      </p:sp>
      <p:sp>
        <p:nvSpPr>
          <p:cNvPr id="28" name="Shape 26"/>
          <p:cNvSpPr/>
          <p:nvPr/>
        </p:nvSpPr>
        <p:spPr>
          <a:xfrm>
            <a:off x="5047488" y="3127248"/>
            <a:ext cx="530352" cy="384048"/>
          </a:xfrm>
          <a:prstGeom prst="rightArrow">
            <a:avLst/>
          </a:prstGeom>
          <a:solidFill>
            <a:srgbClr val="008C83"/>
          </a:solidFill>
          <a:ln w="12700">
            <a:solidFill>
              <a:srgbClr val="008C83"/>
            </a:solidFill>
            <a:prstDash val="solid"/>
          </a:ln>
        </p:spPr>
      </p:sp>
      <p:sp>
        <p:nvSpPr>
          <p:cNvPr id="29" name="Shape 27"/>
          <p:cNvSpPr/>
          <p:nvPr/>
        </p:nvSpPr>
        <p:spPr>
          <a:xfrm>
            <a:off x="5047488" y="4407408"/>
            <a:ext cx="530352" cy="384048"/>
          </a:xfrm>
          <a:prstGeom prst="rightArrow">
            <a:avLst/>
          </a:prstGeom>
          <a:solidFill>
            <a:srgbClr val="008C83"/>
          </a:solidFill>
          <a:ln w="12700">
            <a:solidFill>
              <a:srgbClr val="008C83"/>
            </a:solidFill>
            <a:prstDash val="solid"/>
          </a:ln>
        </p:spPr>
      </p:sp>
      <p:sp>
        <p:nvSpPr>
          <p:cNvPr id="30" name="Shape 28"/>
          <p:cNvSpPr/>
          <p:nvPr/>
        </p:nvSpPr>
        <p:spPr>
          <a:xfrm>
            <a:off x="8028432" y="2788920"/>
            <a:ext cx="685800" cy="0"/>
          </a:xfrm>
          <a:prstGeom prst="line">
            <a:avLst/>
          </a:prstGeom>
          <a:noFill/>
          <a:ln w="25400">
            <a:solidFill>
              <a:srgbClr val="163B59"/>
            </a:solidFill>
            <a:prstDash val="solid"/>
            <a:tailEnd type="triangle"/>
          </a:ln>
        </p:spPr>
      </p:sp>
      <p:sp>
        <p:nvSpPr>
          <p:cNvPr id="31" name="Shape 29"/>
          <p:cNvSpPr/>
          <p:nvPr/>
        </p:nvSpPr>
        <p:spPr>
          <a:xfrm>
            <a:off x="685800" y="5440680"/>
            <a:ext cx="2468880" cy="347472"/>
          </a:xfrm>
          <a:prstGeom prst="roundRect">
            <a:avLst>
              <a:gd name="adj" fmla="val 26316"/>
            </a:avLst>
          </a:prstGeom>
          <a:solidFill>
            <a:srgbClr val="0078D4"/>
          </a:solidFill>
          <a:ln w="12700">
            <a:solidFill>
              <a:srgbClr val="0078D4"/>
            </a:solidFill>
            <a:prstDash val="solid"/>
          </a:ln>
        </p:spPr>
      </p:sp>
      <p:sp>
        <p:nvSpPr>
          <p:cNvPr id="32" name="Text 30"/>
          <p:cNvSpPr/>
          <p:nvPr/>
        </p:nvSpPr>
        <p:spPr>
          <a:xfrm>
            <a:off x="685800" y="5490972"/>
            <a:ext cx="2468880" cy="201168"/>
          </a:xfrm>
          <a:prstGeom prst="rect">
            <a:avLst/>
          </a:prstGeom>
          <a:noFill/>
          <a:ln/>
        </p:spPr>
        <p:txBody>
          <a:bodyPr wrap="square" lIns="0" tIns="0" rIns="0" bIns="0" rtlCol="0" anchor="ctr"/>
          <a:lstStyle/>
          <a:p>
            <a:pPr algn="ctr" indent="0" marL="0">
              <a:buNone/>
            </a:pPr>
            <a:r>
              <a:rPr lang="en-US" sz="1050" b="1" dirty="0">
                <a:solidFill>
                  <a:srgbClr val="FFFFFF"/>
                </a:solidFill>
              </a:rPr>
              <a:t>EXTERNAL + AUTHENTICATED</a:t>
            </a:r>
            <a:endParaRPr lang="en-US" sz="1050" dirty="0"/>
          </a:p>
        </p:txBody>
      </p:sp>
      <p:sp>
        <p:nvSpPr>
          <p:cNvPr id="33" name="Shape 31"/>
          <p:cNvSpPr/>
          <p:nvPr/>
        </p:nvSpPr>
        <p:spPr>
          <a:xfrm>
            <a:off x="3383280" y="5440680"/>
            <a:ext cx="2377440" cy="347472"/>
          </a:xfrm>
          <a:prstGeom prst="roundRect">
            <a:avLst>
              <a:gd name="adj" fmla="val 26316"/>
            </a:avLst>
          </a:prstGeom>
          <a:solidFill>
            <a:srgbClr val="008C83"/>
          </a:solidFill>
          <a:ln w="12700">
            <a:solidFill>
              <a:srgbClr val="008C83"/>
            </a:solidFill>
            <a:prstDash val="solid"/>
          </a:ln>
        </p:spPr>
      </p:sp>
      <p:sp>
        <p:nvSpPr>
          <p:cNvPr id="34" name="Text 32"/>
          <p:cNvSpPr/>
          <p:nvPr/>
        </p:nvSpPr>
        <p:spPr>
          <a:xfrm>
            <a:off x="3383280" y="5490972"/>
            <a:ext cx="2377440" cy="201168"/>
          </a:xfrm>
          <a:prstGeom prst="rect">
            <a:avLst/>
          </a:prstGeom>
          <a:noFill/>
          <a:ln/>
        </p:spPr>
        <p:txBody>
          <a:bodyPr wrap="square" lIns="0" tIns="0" rIns="0" bIns="0" rtlCol="0" anchor="ctr"/>
          <a:lstStyle/>
          <a:p>
            <a:pPr algn="ctr" indent="0" marL="0">
              <a:buNone/>
            </a:pPr>
            <a:r>
              <a:rPr lang="en-US" sz="1050" b="1" dirty="0">
                <a:solidFill>
                  <a:srgbClr val="FFFFFF"/>
                </a:solidFill>
              </a:rPr>
              <a:t>MANAGED IDENTITY</a:t>
            </a:r>
            <a:endParaRPr lang="en-US" sz="1050" dirty="0"/>
          </a:p>
        </p:txBody>
      </p:sp>
      <p:sp>
        <p:nvSpPr>
          <p:cNvPr id="35" name="Shape 33"/>
          <p:cNvSpPr/>
          <p:nvPr/>
        </p:nvSpPr>
        <p:spPr>
          <a:xfrm>
            <a:off x="5989320" y="5440680"/>
            <a:ext cx="2286000" cy="347472"/>
          </a:xfrm>
          <a:prstGeom prst="roundRect">
            <a:avLst>
              <a:gd name="adj" fmla="val 26316"/>
            </a:avLst>
          </a:prstGeom>
          <a:solidFill>
            <a:srgbClr val="163B59"/>
          </a:solidFill>
          <a:ln w="12700">
            <a:solidFill>
              <a:srgbClr val="163B59"/>
            </a:solidFill>
            <a:prstDash val="solid"/>
          </a:ln>
        </p:spPr>
      </p:sp>
      <p:sp>
        <p:nvSpPr>
          <p:cNvPr id="36" name="Text 34"/>
          <p:cNvSpPr/>
          <p:nvPr/>
        </p:nvSpPr>
        <p:spPr>
          <a:xfrm>
            <a:off x="5989320" y="5490972"/>
            <a:ext cx="2286000" cy="201168"/>
          </a:xfrm>
          <a:prstGeom prst="rect">
            <a:avLst/>
          </a:prstGeom>
          <a:noFill/>
          <a:ln/>
        </p:spPr>
        <p:txBody>
          <a:bodyPr wrap="square" lIns="0" tIns="0" rIns="0" bIns="0" rtlCol="0" anchor="ctr"/>
          <a:lstStyle/>
          <a:p>
            <a:pPr algn="ctr" indent="0" marL="0">
              <a:buNone/>
            </a:pPr>
            <a:r>
              <a:rPr lang="en-US" sz="1050" b="1" dirty="0">
                <a:solidFill>
                  <a:srgbClr val="FFFFFF"/>
                </a:solidFill>
              </a:rPr>
              <a:t>PRIVATE SERVICES</a:t>
            </a:r>
            <a:endParaRPr lang="en-US" sz="1050" dirty="0"/>
          </a:p>
        </p:txBody>
      </p:sp>
      <p:sp>
        <p:nvSpPr>
          <p:cNvPr id="37" name="Shape 35"/>
          <p:cNvSpPr/>
          <p:nvPr/>
        </p:nvSpPr>
        <p:spPr>
          <a:xfrm>
            <a:off x="8503920" y="5440680"/>
            <a:ext cx="2103120" cy="347472"/>
          </a:xfrm>
          <a:prstGeom prst="roundRect">
            <a:avLst>
              <a:gd name="adj" fmla="val 26316"/>
            </a:avLst>
          </a:prstGeom>
          <a:solidFill>
            <a:srgbClr val="F59E0B"/>
          </a:solidFill>
          <a:ln w="12700">
            <a:solidFill>
              <a:srgbClr val="F59E0B"/>
            </a:solidFill>
            <a:prstDash val="solid"/>
          </a:ln>
        </p:spPr>
      </p:sp>
      <p:sp>
        <p:nvSpPr>
          <p:cNvPr id="38" name="Text 36"/>
          <p:cNvSpPr/>
          <p:nvPr/>
        </p:nvSpPr>
        <p:spPr>
          <a:xfrm>
            <a:off x="8503920" y="5490972"/>
            <a:ext cx="2103120" cy="201168"/>
          </a:xfrm>
          <a:prstGeom prst="rect">
            <a:avLst/>
          </a:prstGeom>
          <a:noFill/>
          <a:ln/>
        </p:spPr>
        <p:txBody>
          <a:bodyPr wrap="square" lIns="0" tIns="0" rIns="0" bIns="0" rtlCol="0" anchor="ctr"/>
          <a:lstStyle/>
          <a:p>
            <a:pPr algn="ctr" indent="0" marL="0">
              <a:buNone/>
            </a:pPr>
            <a:r>
              <a:rPr lang="en-US" sz="1050" b="1" dirty="0">
                <a:solidFill>
                  <a:srgbClr val="102A43"/>
                </a:solidFill>
              </a:rPr>
              <a:t>OBSERVABLE</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7FA"/>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78D4"/>
          </a:solidFill>
          <a:ln w="12700">
            <a:solidFill>
              <a:srgbClr val="0078D4"/>
            </a:solidFill>
            <a:prstDash val="solid"/>
          </a:ln>
        </p:spPr>
      </p:sp>
      <p:sp>
        <p:nvSpPr>
          <p:cNvPr id="3" name="Text 1"/>
          <p:cNvSpPr/>
          <p:nvPr/>
        </p:nvSpPr>
        <p:spPr>
          <a:xfrm>
            <a:off x="502920" y="6455664"/>
            <a:ext cx="4389120" cy="164592"/>
          </a:xfrm>
          <a:prstGeom prst="rect">
            <a:avLst/>
          </a:prstGeom>
          <a:noFill/>
          <a:ln/>
        </p:spPr>
        <p:txBody>
          <a:bodyPr wrap="square" lIns="0" tIns="0" rIns="0" bIns="0" rtlCol="0" anchor="ctr"/>
          <a:lstStyle/>
          <a:p>
            <a:pPr indent="0" marL="0">
              <a:buNone/>
            </a:pPr>
            <a:r>
              <a:rPr lang="en-US" sz="850" spc="100" kern="0" dirty="0">
                <a:solidFill>
                  <a:srgbClr val="778897"/>
                </a:solidFill>
              </a:rPr>
              <a:t>CLOUD WORKLOAD PROTECTION READINESS ANALYZER</a:t>
            </a:r>
            <a:endParaRPr lang="en-US" sz="850" dirty="0"/>
          </a:p>
        </p:txBody>
      </p:sp>
      <p:sp>
        <p:nvSpPr>
          <p:cNvPr id="4" name="Text 2"/>
          <p:cNvSpPr/>
          <p:nvPr/>
        </p:nvSpPr>
        <p:spPr>
          <a:xfrm>
            <a:off x="8503920" y="6455664"/>
            <a:ext cx="2743200" cy="164592"/>
          </a:xfrm>
          <a:prstGeom prst="rect">
            <a:avLst/>
          </a:prstGeom>
          <a:noFill/>
          <a:ln/>
        </p:spPr>
        <p:txBody>
          <a:bodyPr wrap="square" lIns="0" tIns="0" rIns="0" bIns="0" rtlCol="0" anchor="ctr"/>
          <a:lstStyle/>
          <a:p>
            <a:pPr algn="r" indent="0" marL="0">
              <a:buNone/>
            </a:pPr>
            <a:r>
              <a:rPr lang="en-US" sz="850" dirty="0">
                <a:solidFill>
                  <a:srgbClr val="778897"/>
                </a:solidFill>
              </a:rPr>
              <a:t>PRODUCTION IMPLEMENTATION</a:t>
            </a:r>
            <a:endParaRPr lang="en-US" sz="850" dirty="0"/>
          </a:p>
        </p:txBody>
      </p:sp>
      <p:sp>
        <p:nvSpPr>
          <p:cNvPr id="5" name="Text 3"/>
          <p:cNvSpPr/>
          <p:nvPr/>
        </p:nvSpPr>
        <p:spPr>
          <a:xfrm>
            <a:off x="11475720" y="6437376"/>
            <a:ext cx="228600" cy="164592"/>
          </a:xfrm>
          <a:prstGeom prst="rect">
            <a:avLst/>
          </a:prstGeom>
          <a:noFill/>
          <a:ln/>
        </p:spPr>
        <p:txBody>
          <a:bodyPr wrap="square" lIns="0" tIns="0" rIns="0" bIns="0" rtlCol="0" anchor="ctr"/>
          <a:lstStyle/>
          <a:p>
            <a:pPr algn="r" indent="0" marL="0">
              <a:buNone/>
            </a:pPr>
            <a:r>
              <a:rPr lang="en-US" sz="850" dirty="0">
                <a:solidFill>
                  <a:srgbClr val="778897"/>
                </a:solidFill>
              </a:rPr>
              <a:t>6</a:t>
            </a:r>
            <a:endParaRPr lang="en-US" sz="850" dirty="0"/>
          </a:p>
        </p:txBody>
      </p:sp>
      <p:sp>
        <p:nvSpPr>
          <p:cNvPr id="6" name="Text 4"/>
          <p:cNvSpPr/>
          <p:nvPr/>
        </p:nvSpPr>
        <p:spPr>
          <a:xfrm>
            <a:off x="548640" y="310896"/>
            <a:ext cx="5029200" cy="219456"/>
          </a:xfrm>
          <a:prstGeom prst="rect">
            <a:avLst/>
          </a:prstGeom>
          <a:noFill/>
          <a:ln/>
        </p:spPr>
        <p:txBody>
          <a:bodyPr wrap="square" lIns="0" tIns="0" rIns="0" bIns="0" rtlCol="0" anchor="ctr"/>
          <a:lstStyle/>
          <a:p>
            <a:pPr indent="0" marL="0">
              <a:buNone/>
            </a:pPr>
            <a:r>
              <a:rPr lang="en-US" sz="1050" b="1" spc="160" kern="0" dirty="0">
                <a:solidFill>
                  <a:srgbClr val="0078D4"/>
                </a:solidFill>
              </a:rPr>
              <a:t>SEMANTIC ANALYZER INTERNALS</a:t>
            </a:r>
            <a:endParaRPr lang="en-US" sz="1050" dirty="0"/>
          </a:p>
        </p:txBody>
      </p:sp>
      <p:sp>
        <p:nvSpPr>
          <p:cNvPr id="7" name="Text 5"/>
          <p:cNvSpPr/>
          <p:nvPr/>
        </p:nvSpPr>
        <p:spPr>
          <a:xfrm>
            <a:off x="548640" y="640080"/>
            <a:ext cx="11018520" cy="484632"/>
          </a:xfrm>
          <a:prstGeom prst="rect">
            <a:avLst/>
          </a:prstGeom>
          <a:noFill/>
          <a:ln/>
        </p:spPr>
        <p:txBody>
          <a:bodyPr wrap="square" lIns="0" tIns="0" rIns="0" bIns="0" rtlCol="0" anchor="ctr"/>
          <a:lstStyle/>
          <a:p>
            <a:pPr indent="0" marL="0">
              <a:buNone/>
            </a:pPr>
            <a:r>
              <a:rPr lang="en-US" sz="2900" b="1" dirty="0">
                <a:solidFill>
                  <a:srgbClr val="102A43"/>
                </a:solidFill>
              </a:rPr>
              <a:t>A bounded compiler pipeline designed for untrusted input</a:t>
            </a:r>
            <a:endParaRPr lang="en-US" sz="2900" dirty="0"/>
          </a:p>
        </p:txBody>
      </p:sp>
      <p:sp>
        <p:nvSpPr>
          <p:cNvPr id="8" name="Shape 6"/>
          <p:cNvSpPr/>
          <p:nvPr/>
        </p:nvSpPr>
        <p:spPr>
          <a:xfrm>
            <a:off x="658368" y="1481328"/>
            <a:ext cx="10863072" cy="585216"/>
          </a:xfrm>
          <a:prstGeom prst="roundRect">
            <a:avLst>
              <a:gd name="adj" fmla="val 6250"/>
            </a:avLst>
          </a:prstGeom>
          <a:solidFill>
            <a:srgbClr val="FFFFFF"/>
          </a:solidFill>
          <a:ln w="12700">
            <a:solidFill>
              <a:srgbClr val="D7E2EA"/>
            </a:solidFill>
            <a:prstDash val="solid"/>
          </a:ln>
        </p:spPr>
      </p:sp>
      <p:sp>
        <p:nvSpPr>
          <p:cNvPr id="9" name="Shape 7"/>
          <p:cNvSpPr/>
          <p:nvPr/>
        </p:nvSpPr>
        <p:spPr>
          <a:xfrm>
            <a:off x="868680" y="1609344"/>
            <a:ext cx="310896" cy="310896"/>
          </a:xfrm>
          <a:prstGeom prst="ellipse">
            <a:avLst/>
          </a:prstGeom>
          <a:solidFill>
            <a:srgbClr val="0078D4"/>
          </a:solidFill>
          <a:ln w="12700">
            <a:solidFill>
              <a:srgbClr val="0078D4"/>
            </a:solidFill>
            <a:prstDash val="solid"/>
          </a:ln>
        </p:spPr>
      </p:sp>
      <p:sp>
        <p:nvSpPr>
          <p:cNvPr id="10" name="Text 8"/>
          <p:cNvSpPr/>
          <p:nvPr/>
        </p:nvSpPr>
        <p:spPr>
          <a:xfrm>
            <a:off x="1371600" y="1600200"/>
            <a:ext cx="2331720" cy="228600"/>
          </a:xfrm>
          <a:prstGeom prst="rect">
            <a:avLst/>
          </a:prstGeom>
          <a:noFill/>
          <a:ln/>
        </p:spPr>
        <p:txBody>
          <a:bodyPr wrap="square" lIns="0" tIns="0" rIns="0" bIns="0" rtlCol="0" anchor="ctr"/>
          <a:lstStyle/>
          <a:p>
            <a:pPr indent="0" marL="0">
              <a:buNone/>
            </a:pPr>
            <a:r>
              <a:rPr lang="en-US" sz="1450" b="1" dirty="0">
                <a:solidFill>
                  <a:srgbClr val="203040"/>
                </a:solidFill>
              </a:rPr>
              <a:t>Request guardrails</a:t>
            </a:r>
            <a:endParaRPr lang="en-US" sz="1450" dirty="0"/>
          </a:p>
        </p:txBody>
      </p:sp>
      <p:sp>
        <p:nvSpPr>
          <p:cNvPr id="11" name="Text 9"/>
          <p:cNvSpPr/>
          <p:nvPr/>
        </p:nvSpPr>
        <p:spPr>
          <a:xfrm>
            <a:off x="3794760" y="1600200"/>
            <a:ext cx="7178040" cy="228600"/>
          </a:xfrm>
          <a:prstGeom prst="rect">
            <a:avLst/>
          </a:prstGeom>
          <a:noFill/>
          <a:ln/>
        </p:spPr>
        <p:txBody>
          <a:bodyPr wrap="square" lIns="0" tIns="0" rIns="0" bIns="0" rtlCol="0" anchor="ctr"/>
          <a:lstStyle/>
          <a:p>
            <a:pPr indent="0" marL="0">
              <a:buNone/>
            </a:pPr>
            <a:r>
              <a:rPr lang="en-US" sz="1320" dirty="0">
                <a:solidFill>
                  <a:srgbClr val="5D6B78"/>
                </a:solidFill>
              </a:rPr>
              <a:t>32 files • 200K/file • 1M/project • safe relative paths</a:t>
            </a:r>
            <a:endParaRPr lang="en-US" sz="1320" dirty="0"/>
          </a:p>
        </p:txBody>
      </p:sp>
      <p:sp>
        <p:nvSpPr>
          <p:cNvPr id="12" name="Shape 10"/>
          <p:cNvSpPr/>
          <p:nvPr/>
        </p:nvSpPr>
        <p:spPr>
          <a:xfrm>
            <a:off x="658368" y="2231136"/>
            <a:ext cx="10863072" cy="585216"/>
          </a:xfrm>
          <a:prstGeom prst="roundRect">
            <a:avLst>
              <a:gd name="adj" fmla="val 6250"/>
            </a:avLst>
          </a:prstGeom>
          <a:solidFill>
            <a:srgbClr val="FFFFFF"/>
          </a:solidFill>
          <a:ln w="12700">
            <a:solidFill>
              <a:srgbClr val="D7E2EA"/>
            </a:solidFill>
            <a:prstDash val="solid"/>
          </a:ln>
        </p:spPr>
      </p:sp>
      <p:sp>
        <p:nvSpPr>
          <p:cNvPr id="13" name="Shape 11"/>
          <p:cNvSpPr/>
          <p:nvPr/>
        </p:nvSpPr>
        <p:spPr>
          <a:xfrm>
            <a:off x="868680" y="2359152"/>
            <a:ext cx="310896" cy="310896"/>
          </a:xfrm>
          <a:prstGeom prst="ellipse">
            <a:avLst/>
          </a:prstGeom>
          <a:solidFill>
            <a:srgbClr val="DC5A4A"/>
          </a:solidFill>
          <a:ln w="12700">
            <a:solidFill>
              <a:srgbClr val="DC5A4A"/>
            </a:solidFill>
            <a:prstDash val="solid"/>
          </a:ln>
        </p:spPr>
      </p:sp>
      <p:sp>
        <p:nvSpPr>
          <p:cNvPr id="14" name="Text 12"/>
          <p:cNvSpPr/>
          <p:nvPr/>
        </p:nvSpPr>
        <p:spPr>
          <a:xfrm>
            <a:off x="1371600" y="2350008"/>
            <a:ext cx="2331720" cy="228600"/>
          </a:xfrm>
          <a:prstGeom prst="rect">
            <a:avLst/>
          </a:prstGeom>
          <a:noFill/>
          <a:ln/>
        </p:spPr>
        <p:txBody>
          <a:bodyPr wrap="square" lIns="0" tIns="0" rIns="0" bIns="0" rtlCol="0" anchor="ctr"/>
          <a:lstStyle/>
          <a:p>
            <a:pPr indent="0" marL="0">
              <a:buNone/>
            </a:pPr>
            <a:r>
              <a:rPr lang="en-US" sz="1450" b="1" dirty="0">
                <a:solidFill>
                  <a:srgbClr val="203040"/>
                </a:solidFill>
              </a:rPr>
              <a:t>Network isolation</a:t>
            </a:r>
            <a:endParaRPr lang="en-US" sz="1450" dirty="0"/>
          </a:p>
        </p:txBody>
      </p:sp>
      <p:sp>
        <p:nvSpPr>
          <p:cNvPr id="15" name="Text 13"/>
          <p:cNvSpPr/>
          <p:nvPr/>
        </p:nvSpPr>
        <p:spPr>
          <a:xfrm>
            <a:off x="3794760" y="2350008"/>
            <a:ext cx="7178040" cy="228600"/>
          </a:xfrm>
          <a:prstGeom prst="rect">
            <a:avLst/>
          </a:prstGeom>
          <a:noFill/>
          <a:ln/>
        </p:spPr>
        <p:txBody>
          <a:bodyPr wrap="square" lIns="0" tIns="0" rIns="0" bIns="0" rtlCol="0" anchor="ctr"/>
          <a:lstStyle/>
          <a:p>
            <a:pPr indent="0" marL="0">
              <a:buNone/>
            </a:pPr>
            <a:r>
              <a:rPr lang="en-US" sz="1320" dirty="0">
                <a:solidFill>
                  <a:srgbClr val="5D6B78"/>
                </a:solidFill>
              </a:rPr>
              <a:t>Reject br:/ts: modules • compile with --no-restore</a:t>
            </a:r>
            <a:endParaRPr lang="en-US" sz="1320" dirty="0"/>
          </a:p>
        </p:txBody>
      </p:sp>
      <p:sp>
        <p:nvSpPr>
          <p:cNvPr id="16" name="Shape 14"/>
          <p:cNvSpPr/>
          <p:nvPr/>
        </p:nvSpPr>
        <p:spPr>
          <a:xfrm>
            <a:off x="658368" y="2980944"/>
            <a:ext cx="10863072" cy="585216"/>
          </a:xfrm>
          <a:prstGeom prst="roundRect">
            <a:avLst>
              <a:gd name="adj" fmla="val 6250"/>
            </a:avLst>
          </a:prstGeom>
          <a:solidFill>
            <a:srgbClr val="FFFFFF"/>
          </a:solidFill>
          <a:ln w="12700">
            <a:solidFill>
              <a:srgbClr val="D7E2EA"/>
            </a:solidFill>
            <a:prstDash val="solid"/>
          </a:ln>
        </p:spPr>
      </p:sp>
      <p:sp>
        <p:nvSpPr>
          <p:cNvPr id="17" name="Shape 15"/>
          <p:cNvSpPr/>
          <p:nvPr/>
        </p:nvSpPr>
        <p:spPr>
          <a:xfrm>
            <a:off x="868680" y="3108960"/>
            <a:ext cx="310896" cy="310896"/>
          </a:xfrm>
          <a:prstGeom prst="ellipse">
            <a:avLst/>
          </a:prstGeom>
          <a:solidFill>
            <a:srgbClr val="F59E0B"/>
          </a:solidFill>
          <a:ln w="12700">
            <a:solidFill>
              <a:srgbClr val="F59E0B"/>
            </a:solidFill>
            <a:prstDash val="solid"/>
          </a:ln>
        </p:spPr>
      </p:sp>
      <p:sp>
        <p:nvSpPr>
          <p:cNvPr id="18" name="Text 16"/>
          <p:cNvSpPr/>
          <p:nvPr/>
        </p:nvSpPr>
        <p:spPr>
          <a:xfrm>
            <a:off x="1371600" y="3099816"/>
            <a:ext cx="2331720" cy="228600"/>
          </a:xfrm>
          <a:prstGeom prst="rect">
            <a:avLst/>
          </a:prstGeom>
          <a:noFill/>
          <a:ln/>
        </p:spPr>
        <p:txBody>
          <a:bodyPr wrap="square" lIns="0" tIns="0" rIns="0" bIns="0" rtlCol="0" anchor="ctr"/>
          <a:lstStyle/>
          <a:p>
            <a:pPr indent="0" marL="0">
              <a:buNone/>
            </a:pPr>
            <a:r>
              <a:rPr lang="en-US" sz="1450" b="1" dirty="0">
                <a:solidFill>
                  <a:srgbClr val="203040"/>
                </a:solidFill>
              </a:rPr>
              <a:t>Execution bounds</a:t>
            </a:r>
            <a:endParaRPr lang="en-US" sz="1450" dirty="0"/>
          </a:p>
        </p:txBody>
      </p:sp>
      <p:sp>
        <p:nvSpPr>
          <p:cNvPr id="19" name="Text 17"/>
          <p:cNvSpPr/>
          <p:nvPr/>
        </p:nvSpPr>
        <p:spPr>
          <a:xfrm>
            <a:off x="3794760" y="3099816"/>
            <a:ext cx="7178040" cy="228600"/>
          </a:xfrm>
          <a:prstGeom prst="rect">
            <a:avLst/>
          </a:prstGeom>
          <a:noFill/>
          <a:ln/>
        </p:spPr>
        <p:txBody>
          <a:bodyPr wrap="square" lIns="0" tIns="0" rIns="0" bIns="0" rtlCol="0" anchor="ctr"/>
          <a:lstStyle/>
          <a:p>
            <a:pPr indent="0" marL="0">
              <a:buNone/>
            </a:pPr>
            <a:r>
              <a:rPr lang="en-US" sz="1320" dirty="0">
                <a:solidFill>
                  <a:srgbClr val="5D6B78"/>
                </a:solidFill>
              </a:rPr>
              <a:t>15-second timeout • 5 MB compiler output cap</a:t>
            </a:r>
            <a:endParaRPr lang="en-US" sz="1320" dirty="0"/>
          </a:p>
        </p:txBody>
      </p:sp>
      <p:sp>
        <p:nvSpPr>
          <p:cNvPr id="20" name="Shape 18"/>
          <p:cNvSpPr/>
          <p:nvPr/>
        </p:nvSpPr>
        <p:spPr>
          <a:xfrm>
            <a:off x="658368" y="3730752"/>
            <a:ext cx="10863072" cy="585216"/>
          </a:xfrm>
          <a:prstGeom prst="roundRect">
            <a:avLst>
              <a:gd name="adj" fmla="val 6250"/>
            </a:avLst>
          </a:prstGeom>
          <a:solidFill>
            <a:srgbClr val="FFFFFF"/>
          </a:solidFill>
          <a:ln w="12700">
            <a:solidFill>
              <a:srgbClr val="D7E2EA"/>
            </a:solidFill>
            <a:prstDash val="solid"/>
          </a:ln>
        </p:spPr>
      </p:sp>
      <p:sp>
        <p:nvSpPr>
          <p:cNvPr id="21" name="Shape 19"/>
          <p:cNvSpPr/>
          <p:nvPr/>
        </p:nvSpPr>
        <p:spPr>
          <a:xfrm>
            <a:off x="868680" y="3858768"/>
            <a:ext cx="310896" cy="310896"/>
          </a:xfrm>
          <a:prstGeom prst="ellipse">
            <a:avLst/>
          </a:prstGeom>
          <a:solidFill>
            <a:srgbClr val="008C83"/>
          </a:solidFill>
          <a:ln w="12700">
            <a:solidFill>
              <a:srgbClr val="008C83"/>
            </a:solidFill>
            <a:prstDash val="solid"/>
          </a:ln>
        </p:spPr>
      </p:sp>
      <p:sp>
        <p:nvSpPr>
          <p:cNvPr id="22" name="Text 20"/>
          <p:cNvSpPr/>
          <p:nvPr/>
        </p:nvSpPr>
        <p:spPr>
          <a:xfrm>
            <a:off x="1371600" y="3849624"/>
            <a:ext cx="2331720" cy="228600"/>
          </a:xfrm>
          <a:prstGeom prst="rect">
            <a:avLst/>
          </a:prstGeom>
          <a:noFill/>
          <a:ln/>
        </p:spPr>
        <p:txBody>
          <a:bodyPr wrap="square" lIns="0" tIns="0" rIns="0" bIns="0" rtlCol="0" anchor="ctr"/>
          <a:lstStyle/>
          <a:p>
            <a:pPr indent="0" marL="0">
              <a:buNone/>
            </a:pPr>
            <a:r>
              <a:rPr lang="en-US" sz="1450" b="1" dirty="0">
                <a:solidFill>
                  <a:srgbClr val="203040"/>
                </a:solidFill>
              </a:rPr>
              <a:t>Temporary workspace</a:t>
            </a:r>
            <a:endParaRPr lang="en-US" sz="1450" dirty="0"/>
          </a:p>
        </p:txBody>
      </p:sp>
      <p:sp>
        <p:nvSpPr>
          <p:cNvPr id="23" name="Text 21"/>
          <p:cNvSpPr/>
          <p:nvPr/>
        </p:nvSpPr>
        <p:spPr>
          <a:xfrm>
            <a:off x="3794760" y="3849624"/>
            <a:ext cx="7178040" cy="228600"/>
          </a:xfrm>
          <a:prstGeom prst="rect">
            <a:avLst/>
          </a:prstGeom>
          <a:noFill/>
          <a:ln/>
        </p:spPr>
        <p:txBody>
          <a:bodyPr wrap="square" lIns="0" tIns="0" rIns="0" bIns="0" rtlCol="0" anchor="ctr"/>
          <a:lstStyle/>
          <a:p>
            <a:pPr indent="0" marL="0">
              <a:buNone/>
            </a:pPr>
            <a:r>
              <a:rPr lang="en-US" sz="1320" dirty="0">
                <a:solidFill>
                  <a:srgbClr val="5D6B78"/>
                </a:solidFill>
              </a:rPr>
              <a:t>Per-request directory • always deleted in finally</a:t>
            </a:r>
            <a:endParaRPr lang="en-US" sz="1320" dirty="0"/>
          </a:p>
        </p:txBody>
      </p:sp>
      <p:sp>
        <p:nvSpPr>
          <p:cNvPr id="24" name="Shape 22"/>
          <p:cNvSpPr/>
          <p:nvPr/>
        </p:nvSpPr>
        <p:spPr>
          <a:xfrm>
            <a:off x="658368" y="4480560"/>
            <a:ext cx="10863072" cy="585216"/>
          </a:xfrm>
          <a:prstGeom prst="roundRect">
            <a:avLst>
              <a:gd name="adj" fmla="val 6250"/>
            </a:avLst>
          </a:prstGeom>
          <a:solidFill>
            <a:srgbClr val="FFFFFF"/>
          </a:solidFill>
          <a:ln w="12700">
            <a:solidFill>
              <a:srgbClr val="D7E2EA"/>
            </a:solidFill>
            <a:prstDash val="solid"/>
          </a:ln>
        </p:spPr>
      </p:sp>
      <p:sp>
        <p:nvSpPr>
          <p:cNvPr id="25" name="Shape 23"/>
          <p:cNvSpPr/>
          <p:nvPr/>
        </p:nvSpPr>
        <p:spPr>
          <a:xfrm>
            <a:off x="868680" y="4608576"/>
            <a:ext cx="310896" cy="310896"/>
          </a:xfrm>
          <a:prstGeom prst="ellipse">
            <a:avLst/>
          </a:prstGeom>
          <a:solidFill>
            <a:srgbClr val="21B573"/>
          </a:solidFill>
          <a:ln w="12700">
            <a:solidFill>
              <a:srgbClr val="21B573"/>
            </a:solidFill>
            <a:prstDash val="solid"/>
          </a:ln>
        </p:spPr>
      </p:sp>
      <p:sp>
        <p:nvSpPr>
          <p:cNvPr id="26" name="Text 24"/>
          <p:cNvSpPr/>
          <p:nvPr/>
        </p:nvSpPr>
        <p:spPr>
          <a:xfrm>
            <a:off x="1371600" y="4599432"/>
            <a:ext cx="2331720" cy="228600"/>
          </a:xfrm>
          <a:prstGeom prst="rect">
            <a:avLst/>
          </a:prstGeom>
          <a:noFill/>
          <a:ln/>
        </p:spPr>
        <p:txBody>
          <a:bodyPr wrap="square" lIns="0" tIns="0" rIns="0" bIns="0" rtlCol="0" anchor="ctr"/>
          <a:lstStyle/>
          <a:p>
            <a:pPr indent="0" marL="0">
              <a:buNone/>
            </a:pPr>
            <a:r>
              <a:rPr lang="en-US" sz="1450" b="1" dirty="0">
                <a:solidFill>
                  <a:srgbClr val="203040"/>
                </a:solidFill>
              </a:rPr>
              <a:t>Semantic model</a:t>
            </a:r>
            <a:endParaRPr lang="en-US" sz="1450" dirty="0"/>
          </a:p>
        </p:txBody>
      </p:sp>
      <p:sp>
        <p:nvSpPr>
          <p:cNvPr id="27" name="Text 25"/>
          <p:cNvSpPr/>
          <p:nvPr/>
        </p:nvSpPr>
        <p:spPr>
          <a:xfrm>
            <a:off x="3794760" y="4599432"/>
            <a:ext cx="7178040" cy="228600"/>
          </a:xfrm>
          <a:prstGeom prst="rect">
            <a:avLst/>
          </a:prstGeom>
          <a:noFill/>
          <a:ln/>
        </p:spPr>
        <p:txBody>
          <a:bodyPr wrap="square" lIns="0" tIns="0" rIns="0" bIns="0" rtlCol="0" anchor="ctr"/>
          <a:lstStyle/>
          <a:p>
            <a:pPr indent="0" marL="0">
              <a:buNone/>
            </a:pPr>
            <a:r>
              <a:rPr lang="en-US" sz="1320" dirty="0">
                <a:solidFill>
                  <a:srgbClr val="5D6B78"/>
                </a:solidFill>
              </a:rPr>
              <a:t>Recursive ARM resource discovery • module deployments included</a:t>
            </a:r>
            <a:endParaRPr lang="en-US" sz="1320" dirty="0"/>
          </a:p>
        </p:txBody>
      </p:sp>
      <p:sp>
        <p:nvSpPr>
          <p:cNvPr id="28" name="Shape 26"/>
          <p:cNvSpPr/>
          <p:nvPr/>
        </p:nvSpPr>
        <p:spPr>
          <a:xfrm>
            <a:off x="658368" y="5230368"/>
            <a:ext cx="10863072" cy="585216"/>
          </a:xfrm>
          <a:prstGeom prst="roundRect">
            <a:avLst>
              <a:gd name="adj" fmla="val 6250"/>
            </a:avLst>
          </a:prstGeom>
          <a:solidFill>
            <a:srgbClr val="FFFFFF"/>
          </a:solidFill>
          <a:ln w="12700">
            <a:solidFill>
              <a:srgbClr val="D7E2EA"/>
            </a:solidFill>
            <a:prstDash val="solid"/>
          </a:ln>
        </p:spPr>
      </p:sp>
      <p:sp>
        <p:nvSpPr>
          <p:cNvPr id="29" name="Shape 27"/>
          <p:cNvSpPr/>
          <p:nvPr/>
        </p:nvSpPr>
        <p:spPr>
          <a:xfrm>
            <a:off x="868680" y="5358384"/>
            <a:ext cx="310896" cy="310896"/>
          </a:xfrm>
          <a:prstGeom prst="ellipse">
            <a:avLst/>
          </a:prstGeom>
          <a:solidFill>
            <a:srgbClr val="163B59"/>
          </a:solidFill>
          <a:ln w="12700">
            <a:solidFill>
              <a:srgbClr val="163B59"/>
            </a:solidFill>
            <a:prstDash val="solid"/>
          </a:ln>
        </p:spPr>
      </p:sp>
      <p:sp>
        <p:nvSpPr>
          <p:cNvPr id="30" name="Text 28"/>
          <p:cNvSpPr/>
          <p:nvPr/>
        </p:nvSpPr>
        <p:spPr>
          <a:xfrm>
            <a:off x="1371600" y="5349240"/>
            <a:ext cx="2331720" cy="228600"/>
          </a:xfrm>
          <a:prstGeom prst="rect">
            <a:avLst/>
          </a:prstGeom>
          <a:noFill/>
          <a:ln/>
        </p:spPr>
        <p:txBody>
          <a:bodyPr wrap="square" lIns="0" tIns="0" rIns="0" bIns="0" rtlCol="0" anchor="ctr"/>
          <a:lstStyle/>
          <a:p>
            <a:pPr indent="0" marL="0">
              <a:buNone/>
            </a:pPr>
            <a:r>
              <a:rPr lang="en-US" sz="1450" b="1" dirty="0">
                <a:solidFill>
                  <a:srgbClr val="203040"/>
                </a:solidFill>
              </a:rPr>
              <a:t>Actionable output</a:t>
            </a:r>
            <a:endParaRPr lang="en-US" sz="1450" dirty="0"/>
          </a:p>
        </p:txBody>
      </p:sp>
      <p:sp>
        <p:nvSpPr>
          <p:cNvPr id="31" name="Text 29"/>
          <p:cNvSpPr/>
          <p:nvPr/>
        </p:nvSpPr>
        <p:spPr>
          <a:xfrm>
            <a:off x="3794760" y="5349240"/>
            <a:ext cx="7178040" cy="228600"/>
          </a:xfrm>
          <a:prstGeom prst="rect">
            <a:avLst/>
          </a:prstGeom>
          <a:noFill/>
          <a:ln/>
        </p:spPr>
        <p:txBody>
          <a:bodyPr wrap="square" lIns="0" tIns="0" rIns="0" bIns="0" rtlCol="0" anchor="ctr"/>
          <a:lstStyle/>
          <a:p>
            <a:pPr indent="0" marL="0">
              <a:buNone/>
            </a:pPr>
            <a:r>
              <a:rPr lang="en-US" sz="1320" dirty="0">
                <a:solidFill>
                  <a:srgbClr val="5D6B78"/>
                </a:solidFill>
              </a:rPr>
              <a:t>Compiler diagnostics • evidence paths • weighted score</a:t>
            </a:r>
            <a:endParaRPr lang="en-US" sz="13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7FA"/>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78D4"/>
          </a:solidFill>
          <a:ln w="12700">
            <a:solidFill>
              <a:srgbClr val="0078D4"/>
            </a:solidFill>
            <a:prstDash val="solid"/>
          </a:ln>
        </p:spPr>
      </p:sp>
      <p:sp>
        <p:nvSpPr>
          <p:cNvPr id="3" name="Text 1"/>
          <p:cNvSpPr/>
          <p:nvPr/>
        </p:nvSpPr>
        <p:spPr>
          <a:xfrm>
            <a:off x="502920" y="6455664"/>
            <a:ext cx="4389120" cy="164592"/>
          </a:xfrm>
          <a:prstGeom prst="rect">
            <a:avLst/>
          </a:prstGeom>
          <a:noFill/>
          <a:ln/>
        </p:spPr>
        <p:txBody>
          <a:bodyPr wrap="square" lIns="0" tIns="0" rIns="0" bIns="0" rtlCol="0" anchor="ctr"/>
          <a:lstStyle/>
          <a:p>
            <a:pPr indent="0" marL="0">
              <a:buNone/>
            </a:pPr>
            <a:r>
              <a:rPr lang="en-US" sz="850" spc="100" kern="0" dirty="0">
                <a:solidFill>
                  <a:srgbClr val="778897"/>
                </a:solidFill>
              </a:rPr>
              <a:t>CLOUD WORKLOAD PROTECTION READINESS ANALYZER</a:t>
            </a:r>
            <a:endParaRPr lang="en-US" sz="850" dirty="0"/>
          </a:p>
        </p:txBody>
      </p:sp>
      <p:sp>
        <p:nvSpPr>
          <p:cNvPr id="4" name="Text 2"/>
          <p:cNvSpPr/>
          <p:nvPr/>
        </p:nvSpPr>
        <p:spPr>
          <a:xfrm>
            <a:off x="8503920" y="6455664"/>
            <a:ext cx="2743200" cy="164592"/>
          </a:xfrm>
          <a:prstGeom prst="rect">
            <a:avLst/>
          </a:prstGeom>
          <a:noFill/>
          <a:ln/>
        </p:spPr>
        <p:txBody>
          <a:bodyPr wrap="square" lIns="0" tIns="0" rIns="0" bIns="0" rtlCol="0" anchor="ctr"/>
          <a:lstStyle/>
          <a:p>
            <a:pPr algn="r" indent="0" marL="0">
              <a:buNone/>
            </a:pPr>
            <a:r>
              <a:rPr lang="en-US" sz="850" dirty="0">
                <a:solidFill>
                  <a:srgbClr val="778897"/>
                </a:solidFill>
              </a:rPr>
              <a:t>PRODUCTION IMPLEMENTATION</a:t>
            </a:r>
            <a:endParaRPr lang="en-US" sz="850" dirty="0"/>
          </a:p>
        </p:txBody>
      </p:sp>
      <p:sp>
        <p:nvSpPr>
          <p:cNvPr id="5" name="Text 3"/>
          <p:cNvSpPr/>
          <p:nvPr/>
        </p:nvSpPr>
        <p:spPr>
          <a:xfrm>
            <a:off x="11475720" y="6437376"/>
            <a:ext cx="228600" cy="164592"/>
          </a:xfrm>
          <a:prstGeom prst="rect">
            <a:avLst/>
          </a:prstGeom>
          <a:noFill/>
          <a:ln/>
        </p:spPr>
        <p:txBody>
          <a:bodyPr wrap="square" lIns="0" tIns="0" rIns="0" bIns="0" rtlCol="0" anchor="ctr"/>
          <a:lstStyle/>
          <a:p>
            <a:pPr algn="r" indent="0" marL="0">
              <a:buNone/>
            </a:pPr>
            <a:r>
              <a:rPr lang="en-US" sz="850" dirty="0">
                <a:solidFill>
                  <a:srgbClr val="778897"/>
                </a:solidFill>
              </a:rPr>
              <a:t>7</a:t>
            </a:r>
            <a:endParaRPr lang="en-US" sz="850" dirty="0"/>
          </a:p>
        </p:txBody>
      </p:sp>
      <p:sp>
        <p:nvSpPr>
          <p:cNvPr id="6" name="Text 4"/>
          <p:cNvSpPr/>
          <p:nvPr/>
        </p:nvSpPr>
        <p:spPr>
          <a:xfrm>
            <a:off x="548640" y="310896"/>
            <a:ext cx="5029200" cy="219456"/>
          </a:xfrm>
          <a:prstGeom prst="rect">
            <a:avLst/>
          </a:prstGeom>
          <a:noFill/>
          <a:ln/>
        </p:spPr>
        <p:txBody>
          <a:bodyPr wrap="square" lIns="0" tIns="0" rIns="0" bIns="0" rtlCol="0" anchor="ctr"/>
          <a:lstStyle/>
          <a:p>
            <a:pPr indent="0" marL="0">
              <a:buNone/>
            </a:pPr>
            <a:r>
              <a:rPr lang="en-US" sz="1050" b="1" spc="160" kern="0" dirty="0">
                <a:solidFill>
                  <a:srgbClr val="0078D4"/>
                </a:solidFill>
              </a:rPr>
              <a:t>RULE FRAMEWORK</a:t>
            </a:r>
            <a:endParaRPr lang="en-US" sz="1050" dirty="0"/>
          </a:p>
        </p:txBody>
      </p:sp>
      <p:sp>
        <p:nvSpPr>
          <p:cNvPr id="7" name="Text 5"/>
          <p:cNvSpPr/>
          <p:nvPr/>
        </p:nvSpPr>
        <p:spPr>
          <a:xfrm>
            <a:off x="548640" y="640080"/>
            <a:ext cx="11018520" cy="484632"/>
          </a:xfrm>
          <a:prstGeom prst="rect">
            <a:avLst/>
          </a:prstGeom>
          <a:noFill/>
          <a:ln/>
        </p:spPr>
        <p:txBody>
          <a:bodyPr wrap="square" lIns="0" tIns="0" rIns="0" bIns="0" rtlCol="0" anchor="ctr"/>
          <a:lstStyle/>
          <a:p>
            <a:pPr indent="0" marL="0">
              <a:buNone/>
            </a:pPr>
            <a:r>
              <a:rPr lang="en-US" sz="2900" b="1" dirty="0">
                <a:solidFill>
                  <a:srgbClr val="102A43"/>
                </a:solidFill>
              </a:rPr>
              <a:t>Ten controls across six production categories</a:t>
            </a:r>
            <a:endParaRPr lang="en-US" sz="2900" dirty="0"/>
          </a:p>
        </p:txBody>
      </p:sp>
      <p:sp>
        <p:nvSpPr>
          <p:cNvPr id="8" name="Shape 6"/>
          <p:cNvSpPr/>
          <p:nvPr/>
        </p:nvSpPr>
        <p:spPr>
          <a:xfrm>
            <a:off x="621792" y="1554480"/>
            <a:ext cx="3429000" cy="1691640"/>
          </a:xfrm>
          <a:prstGeom prst="roundRect">
            <a:avLst>
              <a:gd name="adj" fmla="val 4324"/>
            </a:avLst>
          </a:prstGeom>
          <a:solidFill>
            <a:srgbClr val="FFFFFF"/>
          </a:solidFill>
          <a:ln w="12700">
            <a:solidFill>
              <a:srgbClr val="D7E2EA"/>
            </a:solidFill>
            <a:prstDash val="solid"/>
          </a:ln>
        </p:spPr>
      </p:sp>
      <p:sp>
        <p:nvSpPr>
          <p:cNvPr id="9" name="Shape 7"/>
          <p:cNvSpPr/>
          <p:nvPr/>
        </p:nvSpPr>
        <p:spPr>
          <a:xfrm>
            <a:off x="822960" y="1773936"/>
            <a:ext cx="502920" cy="502920"/>
          </a:xfrm>
          <a:prstGeom prst="ellipse">
            <a:avLst/>
          </a:prstGeom>
          <a:solidFill>
            <a:srgbClr val="0078D4"/>
          </a:solidFill>
          <a:ln w="12700">
            <a:solidFill>
              <a:srgbClr val="0078D4"/>
            </a:solidFill>
            <a:prstDash val="solid"/>
          </a:ln>
        </p:spPr>
      </p:sp>
      <p:sp>
        <p:nvSpPr>
          <p:cNvPr id="10" name="Text 8"/>
          <p:cNvSpPr/>
          <p:nvPr/>
        </p:nvSpPr>
        <p:spPr>
          <a:xfrm>
            <a:off x="1463040" y="1783080"/>
            <a:ext cx="1600200" cy="274320"/>
          </a:xfrm>
          <a:prstGeom prst="rect">
            <a:avLst/>
          </a:prstGeom>
          <a:noFill/>
          <a:ln/>
        </p:spPr>
        <p:txBody>
          <a:bodyPr wrap="square" lIns="0" tIns="0" rIns="0" bIns="0" rtlCol="0" anchor="ctr"/>
          <a:lstStyle/>
          <a:p>
            <a:pPr indent="0" marL="0">
              <a:buNone/>
            </a:pPr>
            <a:r>
              <a:rPr lang="en-US" sz="1700" b="1" dirty="0">
                <a:solidFill>
                  <a:srgbClr val="102A43"/>
                </a:solidFill>
              </a:rPr>
              <a:t>Identity</a:t>
            </a:r>
            <a:endParaRPr lang="en-US" sz="1700" dirty="0"/>
          </a:p>
        </p:txBody>
      </p:sp>
      <p:sp>
        <p:nvSpPr>
          <p:cNvPr id="11" name="Text 9"/>
          <p:cNvSpPr/>
          <p:nvPr/>
        </p:nvSpPr>
        <p:spPr>
          <a:xfrm>
            <a:off x="3108960" y="1783080"/>
            <a:ext cx="640080" cy="237744"/>
          </a:xfrm>
          <a:prstGeom prst="rect">
            <a:avLst/>
          </a:prstGeom>
          <a:noFill/>
          <a:ln/>
        </p:spPr>
        <p:txBody>
          <a:bodyPr wrap="square" lIns="0" tIns="0" rIns="0" bIns="0" rtlCol="0" anchor="ctr"/>
          <a:lstStyle/>
          <a:p>
            <a:pPr algn="r" indent="0" marL="0">
              <a:buNone/>
            </a:pPr>
            <a:r>
              <a:rPr lang="en-US" sz="1200" b="1" dirty="0">
                <a:solidFill>
                  <a:srgbClr val="0078D4"/>
                </a:solidFill>
              </a:rPr>
              <a:t>15 pts</a:t>
            </a:r>
            <a:endParaRPr lang="en-US" sz="1200" dirty="0"/>
          </a:p>
        </p:txBody>
      </p:sp>
      <p:sp>
        <p:nvSpPr>
          <p:cNvPr id="12" name="Text 10"/>
          <p:cNvSpPr/>
          <p:nvPr/>
        </p:nvSpPr>
        <p:spPr>
          <a:xfrm>
            <a:off x="859536" y="2450592"/>
            <a:ext cx="2907792" cy="530352"/>
          </a:xfrm>
          <a:prstGeom prst="rect">
            <a:avLst/>
          </a:prstGeom>
          <a:noFill/>
          <a:ln/>
        </p:spPr>
        <p:txBody>
          <a:bodyPr wrap="square" lIns="0" tIns="0" rIns="0" bIns="0" rtlCol="0" anchor="ctr"/>
          <a:lstStyle/>
          <a:p>
            <a:pPr algn="ctr" indent="0" marL="0">
              <a:buNone/>
            </a:pPr>
            <a:r>
              <a:rPr lang="en-US" sz="1350" dirty="0">
                <a:solidFill>
                  <a:srgbClr val="5D6B78"/>
                </a:solidFill>
              </a:rPr>
              <a:t>Managed identity</a:t>
            </a:r>
            <a:endParaRPr lang="en-US" sz="1350" dirty="0"/>
          </a:p>
        </p:txBody>
      </p:sp>
      <p:sp>
        <p:nvSpPr>
          <p:cNvPr id="13" name="Shape 11"/>
          <p:cNvSpPr/>
          <p:nvPr/>
        </p:nvSpPr>
        <p:spPr>
          <a:xfrm>
            <a:off x="4434840" y="1554480"/>
            <a:ext cx="3429000" cy="1691640"/>
          </a:xfrm>
          <a:prstGeom prst="roundRect">
            <a:avLst>
              <a:gd name="adj" fmla="val 4324"/>
            </a:avLst>
          </a:prstGeom>
          <a:solidFill>
            <a:srgbClr val="FFFFFF"/>
          </a:solidFill>
          <a:ln w="12700">
            <a:solidFill>
              <a:srgbClr val="D7E2EA"/>
            </a:solidFill>
            <a:prstDash val="solid"/>
          </a:ln>
        </p:spPr>
      </p:sp>
      <p:sp>
        <p:nvSpPr>
          <p:cNvPr id="14" name="Shape 12"/>
          <p:cNvSpPr/>
          <p:nvPr/>
        </p:nvSpPr>
        <p:spPr>
          <a:xfrm>
            <a:off x="4636008" y="1773936"/>
            <a:ext cx="502920" cy="502920"/>
          </a:xfrm>
          <a:prstGeom prst="ellipse">
            <a:avLst/>
          </a:prstGeom>
          <a:solidFill>
            <a:srgbClr val="DC5A4A"/>
          </a:solidFill>
          <a:ln w="12700">
            <a:solidFill>
              <a:srgbClr val="DC5A4A"/>
            </a:solidFill>
            <a:prstDash val="solid"/>
          </a:ln>
        </p:spPr>
      </p:sp>
      <p:sp>
        <p:nvSpPr>
          <p:cNvPr id="15" name="Text 13"/>
          <p:cNvSpPr/>
          <p:nvPr/>
        </p:nvSpPr>
        <p:spPr>
          <a:xfrm>
            <a:off x="5276088" y="1783080"/>
            <a:ext cx="1600200" cy="274320"/>
          </a:xfrm>
          <a:prstGeom prst="rect">
            <a:avLst/>
          </a:prstGeom>
          <a:noFill/>
          <a:ln/>
        </p:spPr>
        <p:txBody>
          <a:bodyPr wrap="square" lIns="0" tIns="0" rIns="0" bIns="0" rtlCol="0" anchor="ctr"/>
          <a:lstStyle/>
          <a:p>
            <a:pPr indent="0" marL="0">
              <a:buNone/>
            </a:pPr>
            <a:r>
              <a:rPr lang="en-US" sz="1700" b="1" dirty="0">
                <a:solidFill>
                  <a:srgbClr val="102A43"/>
                </a:solidFill>
              </a:rPr>
              <a:t>Secrets</a:t>
            </a:r>
            <a:endParaRPr lang="en-US" sz="1700" dirty="0"/>
          </a:p>
        </p:txBody>
      </p:sp>
      <p:sp>
        <p:nvSpPr>
          <p:cNvPr id="16" name="Text 14"/>
          <p:cNvSpPr/>
          <p:nvPr/>
        </p:nvSpPr>
        <p:spPr>
          <a:xfrm>
            <a:off x="6922008" y="1783080"/>
            <a:ext cx="640080" cy="237744"/>
          </a:xfrm>
          <a:prstGeom prst="rect">
            <a:avLst/>
          </a:prstGeom>
          <a:noFill/>
          <a:ln/>
        </p:spPr>
        <p:txBody>
          <a:bodyPr wrap="square" lIns="0" tIns="0" rIns="0" bIns="0" rtlCol="0" anchor="ctr"/>
          <a:lstStyle/>
          <a:p>
            <a:pPr algn="r" indent="0" marL="0">
              <a:buNone/>
            </a:pPr>
            <a:r>
              <a:rPr lang="en-US" sz="1200" b="1" dirty="0">
                <a:solidFill>
                  <a:srgbClr val="DC5A4A"/>
                </a:solidFill>
              </a:rPr>
              <a:t>25 pts</a:t>
            </a:r>
            <a:endParaRPr lang="en-US" sz="1200" dirty="0"/>
          </a:p>
        </p:txBody>
      </p:sp>
      <p:sp>
        <p:nvSpPr>
          <p:cNvPr id="17" name="Text 15"/>
          <p:cNvSpPr/>
          <p:nvPr/>
        </p:nvSpPr>
        <p:spPr>
          <a:xfrm>
            <a:off x="4672584" y="2450592"/>
            <a:ext cx="2907792" cy="530352"/>
          </a:xfrm>
          <a:prstGeom prst="rect">
            <a:avLst/>
          </a:prstGeom>
          <a:noFill/>
          <a:ln/>
        </p:spPr>
        <p:txBody>
          <a:bodyPr wrap="square" lIns="0" tIns="0" rIns="0" bIns="0" rtlCol="0" anchor="ctr"/>
          <a:lstStyle/>
          <a:p>
            <a:pPr algn="ctr" indent="0" marL="0">
              <a:buNone/>
            </a:pPr>
            <a:r>
              <a:rPr lang="en-US" sz="1350" dirty="0">
                <a:solidFill>
                  <a:srgbClr val="5D6B78"/>
                </a:solidFill>
              </a:rPr>
              <a:t>Key Vault RBAC</a:t>
            </a:r>
            <a:endParaRPr lang="en-US" sz="1350" dirty="0"/>
          </a:p>
          <a:p>
            <a:pPr algn="ctr" indent="0" marL="0">
              <a:buNone/>
            </a:pPr>
            <a:r>
              <a:rPr lang="en-US" sz="1350" dirty="0">
                <a:solidFill>
                  <a:srgbClr val="5D6B78"/>
                </a:solidFill>
              </a:rPr>
              <a:t>No literal secrets</a:t>
            </a:r>
            <a:endParaRPr lang="en-US" sz="1350" dirty="0"/>
          </a:p>
        </p:txBody>
      </p:sp>
      <p:sp>
        <p:nvSpPr>
          <p:cNvPr id="18" name="Shape 16"/>
          <p:cNvSpPr/>
          <p:nvPr/>
        </p:nvSpPr>
        <p:spPr>
          <a:xfrm>
            <a:off x="8247888" y="1554480"/>
            <a:ext cx="3429000" cy="1691640"/>
          </a:xfrm>
          <a:prstGeom prst="roundRect">
            <a:avLst>
              <a:gd name="adj" fmla="val 4324"/>
            </a:avLst>
          </a:prstGeom>
          <a:solidFill>
            <a:srgbClr val="FFFFFF"/>
          </a:solidFill>
          <a:ln w="12700">
            <a:solidFill>
              <a:srgbClr val="D7E2EA"/>
            </a:solidFill>
            <a:prstDash val="solid"/>
          </a:ln>
        </p:spPr>
      </p:sp>
      <p:sp>
        <p:nvSpPr>
          <p:cNvPr id="19" name="Shape 17"/>
          <p:cNvSpPr/>
          <p:nvPr/>
        </p:nvSpPr>
        <p:spPr>
          <a:xfrm>
            <a:off x="8449056" y="1773936"/>
            <a:ext cx="502920" cy="502920"/>
          </a:xfrm>
          <a:prstGeom prst="ellipse">
            <a:avLst/>
          </a:prstGeom>
          <a:solidFill>
            <a:srgbClr val="008C83"/>
          </a:solidFill>
          <a:ln w="12700">
            <a:solidFill>
              <a:srgbClr val="008C83"/>
            </a:solidFill>
            <a:prstDash val="solid"/>
          </a:ln>
        </p:spPr>
      </p:sp>
      <p:sp>
        <p:nvSpPr>
          <p:cNvPr id="20" name="Text 18"/>
          <p:cNvSpPr/>
          <p:nvPr/>
        </p:nvSpPr>
        <p:spPr>
          <a:xfrm>
            <a:off x="9089136" y="1783080"/>
            <a:ext cx="1600200" cy="274320"/>
          </a:xfrm>
          <a:prstGeom prst="rect">
            <a:avLst/>
          </a:prstGeom>
          <a:noFill/>
          <a:ln/>
        </p:spPr>
        <p:txBody>
          <a:bodyPr wrap="square" lIns="0" tIns="0" rIns="0" bIns="0" rtlCol="0" anchor="ctr"/>
          <a:lstStyle/>
          <a:p>
            <a:pPr indent="0" marL="0">
              <a:buNone/>
            </a:pPr>
            <a:r>
              <a:rPr lang="en-US" sz="1700" b="1" dirty="0">
                <a:solidFill>
                  <a:srgbClr val="102A43"/>
                </a:solidFill>
              </a:rPr>
              <a:t>Registry</a:t>
            </a:r>
            <a:endParaRPr lang="en-US" sz="1700" dirty="0"/>
          </a:p>
        </p:txBody>
      </p:sp>
      <p:sp>
        <p:nvSpPr>
          <p:cNvPr id="21" name="Text 19"/>
          <p:cNvSpPr/>
          <p:nvPr/>
        </p:nvSpPr>
        <p:spPr>
          <a:xfrm>
            <a:off x="10735056" y="1783080"/>
            <a:ext cx="640080" cy="237744"/>
          </a:xfrm>
          <a:prstGeom prst="rect">
            <a:avLst/>
          </a:prstGeom>
          <a:noFill/>
          <a:ln/>
        </p:spPr>
        <p:txBody>
          <a:bodyPr wrap="square" lIns="0" tIns="0" rIns="0" bIns="0" rtlCol="0" anchor="ctr"/>
          <a:lstStyle/>
          <a:p>
            <a:pPr algn="r" indent="0" marL="0">
              <a:buNone/>
            </a:pPr>
            <a:r>
              <a:rPr lang="en-US" sz="1200" b="1" dirty="0">
                <a:solidFill>
                  <a:srgbClr val="008C83"/>
                </a:solidFill>
              </a:rPr>
              <a:t>20 pts</a:t>
            </a:r>
            <a:endParaRPr lang="en-US" sz="1200" dirty="0"/>
          </a:p>
        </p:txBody>
      </p:sp>
      <p:sp>
        <p:nvSpPr>
          <p:cNvPr id="22" name="Text 20"/>
          <p:cNvSpPr/>
          <p:nvPr/>
        </p:nvSpPr>
        <p:spPr>
          <a:xfrm>
            <a:off x="8485632" y="2450592"/>
            <a:ext cx="2907792" cy="530352"/>
          </a:xfrm>
          <a:prstGeom prst="rect">
            <a:avLst/>
          </a:prstGeom>
          <a:noFill/>
          <a:ln/>
        </p:spPr>
        <p:txBody>
          <a:bodyPr wrap="square" lIns="0" tIns="0" rIns="0" bIns="0" rtlCol="0" anchor="ctr"/>
          <a:lstStyle/>
          <a:p>
            <a:pPr algn="ctr" indent="0" marL="0">
              <a:buNone/>
            </a:pPr>
            <a:r>
              <a:rPr lang="en-US" sz="1350" dirty="0">
                <a:solidFill>
                  <a:srgbClr val="5D6B78"/>
                </a:solidFill>
              </a:rPr>
              <a:t>Admin disabled</a:t>
            </a:r>
            <a:endParaRPr lang="en-US" sz="1350" dirty="0"/>
          </a:p>
          <a:p>
            <a:pPr algn="ctr" indent="0" marL="0">
              <a:buNone/>
            </a:pPr>
            <a:r>
              <a:rPr lang="en-US" sz="1350" dirty="0">
                <a:solidFill>
                  <a:srgbClr val="5D6B78"/>
                </a:solidFill>
              </a:rPr>
              <a:t>Private access</a:t>
            </a:r>
            <a:endParaRPr lang="en-US" sz="1350" dirty="0"/>
          </a:p>
        </p:txBody>
      </p:sp>
      <p:sp>
        <p:nvSpPr>
          <p:cNvPr id="23" name="Shape 21"/>
          <p:cNvSpPr/>
          <p:nvPr/>
        </p:nvSpPr>
        <p:spPr>
          <a:xfrm>
            <a:off x="621792" y="3611880"/>
            <a:ext cx="3429000" cy="1691640"/>
          </a:xfrm>
          <a:prstGeom prst="roundRect">
            <a:avLst>
              <a:gd name="adj" fmla="val 4324"/>
            </a:avLst>
          </a:prstGeom>
          <a:solidFill>
            <a:srgbClr val="FFFFFF"/>
          </a:solidFill>
          <a:ln w="12700">
            <a:solidFill>
              <a:srgbClr val="D7E2EA"/>
            </a:solidFill>
            <a:prstDash val="solid"/>
          </a:ln>
        </p:spPr>
      </p:sp>
      <p:sp>
        <p:nvSpPr>
          <p:cNvPr id="24" name="Shape 22"/>
          <p:cNvSpPr/>
          <p:nvPr/>
        </p:nvSpPr>
        <p:spPr>
          <a:xfrm>
            <a:off x="822960" y="3831336"/>
            <a:ext cx="502920" cy="502920"/>
          </a:xfrm>
          <a:prstGeom prst="ellipse">
            <a:avLst/>
          </a:prstGeom>
          <a:solidFill>
            <a:srgbClr val="163B59"/>
          </a:solidFill>
          <a:ln w="12700">
            <a:solidFill>
              <a:srgbClr val="163B59"/>
            </a:solidFill>
            <a:prstDash val="solid"/>
          </a:ln>
        </p:spPr>
      </p:sp>
      <p:sp>
        <p:nvSpPr>
          <p:cNvPr id="25" name="Text 23"/>
          <p:cNvSpPr/>
          <p:nvPr/>
        </p:nvSpPr>
        <p:spPr>
          <a:xfrm>
            <a:off x="1463040" y="3840480"/>
            <a:ext cx="1600200" cy="274320"/>
          </a:xfrm>
          <a:prstGeom prst="rect">
            <a:avLst/>
          </a:prstGeom>
          <a:noFill/>
          <a:ln/>
        </p:spPr>
        <p:txBody>
          <a:bodyPr wrap="square" lIns="0" tIns="0" rIns="0" bIns="0" rtlCol="0" anchor="ctr"/>
          <a:lstStyle/>
          <a:p>
            <a:pPr indent="0" marL="0">
              <a:buNone/>
            </a:pPr>
            <a:r>
              <a:rPr lang="en-US" sz="1700" b="1" dirty="0">
                <a:solidFill>
                  <a:srgbClr val="102A43"/>
                </a:solidFill>
              </a:rPr>
              <a:t>Network</a:t>
            </a:r>
            <a:endParaRPr lang="en-US" sz="1700" dirty="0"/>
          </a:p>
        </p:txBody>
      </p:sp>
      <p:sp>
        <p:nvSpPr>
          <p:cNvPr id="26" name="Text 24"/>
          <p:cNvSpPr/>
          <p:nvPr/>
        </p:nvSpPr>
        <p:spPr>
          <a:xfrm>
            <a:off x="3108960" y="3840480"/>
            <a:ext cx="640080" cy="237744"/>
          </a:xfrm>
          <a:prstGeom prst="rect">
            <a:avLst/>
          </a:prstGeom>
          <a:noFill/>
          <a:ln/>
        </p:spPr>
        <p:txBody>
          <a:bodyPr wrap="square" lIns="0" tIns="0" rIns="0" bIns="0" rtlCol="0" anchor="ctr"/>
          <a:lstStyle/>
          <a:p>
            <a:pPr algn="r" indent="0" marL="0">
              <a:buNone/>
            </a:pPr>
            <a:r>
              <a:rPr lang="en-US" sz="1200" b="1" dirty="0">
                <a:solidFill>
                  <a:srgbClr val="163B59"/>
                </a:solidFill>
              </a:rPr>
              <a:t>25 pts</a:t>
            </a:r>
            <a:endParaRPr lang="en-US" sz="1200" dirty="0"/>
          </a:p>
        </p:txBody>
      </p:sp>
      <p:sp>
        <p:nvSpPr>
          <p:cNvPr id="27" name="Text 25"/>
          <p:cNvSpPr/>
          <p:nvPr/>
        </p:nvSpPr>
        <p:spPr>
          <a:xfrm>
            <a:off x="859536" y="4507992"/>
            <a:ext cx="2907792" cy="530352"/>
          </a:xfrm>
          <a:prstGeom prst="rect">
            <a:avLst/>
          </a:prstGeom>
          <a:noFill/>
          <a:ln/>
        </p:spPr>
        <p:txBody>
          <a:bodyPr wrap="square" lIns="0" tIns="0" rIns="0" bIns="0" rtlCol="0" anchor="ctr"/>
          <a:lstStyle/>
          <a:p>
            <a:pPr algn="ctr" indent="0" marL="0">
              <a:buNone/>
            </a:pPr>
            <a:r>
              <a:rPr lang="en-US" sz="1350" dirty="0">
                <a:solidFill>
                  <a:srgbClr val="5D6B78"/>
                </a:solidFill>
              </a:rPr>
              <a:t>Ingress review</a:t>
            </a:r>
            <a:endParaRPr lang="en-US" sz="1350" dirty="0"/>
          </a:p>
          <a:p>
            <a:pPr algn="ctr" indent="0" marL="0">
              <a:buNone/>
            </a:pPr>
            <a:r>
              <a:rPr lang="en-US" sz="1350" dirty="0">
                <a:solidFill>
                  <a:srgbClr val="5D6B78"/>
                </a:solidFill>
              </a:rPr>
              <a:t>Private KV</a:t>
            </a:r>
            <a:endParaRPr lang="en-US" sz="1350" dirty="0"/>
          </a:p>
          <a:p>
            <a:pPr algn="ctr" indent="0" marL="0">
              <a:buNone/>
            </a:pPr>
            <a:r>
              <a:rPr lang="en-US" sz="1350" dirty="0">
                <a:solidFill>
                  <a:srgbClr val="5D6B78"/>
                </a:solidFill>
              </a:rPr>
              <a:t>HTTPS only</a:t>
            </a:r>
            <a:endParaRPr lang="en-US" sz="1350" dirty="0"/>
          </a:p>
        </p:txBody>
      </p:sp>
      <p:sp>
        <p:nvSpPr>
          <p:cNvPr id="28" name="Shape 26"/>
          <p:cNvSpPr/>
          <p:nvPr/>
        </p:nvSpPr>
        <p:spPr>
          <a:xfrm>
            <a:off x="4434840" y="3611880"/>
            <a:ext cx="3429000" cy="1691640"/>
          </a:xfrm>
          <a:prstGeom prst="roundRect">
            <a:avLst>
              <a:gd name="adj" fmla="val 4324"/>
            </a:avLst>
          </a:prstGeom>
          <a:solidFill>
            <a:srgbClr val="FFFFFF"/>
          </a:solidFill>
          <a:ln w="12700">
            <a:solidFill>
              <a:srgbClr val="D7E2EA"/>
            </a:solidFill>
            <a:prstDash val="solid"/>
          </a:ln>
        </p:spPr>
      </p:sp>
      <p:sp>
        <p:nvSpPr>
          <p:cNvPr id="29" name="Shape 27"/>
          <p:cNvSpPr/>
          <p:nvPr/>
        </p:nvSpPr>
        <p:spPr>
          <a:xfrm>
            <a:off x="4636008" y="3831336"/>
            <a:ext cx="502920" cy="502920"/>
          </a:xfrm>
          <a:prstGeom prst="ellipse">
            <a:avLst/>
          </a:prstGeom>
          <a:solidFill>
            <a:srgbClr val="F59E0B"/>
          </a:solidFill>
          <a:ln w="12700">
            <a:solidFill>
              <a:srgbClr val="F59E0B"/>
            </a:solidFill>
            <a:prstDash val="solid"/>
          </a:ln>
        </p:spPr>
      </p:sp>
      <p:sp>
        <p:nvSpPr>
          <p:cNvPr id="30" name="Text 28"/>
          <p:cNvSpPr/>
          <p:nvPr/>
        </p:nvSpPr>
        <p:spPr>
          <a:xfrm>
            <a:off x="5276088" y="3840480"/>
            <a:ext cx="1600200" cy="274320"/>
          </a:xfrm>
          <a:prstGeom prst="rect">
            <a:avLst/>
          </a:prstGeom>
          <a:noFill/>
          <a:ln/>
        </p:spPr>
        <p:txBody>
          <a:bodyPr wrap="square" lIns="0" tIns="0" rIns="0" bIns="0" rtlCol="0" anchor="ctr"/>
          <a:lstStyle/>
          <a:p>
            <a:pPr indent="0" marL="0">
              <a:buNone/>
            </a:pPr>
            <a:r>
              <a:rPr lang="en-US" sz="1700" b="1" dirty="0">
                <a:solidFill>
                  <a:srgbClr val="102A43"/>
                </a:solidFill>
              </a:rPr>
              <a:t>Monitoring</a:t>
            </a:r>
            <a:endParaRPr lang="en-US" sz="1700" dirty="0"/>
          </a:p>
        </p:txBody>
      </p:sp>
      <p:sp>
        <p:nvSpPr>
          <p:cNvPr id="31" name="Text 29"/>
          <p:cNvSpPr/>
          <p:nvPr/>
        </p:nvSpPr>
        <p:spPr>
          <a:xfrm>
            <a:off x="6922008" y="3840480"/>
            <a:ext cx="640080" cy="237744"/>
          </a:xfrm>
          <a:prstGeom prst="rect">
            <a:avLst/>
          </a:prstGeom>
          <a:noFill/>
          <a:ln/>
        </p:spPr>
        <p:txBody>
          <a:bodyPr wrap="square" lIns="0" tIns="0" rIns="0" bIns="0" rtlCol="0" anchor="ctr"/>
          <a:lstStyle/>
          <a:p>
            <a:pPr algn="r" indent="0" marL="0">
              <a:buNone/>
            </a:pPr>
            <a:r>
              <a:rPr lang="en-US" sz="1200" b="1" dirty="0">
                <a:solidFill>
                  <a:srgbClr val="F59E0B"/>
                </a:solidFill>
              </a:rPr>
              <a:t>10 pts</a:t>
            </a:r>
            <a:endParaRPr lang="en-US" sz="1200" dirty="0"/>
          </a:p>
        </p:txBody>
      </p:sp>
      <p:sp>
        <p:nvSpPr>
          <p:cNvPr id="32" name="Text 30"/>
          <p:cNvSpPr/>
          <p:nvPr/>
        </p:nvSpPr>
        <p:spPr>
          <a:xfrm>
            <a:off x="4672584" y="4507992"/>
            <a:ext cx="2907792" cy="530352"/>
          </a:xfrm>
          <a:prstGeom prst="rect">
            <a:avLst/>
          </a:prstGeom>
          <a:noFill/>
          <a:ln/>
        </p:spPr>
        <p:txBody>
          <a:bodyPr wrap="square" lIns="0" tIns="0" rIns="0" bIns="0" rtlCol="0" anchor="ctr"/>
          <a:lstStyle/>
          <a:p>
            <a:pPr algn="ctr" indent="0" marL="0">
              <a:buNone/>
            </a:pPr>
            <a:r>
              <a:rPr lang="en-US" sz="1350" dirty="0">
                <a:solidFill>
                  <a:srgbClr val="5D6B78"/>
                </a:solidFill>
              </a:rPr>
              <a:t>Centralized logs</a:t>
            </a:r>
            <a:endParaRPr lang="en-US" sz="1350" dirty="0"/>
          </a:p>
        </p:txBody>
      </p:sp>
      <p:sp>
        <p:nvSpPr>
          <p:cNvPr id="33" name="Shape 31"/>
          <p:cNvSpPr/>
          <p:nvPr/>
        </p:nvSpPr>
        <p:spPr>
          <a:xfrm>
            <a:off x="8247888" y="3611880"/>
            <a:ext cx="3429000" cy="1691640"/>
          </a:xfrm>
          <a:prstGeom prst="roundRect">
            <a:avLst>
              <a:gd name="adj" fmla="val 4324"/>
            </a:avLst>
          </a:prstGeom>
          <a:solidFill>
            <a:srgbClr val="FFFFFF"/>
          </a:solidFill>
          <a:ln w="12700">
            <a:solidFill>
              <a:srgbClr val="D7E2EA"/>
            </a:solidFill>
            <a:prstDash val="solid"/>
          </a:ln>
        </p:spPr>
      </p:sp>
      <p:sp>
        <p:nvSpPr>
          <p:cNvPr id="34" name="Shape 32"/>
          <p:cNvSpPr/>
          <p:nvPr/>
        </p:nvSpPr>
        <p:spPr>
          <a:xfrm>
            <a:off x="8449056" y="3831336"/>
            <a:ext cx="502920" cy="502920"/>
          </a:xfrm>
          <a:prstGeom prst="ellipse">
            <a:avLst/>
          </a:prstGeom>
          <a:solidFill>
            <a:srgbClr val="21B573"/>
          </a:solidFill>
          <a:ln w="12700">
            <a:solidFill>
              <a:srgbClr val="21B573"/>
            </a:solidFill>
            <a:prstDash val="solid"/>
          </a:ln>
        </p:spPr>
      </p:sp>
      <p:sp>
        <p:nvSpPr>
          <p:cNvPr id="35" name="Text 33"/>
          <p:cNvSpPr/>
          <p:nvPr/>
        </p:nvSpPr>
        <p:spPr>
          <a:xfrm>
            <a:off x="9089136" y="3840480"/>
            <a:ext cx="1600200" cy="274320"/>
          </a:xfrm>
          <a:prstGeom prst="rect">
            <a:avLst/>
          </a:prstGeom>
          <a:noFill/>
          <a:ln/>
        </p:spPr>
        <p:txBody>
          <a:bodyPr wrap="square" lIns="0" tIns="0" rIns="0" bIns="0" rtlCol="0" anchor="ctr"/>
          <a:lstStyle/>
          <a:p>
            <a:pPr indent="0" marL="0">
              <a:buNone/>
            </a:pPr>
            <a:r>
              <a:rPr lang="en-US" sz="1700" b="1" dirty="0">
                <a:solidFill>
                  <a:srgbClr val="102A43"/>
                </a:solidFill>
              </a:rPr>
              <a:t>Reliability</a:t>
            </a:r>
            <a:endParaRPr lang="en-US" sz="1700" dirty="0"/>
          </a:p>
        </p:txBody>
      </p:sp>
      <p:sp>
        <p:nvSpPr>
          <p:cNvPr id="36" name="Text 34"/>
          <p:cNvSpPr/>
          <p:nvPr/>
        </p:nvSpPr>
        <p:spPr>
          <a:xfrm>
            <a:off x="10735056" y="3840480"/>
            <a:ext cx="640080" cy="237744"/>
          </a:xfrm>
          <a:prstGeom prst="rect">
            <a:avLst/>
          </a:prstGeom>
          <a:noFill/>
          <a:ln/>
        </p:spPr>
        <p:txBody>
          <a:bodyPr wrap="square" lIns="0" tIns="0" rIns="0" bIns="0" rtlCol="0" anchor="ctr"/>
          <a:lstStyle/>
          <a:p>
            <a:pPr algn="r" indent="0" marL="0">
              <a:buNone/>
            </a:pPr>
            <a:r>
              <a:rPr lang="en-US" sz="1200" b="1" dirty="0">
                <a:solidFill>
                  <a:srgbClr val="21B573"/>
                </a:solidFill>
              </a:rPr>
              <a:t>5 pts</a:t>
            </a:r>
            <a:endParaRPr lang="en-US" sz="1200" dirty="0"/>
          </a:p>
        </p:txBody>
      </p:sp>
      <p:sp>
        <p:nvSpPr>
          <p:cNvPr id="37" name="Text 35"/>
          <p:cNvSpPr/>
          <p:nvPr/>
        </p:nvSpPr>
        <p:spPr>
          <a:xfrm>
            <a:off x="8485632" y="4507992"/>
            <a:ext cx="2907792" cy="530352"/>
          </a:xfrm>
          <a:prstGeom prst="rect">
            <a:avLst/>
          </a:prstGeom>
          <a:noFill/>
          <a:ln/>
        </p:spPr>
        <p:txBody>
          <a:bodyPr wrap="square" lIns="0" tIns="0" rIns="0" bIns="0" rtlCol="0" anchor="ctr"/>
          <a:lstStyle/>
          <a:p>
            <a:pPr algn="ctr" indent="0" marL="0">
              <a:buNone/>
            </a:pPr>
            <a:r>
              <a:rPr lang="en-US" sz="1350" dirty="0">
                <a:solidFill>
                  <a:srgbClr val="5D6B78"/>
                </a:solidFill>
              </a:rPr>
              <a:t>Live + ready probes</a:t>
            </a:r>
            <a:endParaRPr lang="en-US" sz="1350" dirty="0"/>
          </a:p>
        </p:txBody>
      </p:sp>
      <p:sp>
        <p:nvSpPr>
          <p:cNvPr id="38" name="Text 36"/>
          <p:cNvSpPr/>
          <p:nvPr/>
        </p:nvSpPr>
        <p:spPr>
          <a:xfrm>
            <a:off x="2011680" y="5806440"/>
            <a:ext cx="8138160" cy="292608"/>
          </a:xfrm>
          <a:prstGeom prst="rect">
            <a:avLst/>
          </a:prstGeom>
          <a:noFill/>
          <a:ln/>
        </p:spPr>
        <p:txBody>
          <a:bodyPr wrap="square" lIns="0" tIns="0" rIns="0" bIns="0" rtlCol="0" anchor="ctr"/>
          <a:lstStyle/>
          <a:p>
            <a:pPr algn="ctr" indent="0" marL="0">
              <a:buNone/>
            </a:pPr>
            <a:r>
              <a:rPr lang="en-US" sz="1450" i="1" dirty="0">
                <a:solidFill>
                  <a:srgbClr val="5D6B78"/>
                </a:solidFill>
              </a:rPr>
              <a:t>Every finding includes the effective resource evidence used by the rule.</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7FA"/>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78D4"/>
          </a:solidFill>
          <a:ln w="12700">
            <a:solidFill>
              <a:srgbClr val="0078D4"/>
            </a:solidFill>
            <a:prstDash val="solid"/>
          </a:ln>
        </p:spPr>
      </p:sp>
      <p:sp>
        <p:nvSpPr>
          <p:cNvPr id="3" name="Text 1"/>
          <p:cNvSpPr/>
          <p:nvPr/>
        </p:nvSpPr>
        <p:spPr>
          <a:xfrm>
            <a:off x="502920" y="6455664"/>
            <a:ext cx="4389120" cy="164592"/>
          </a:xfrm>
          <a:prstGeom prst="rect">
            <a:avLst/>
          </a:prstGeom>
          <a:noFill/>
          <a:ln/>
        </p:spPr>
        <p:txBody>
          <a:bodyPr wrap="square" lIns="0" tIns="0" rIns="0" bIns="0" rtlCol="0" anchor="ctr"/>
          <a:lstStyle/>
          <a:p>
            <a:pPr indent="0" marL="0">
              <a:buNone/>
            </a:pPr>
            <a:r>
              <a:rPr lang="en-US" sz="850" spc="100" kern="0" dirty="0">
                <a:solidFill>
                  <a:srgbClr val="778897"/>
                </a:solidFill>
              </a:rPr>
              <a:t>CLOUD WORKLOAD PROTECTION READINESS ANALYZER</a:t>
            </a:r>
            <a:endParaRPr lang="en-US" sz="850" dirty="0"/>
          </a:p>
        </p:txBody>
      </p:sp>
      <p:sp>
        <p:nvSpPr>
          <p:cNvPr id="4" name="Text 2"/>
          <p:cNvSpPr/>
          <p:nvPr/>
        </p:nvSpPr>
        <p:spPr>
          <a:xfrm>
            <a:off x="8503920" y="6455664"/>
            <a:ext cx="2743200" cy="164592"/>
          </a:xfrm>
          <a:prstGeom prst="rect">
            <a:avLst/>
          </a:prstGeom>
          <a:noFill/>
          <a:ln/>
        </p:spPr>
        <p:txBody>
          <a:bodyPr wrap="square" lIns="0" tIns="0" rIns="0" bIns="0" rtlCol="0" anchor="ctr"/>
          <a:lstStyle/>
          <a:p>
            <a:pPr algn="r" indent="0" marL="0">
              <a:buNone/>
            </a:pPr>
            <a:r>
              <a:rPr lang="en-US" sz="850" dirty="0">
                <a:solidFill>
                  <a:srgbClr val="778897"/>
                </a:solidFill>
              </a:rPr>
              <a:t>PRODUCTION IMPLEMENTATION</a:t>
            </a:r>
            <a:endParaRPr lang="en-US" sz="850" dirty="0"/>
          </a:p>
        </p:txBody>
      </p:sp>
      <p:sp>
        <p:nvSpPr>
          <p:cNvPr id="5" name="Text 3"/>
          <p:cNvSpPr/>
          <p:nvPr/>
        </p:nvSpPr>
        <p:spPr>
          <a:xfrm>
            <a:off x="11475720" y="6437376"/>
            <a:ext cx="228600" cy="164592"/>
          </a:xfrm>
          <a:prstGeom prst="rect">
            <a:avLst/>
          </a:prstGeom>
          <a:noFill/>
          <a:ln/>
        </p:spPr>
        <p:txBody>
          <a:bodyPr wrap="square" lIns="0" tIns="0" rIns="0" bIns="0" rtlCol="0" anchor="ctr"/>
          <a:lstStyle/>
          <a:p>
            <a:pPr algn="r" indent="0" marL="0">
              <a:buNone/>
            </a:pPr>
            <a:r>
              <a:rPr lang="en-US" sz="850" dirty="0">
                <a:solidFill>
                  <a:srgbClr val="778897"/>
                </a:solidFill>
              </a:rPr>
              <a:t>8</a:t>
            </a:r>
            <a:endParaRPr lang="en-US" sz="850" dirty="0"/>
          </a:p>
        </p:txBody>
      </p:sp>
      <p:sp>
        <p:nvSpPr>
          <p:cNvPr id="6" name="Text 4"/>
          <p:cNvSpPr/>
          <p:nvPr/>
        </p:nvSpPr>
        <p:spPr>
          <a:xfrm>
            <a:off x="548640" y="310896"/>
            <a:ext cx="5029200" cy="219456"/>
          </a:xfrm>
          <a:prstGeom prst="rect">
            <a:avLst/>
          </a:prstGeom>
          <a:noFill/>
          <a:ln/>
        </p:spPr>
        <p:txBody>
          <a:bodyPr wrap="square" lIns="0" tIns="0" rIns="0" bIns="0" rtlCol="0" anchor="ctr"/>
          <a:lstStyle/>
          <a:p>
            <a:pPr indent="0" marL="0">
              <a:buNone/>
            </a:pPr>
            <a:r>
              <a:rPr lang="en-US" sz="1050" b="1" spc="160" kern="0" dirty="0">
                <a:solidFill>
                  <a:srgbClr val="0078D4"/>
                </a:solidFill>
              </a:rPr>
              <a:t>BICEP ARCHITECTURE</a:t>
            </a:r>
            <a:endParaRPr lang="en-US" sz="1050" dirty="0"/>
          </a:p>
        </p:txBody>
      </p:sp>
      <p:sp>
        <p:nvSpPr>
          <p:cNvPr id="7" name="Text 5"/>
          <p:cNvSpPr/>
          <p:nvPr/>
        </p:nvSpPr>
        <p:spPr>
          <a:xfrm>
            <a:off x="548640" y="640080"/>
            <a:ext cx="11018520" cy="484632"/>
          </a:xfrm>
          <a:prstGeom prst="rect">
            <a:avLst/>
          </a:prstGeom>
          <a:noFill/>
          <a:ln/>
        </p:spPr>
        <p:txBody>
          <a:bodyPr wrap="square" lIns="0" tIns="0" rIns="0" bIns="0" rtlCol="0" anchor="ctr"/>
          <a:lstStyle/>
          <a:p>
            <a:pPr indent="0" marL="0">
              <a:buNone/>
            </a:pPr>
            <a:r>
              <a:rPr lang="en-US" sz="2900" b="1" dirty="0">
                <a:solidFill>
                  <a:srgbClr val="102A43"/>
                </a:solidFill>
              </a:rPr>
              <a:t>One subscription entry point, focused resource modules</a:t>
            </a:r>
            <a:endParaRPr lang="en-US" sz="2900" dirty="0"/>
          </a:p>
        </p:txBody>
      </p:sp>
      <p:sp>
        <p:nvSpPr>
          <p:cNvPr id="8" name="Shape 6"/>
          <p:cNvSpPr/>
          <p:nvPr/>
        </p:nvSpPr>
        <p:spPr>
          <a:xfrm>
            <a:off x="502920" y="2148840"/>
            <a:ext cx="2057400" cy="1097280"/>
          </a:xfrm>
          <a:prstGeom prst="roundRect">
            <a:avLst>
              <a:gd name="adj" fmla="val 6667"/>
            </a:avLst>
          </a:prstGeom>
          <a:solidFill>
            <a:srgbClr val="102A43"/>
          </a:solidFill>
          <a:ln w="12700">
            <a:solidFill>
              <a:srgbClr val="102A43"/>
            </a:solidFill>
            <a:prstDash val="solid"/>
          </a:ln>
        </p:spPr>
      </p:sp>
      <p:sp>
        <p:nvSpPr>
          <p:cNvPr id="9" name="Text 7"/>
          <p:cNvSpPr/>
          <p:nvPr/>
        </p:nvSpPr>
        <p:spPr>
          <a:xfrm>
            <a:off x="731520" y="2395728"/>
            <a:ext cx="1600200" cy="310896"/>
          </a:xfrm>
          <a:prstGeom prst="rect">
            <a:avLst/>
          </a:prstGeom>
          <a:noFill/>
          <a:ln/>
        </p:spPr>
        <p:txBody>
          <a:bodyPr wrap="square" lIns="0" tIns="0" rIns="0" bIns="0" rtlCol="0" anchor="ctr"/>
          <a:lstStyle/>
          <a:p>
            <a:pPr algn="ctr" indent="0" marL="0">
              <a:buNone/>
            </a:pPr>
            <a:r>
              <a:rPr lang="en-US" sz="2200" b="1" dirty="0">
                <a:solidFill>
                  <a:srgbClr val="FFFFFF"/>
                </a:solidFill>
              </a:rPr>
              <a:t>main.bicep</a:t>
            </a:r>
            <a:endParaRPr lang="en-US" sz="2200" dirty="0"/>
          </a:p>
        </p:txBody>
      </p:sp>
      <p:sp>
        <p:nvSpPr>
          <p:cNvPr id="10" name="Text 8"/>
          <p:cNvSpPr/>
          <p:nvPr/>
        </p:nvSpPr>
        <p:spPr>
          <a:xfrm>
            <a:off x="731520" y="2788920"/>
            <a:ext cx="1600200" cy="182880"/>
          </a:xfrm>
          <a:prstGeom prst="rect">
            <a:avLst/>
          </a:prstGeom>
          <a:noFill/>
          <a:ln/>
        </p:spPr>
        <p:txBody>
          <a:bodyPr wrap="square" lIns="0" tIns="0" rIns="0" bIns="0" rtlCol="0" anchor="ctr"/>
          <a:lstStyle/>
          <a:p>
            <a:pPr algn="ctr" indent="0" marL="0">
              <a:buNone/>
            </a:pPr>
            <a:r>
              <a:rPr lang="en-US" sz="1050" dirty="0">
                <a:solidFill>
                  <a:srgbClr val="B9CBDA"/>
                </a:solidFill>
              </a:rPr>
              <a:t>subscription scope</a:t>
            </a:r>
            <a:endParaRPr lang="en-US" sz="1050" dirty="0"/>
          </a:p>
        </p:txBody>
      </p:sp>
      <p:sp>
        <p:nvSpPr>
          <p:cNvPr id="11" name="Shape 9"/>
          <p:cNvSpPr/>
          <p:nvPr/>
        </p:nvSpPr>
        <p:spPr>
          <a:xfrm>
            <a:off x="3200400" y="1188720"/>
            <a:ext cx="2057400" cy="1143000"/>
          </a:xfrm>
          <a:prstGeom prst="roundRect">
            <a:avLst>
              <a:gd name="adj" fmla="val 6400"/>
            </a:avLst>
          </a:prstGeom>
          <a:solidFill>
            <a:srgbClr val="FFFFFF"/>
          </a:solidFill>
          <a:ln w="25400">
            <a:solidFill>
              <a:srgbClr val="0078D4"/>
            </a:solidFill>
            <a:prstDash val="solid"/>
          </a:ln>
        </p:spPr>
      </p:sp>
      <p:sp>
        <p:nvSpPr>
          <p:cNvPr id="12" name="Text 10"/>
          <p:cNvSpPr/>
          <p:nvPr/>
        </p:nvSpPr>
        <p:spPr>
          <a:xfrm>
            <a:off x="3364992" y="1581912"/>
            <a:ext cx="1728216" cy="292608"/>
          </a:xfrm>
          <a:prstGeom prst="rect">
            <a:avLst/>
          </a:prstGeom>
          <a:noFill/>
          <a:ln/>
        </p:spPr>
        <p:txBody>
          <a:bodyPr wrap="square" lIns="0" tIns="0" rIns="0" bIns="0" rtlCol="0" anchor="ctr"/>
          <a:lstStyle/>
          <a:p>
            <a:pPr algn="ctr" indent="0" marL="0">
              <a:buNone/>
            </a:pPr>
            <a:r>
              <a:rPr lang="en-US" sz="1550" b="1" dirty="0">
                <a:solidFill>
                  <a:srgbClr val="102A43"/>
                </a:solidFill>
              </a:rPr>
              <a:t>Network</a:t>
            </a:r>
            <a:endParaRPr lang="en-US" sz="1550" dirty="0"/>
          </a:p>
        </p:txBody>
      </p:sp>
      <p:sp>
        <p:nvSpPr>
          <p:cNvPr id="13" name="Shape 11"/>
          <p:cNvSpPr/>
          <p:nvPr/>
        </p:nvSpPr>
        <p:spPr>
          <a:xfrm>
            <a:off x="5623560" y="1188720"/>
            <a:ext cx="2057400" cy="1143000"/>
          </a:xfrm>
          <a:prstGeom prst="roundRect">
            <a:avLst>
              <a:gd name="adj" fmla="val 6400"/>
            </a:avLst>
          </a:prstGeom>
          <a:solidFill>
            <a:srgbClr val="FFFFFF"/>
          </a:solidFill>
          <a:ln w="25400">
            <a:solidFill>
              <a:srgbClr val="008C83"/>
            </a:solidFill>
            <a:prstDash val="solid"/>
          </a:ln>
        </p:spPr>
      </p:sp>
      <p:sp>
        <p:nvSpPr>
          <p:cNvPr id="14" name="Text 12"/>
          <p:cNvSpPr/>
          <p:nvPr/>
        </p:nvSpPr>
        <p:spPr>
          <a:xfrm>
            <a:off x="5788152" y="1581912"/>
            <a:ext cx="1728216" cy="292608"/>
          </a:xfrm>
          <a:prstGeom prst="rect">
            <a:avLst/>
          </a:prstGeom>
          <a:noFill/>
          <a:ln/>
        </p:spPr>
        <p:txBody>
          <a:bodyPr wrap="square" lIns="0" tIns="0" rIns="0" bIns="0" rtlCol="0" anchor="ctr"/>
          <a:lstStyle/>
          <a:p>
            <a:pPr algn="ctr" indent="0" marL="0">
              <a:buNone/>
            </a:pPr>
            <a:r>
              <a:rPr lang="en-US" sz="1550" b="1" dirty="0">
                <a:solidFill>
                  <a:srgbClr val="102A43"/>
                </a:solidFill>
              </a:rPr>
              <a:t>Private DNS</a:t>
            </a:r>
            <a:endParaRPr lang="en-US" sz="1550" dirty="0"/>
          </a:p>
        </p:txBody>
      </p:sp>
      <p:sp>
        <p:nvSpPr>
          <p:cNvPr id="15" name="Shape 13"/>
          <p:cNvSpPr/>
          <p:nvPr/>
        </p:nvSpPr>
        <p:spPr>
          <a:xfrm>
            <a:off x="8046720" y="1188720"/>
            <a:ext cx="2057400" cy="1143000"/>
          </a:xfrm>
          <a:prstGeom prst="roundRect">
            <a:avLst>
              <a:gd name="adj" fmla="val 6400"/>
            </a:avLst>
          </a:prstGeom>
          <a:solidFill>
            <a:srgbClr val="FFFFFF"/>
          </a:solidFill>
          <a:ln w="25400">
            <a:solidFill>
              <a:srgbClr val="DC5A4A"/>
            </a:solidFill>
            <a:prstDash val="solid"/>
          </a:ln>
        </p:spPr>
      </p:sp>
      <p:sp>
        <p:nvSpPr>
          <p:cNvPr id="16" name="Text 14"/>
          <p:cNvSpPr/>
          <p:nvPr/>
        </p:nvSpPr>
        <p:spPr>
          <a:xfrm>
            <a:off x="8211312" y="1581912"/>
            <a:ext cx="1728216" cy="292608"/>
          </a:xfrm>
          <a:prstGeom prst="rect">
            <a:avLst/>
          </a:prstGeom>
          <a:noFill/>
          <a:ln/>
        </p:spPr>
        <p:txBody>
          <a:bodyPr wrap="square" lIns="0" tIns="0" rIns="0" bIns="0" rtlCol="0" anchor="ctr"/>
          <a:lstStyle/>
          <a:p>
            <a:pPr algn="ctr" indent="0" marL="0">
              <a:buNone/>
            </a:pPr>
            <a:r>
              <a:rPr lang="en-US" sz="1550" b="1" dirty="0">
                <a:solidFill>
                  <a:srgbClr val="102A43"/>
                </a:solidFill>
              </a:rPr>
              <a:t>Identity + RBAC</a:t>
            </a:r>
            <a:endParaRPr lang="en-US" sz="1550" dirty="0"/>
          </a:p>
        </p:txBody>
      </p:sp>
      <p:sp>
        <p:nvSpPr>
          <p:cNvPr id="17" name="Shape 15"/>
          <p:cNvSpPr/>
          <p:nvPr/>
        </p:nvSpPr>
        <p:spPr>
          <a:xfrm>
            <a:off x="3200400" y="3246120"/>
            <a:ext cx="2057400" cy="1143000"/>
          </a:xfrm>
          <a:prstGeom prst="roundRect">
            <a:avLst>
              <a:gd name="adj" fmla="val 6400"/>
            </a:avLst>
          </a:prstGeom>
          <a:solidFill>
            <a:srgbClr val="FFFFFF"/>
          </a:solidFill>
          <a:ln w="25400">
            <a:solidFill>
              <a:srgbClr val="008C83"/>
            </a:solidFill>
            <a:prstDash val="solid"/>
          </a:ln>
        </p:spPr>
      </p:sp>
      <p:sp>
        <p:nvSpPr>
          <p:cNvPr id="18" name="Text 16"/>
          <p:cNvSpPr/>
          <p:nvPr/>
        </p:nvSpPr>
        <p:spPr>
          <a:xfrm>
            <a:off x="3364992" y="3639312"/>
            <a:ext cx="1728216" cy="292608"/>
          </a:xfrm>
          <a:prstGeom prst="rect">
            <a:avLst/>
          </a:prstGeom>
          <a:noFill/>
          <a:ln/>
        </p:spPr>
        <p:txBody>
          <a:bodyPr wrap="square" lIns="0" tIns="0" rIns="0" bIns="0" rtlCol="0" anchor="ctr"/>
          <a:lstStyle/>
          <a:p>
            <a:pPr algn="ctr" indent="0" marL="0">
              <a:buNone/>
            </a:pPr>
            <a:r>
              <a:rPr lang="en-US" sz="1550" b="1" dirty="0">
                <a:solidFill>
                  <a:srgbClr val="102A43"/>
                </a:solidFill>
              </a:rPr>
              <a:t>Registry + KV</a:t>
            </a:r>
            <a:endParaRPr lang="en-US" sz="1550" dirty="0"/>
          </a:p>
        </p:txBody>
      </p:sp>
      <p:sp>
        <p:nvSpPr>
          <p:cNvPr id="19" name="Shape 17"/>
          <p:cNvSpPr/>
          <p:nvPr/>
        </p:nvSpPr>
        <p:spPr>
          <a:xfrm>
            <a:off x="5623560" y="3246120"/>
            <a:ext cx="2057400" cy="1143000"/>
          </a:xfrm>
          <a:prstGeom prst="roundRect">
            <a:avLst>
              <a:gd name="adj" fmla="val 6400"/>
            </a:avLst>
          </a:prstGeom>
          <a:solidFill>
            <a:srgbClr val="FFFFFF"/>
          </a:solidFill>
          <a:ln w="25400">
            <a:solidFill>
              <a:srgbClr val="0078D4"/>
            </a:solidFill>
            <a:prstDash val="solid"/>
          </a:ln>
        </p:spPr>
      </p:sp>
      <p:sp>
        <p:nvSpPr>
          <p:cNvPr id="20" name="Text 18"/>
          <p:cNvSpPr/>
          <p:nvPr/>
        </p:nvSpPr>
        <p:spPr>
          <a:xfrm>
            <a:off x="5788152" y="3639312"/>
            <a:ext cx="1728216" cy="292608"/>
          </a:xfrm>
          <a:prstGeom prst="rect">
            <a:avLst/>
          </a:prstGeom>
          <a:noFill/>
          <a:ln/>
        </p:spPr>
        <p:txBody>
          <a:bodyPr wrap="square" lIns="0" tIns="0" rIns="0" bIns="0" rtlCol="0" anchor="ctr"/>
          <a:lstStyle/>
          <a:p>
            <a:pPr algn="ctr" indent="0" marL="0">
              <a:buNone/>
            </a:pPr>
            <a:r>
              <a:rPr lang="en-US" sz="1550" b="1" dirty="0">
                <a:solidFill>
                  <a:srgbClr val="102A43"/>
                </a:solidFill>
              </a:rPr>
              <a:t>Environment + App</a:t>
            </a:r>
            <a:endParaRPr lang="en-US" sz="1550" dirty="0"/>
          </a:p>
        </p:txBody>
      </p:sp>
      <p:sp>
        <p:nvSpPr>
          <p:cNvPr id="21" name="Shape 19"/>
          <p:cNvSpPr/>
          <p:nvPr/>
        </p:nvSpPr>
        <p:spPr>
          <a:xfrm>
            <a:off x="8046720" y="3246120"/>
            <a:ext cx="2057400" cy="1143000"/>
          </a:xfrm>
          <a:prstGeom prst="roundRect">
            <a:avLst>
              <a:gd name="adj" fmla="val 6400"/>
            </a:avLst>
          </a:prstGeom>
          <a:solidFill>
            <a:srgbClr val="FFFFFF"/>
          </a:solidFill>
          <a:ln w="25400">
            <a:solidFill>
              <a:srgbClr val="F59E0B"/>
            </a:solidFill>
            <a:prstDash val="solid"/>
          </a:ln>
        </p:spPr>
      </p:sp>
      <p:sp>
        <p:nvSpPr>
          <p:cNvPr id="22" name="Text 20"/>
          <p:cNvSpPr/>
          <p:nvPr/>
        </p:nvSpPr>
        <p:spPr>
          <a:xfrm>
            <a:off x="8211312" y="3639312"/>
            <a:ext cx="1728216" cy="292608"/>
          </a:xfrm>
          <a:prstGeom prst="rect">
            <a:avLst/>
          </a:prstGeom>
          <a:noFill/>
          <a:ln/>
        </p:spPr>
        <p:txBody>
          <a:bodyPr wrap="square" lIns="0" tIns="0" rIns="0" bIns="0" rtlCol="0" anchor="ctr"/>
          <a:lstStyle/>
          <a:p>
            <a:pPr algn="ctr" indent="0" marL="0">
              <a:buNone/>
            </a:pPr>
            <a:r>
              <a:rPr lang="en-US" sz="1550" b="1" dirty="0">
                <a:solidFill>
                  <a:srgbClr val="102A43"/>
                </a:solidFill>
              </a:rPr>
              <a:t>Auth + Monitoring</a:t>
            </a:r>
            <a:endParaRPr lang="en-US" sz="1550" dirty="0"/>
          </a:p>
        </p:txBody>
      </p:sp>
      <p:sp>
        <p:nvSpPr>
          <p:cNvPr id="23" name="Shape 21"/>
          <p:cNvSpPr/>
          <p:nvPr/>
        </p:nvSpPr>
        <p:spPr>
          <a:xfrm>
            <a:off x="2578608" y="2487168"/>
            <a:ext cx="502920" cy="411480"/>
          </a:xfrm>
          <a:prstGeom prst="rightArrow">
            <a:avLst/>
          </a:prstGeom>
          <a:solidFill>
            <a:srgbClr val="AFC6D6"/>
          </a:solidFill>
          <a:ln w="12700">
            <a:solidFill>
              <a:srgbClr val="AFC6D6"/>
            </a:solidFill>
            <a:prstDash val="solid"/>
          </a:ln>
        </p:spPr>
      </p:sp>
      <p:sp>
        <p:nvSpPr>
          <p:cNvPr id="24" name="Shape 22"/>
          <p:cNvSpPr/>
          <p:nvPr/>
        </p:nvSpPr>
        <p:spPr>
          <a:xfrm>
            <a:off x="3154680" y="4983480"/>
            <a:ext cx="7040880" cy="621792"/>
          </a:xfrm>
          <a:prstGeom prst="roundRect">
            <a:avLst>
              <a:gd name="adj" fmla="val 7353"/>
            </a:avLst>
          </a:prstGeom>
          <a:solidFill>
            <a:srgbClr val="E7F4FC"/>
          </a:solidFill>
          <a:ln w="12700">
            <a:solidFill>
              <a:srgbClr val="B9DAEE"/>
            </a:solidFill>
            <a:prstDash val="solid"/>
          </a:ln>
        </p:spPr>
      </p:sp>
      <p:sp>
        <p:nvSpPr>
          <p:cNvPr id="25" name="Text 23"/>
          <p:cNvSpPr/>
          <p:nvPr/>
        </p:nvSpPr>
        <p:spPr>
          <a:xfrm>
            <a:off x="3401568" y="5175504"/>
            <a:ext cx="6537960" cy="219456"/>
          </a:xfrm>
          <a:prstGeom prst="rect">
            <a:avLst/>
          </a:prstGeom>
          <a:noFill/>
          <a:ln/>
        </p:spPr>
        <p:txBody>
          <a:bodyPr wrap="square" lIns="0" tIns="0" rIns="0" bIns="0" rtlCol="0" anchor="ctr"/>
          <a:lstStyle/>
          <a:p>
            <a:pPr algn="ctr" indent="0" marL="0">
              <a:buNone/>
            </a:pPr>
            <a:r>
              <a:rPr lang="en-US" sz="1320" b="1" dirty="0">
                <a:solidFill>
                  <a:srgbClr val="163B59"/>
                </a:solidFill>
              </a:rPr>
              <a:t>Environment-aware names • dev/prod scale • private endpoints • secure outputs • alert wiring</a:t>
            </a:r>
            <a:endParaRPr lang="en-US" sz="13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7FA"/>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78D4"/>
          </a:solidFill>
          <a:ln w="12700">
            <a:solidFill>
              <a:srgbClr val="0078D4"/>
            </a:solidFill>
            <a:prstDash val="solid"/>
          </a:ln>
        </p:spPr>
      </p:sp>
      <p:sp>
        <p:nvSpPr>
          <p:cNvPr id="3" name="Text 1"/>
          <p:cNvSpPr/>
          <p:nvPr/>
        </p:nvSpPr>
        <p:spPr>
          <a:xfrm>
            <a:off x="502920" y="6455664"/>
            <a:ext cx="4389120" cy="164592"/>
          </a:xfrm>
          <a:prstGeom prst="rect">
            <a:avLst/>
          </a:prstGeom>
          <a:noFill/>
          <a:ln/>
        </p:spPr>
        <p:txBody>
          <a:bodyPr wrap="square" lIns="0" tIns="0" rIns="0" bIns="0" rtlCol="0" anchor="ctr"/>
          <a:lstStyle/>
          <a:p>
            <a:pPr indent="0" marL="0">
              <a:buNone/>
            </a:pPr>
            <a:r>
              <a:rPr lang="en-US" sz="850" spc="100" kern="0" dirty="0">
                <a:solidFill>
                  <a:srgbClr val="778897"/>
                </a:solidFill>
              </a:rPr>
              <a:t>CLOUD WORKLOAD PROTECTION READINESS ANALYZER</a:t>
            </a:r>
            <a:endParaRPr lang="en-US" sz="850" dirty="0"/>
          </a:p>
        </p:txBody>
      </p:sp>
      <p:sp>
        <p:nvSpPr>
          <p:cNvPr id="4" name="Text 2"/>
          <p:cNvSpPr/>
          <p:nvPr/>
        </p:nvSpPr>
        <p:spPr>
          <a:xfrm>
            <a:off x="8503920" y="6455664"/>
            <a:ext cx="2743200" cy="164592"/>
          </a:xfrm>
          <a:prstGeom prst="rect">
            <a:avLst/>
          </a:prstGeom>
          <a:noFill/>
          <a:ln/>
        </p:spPr>
        <p:txBody>
          <a:bodyPr wrap="square" lIns="0" tIns="0" rIns="0" bIns="0" rtlCol="0" anchor="ctr"/>
          <a:lstStyle/>
          <a:p>
            <a:pPr algn="r" indent="0" marL="0">
              <a:buNone/>
            </a:pPr>
            <a:r>
              <a:rPr lang="en-US" sz="850" dirty="0">
                <a:solidFill>
                  <a:srgbClr val="778897"/>
                </a:solidFill>
              </a:rPr>
              <a:t>PRODUCTION IMPLEMENTATION</a:t>
            </a:r>
            <a:endParaRPr lang="en-US" sz="850" dirty="0"/>
          </a:p>
        </p:txBody>
      </p:sp>
      <p:sp>
        <p:nvSpPr>
          <p:cNvPr id="5" name="Text 3"/>
          <p:cNvSpPr/>
          <p:nvPr/>
        </p:nvSpPr>
        <p:spPr>
          <a:xfrm>
            <a:off x="11475720" y="6437376"/>
            <a:ext cx="228600" cy="164592"/>
          </a:xfrm>
          <a:prstGeom prst="rect">
            <a:avLst/>
          </a:prstGeom>
          <a:noFill/>
          <a:ln/>
        </p:spPr>
        <p:txBody>
          <a:bodyPr wrap="square" lIns="0" tIns="0" rIns="0" bIns="0" rtlCol="0" anchor="ctr"/>
          <a:lstStyle/>
          <a:p>
            <a:pPr algn="r" indent="0" marL="0">
              <a:buNone/>
            </a:pPr>
            <a:r>
              <a:rPr lang="en-US" sz="850" dirty="0">
                <a:solidFill>
                  <a:srgbClr val="778897"/>
                </a:solidFill>
              </a:rPr>
              <a:t>9</a:t>
            </a:r>
            <a:endParaRPr lang="en-US" sz="850" dirty="0"/>
          </a:p>
        </p:txBody>
      </p:sp>
      <p:sp>
        <p:nvSpPr>
          <p:cNvPr id="6" name="Text 4"/>
          <p:cNvSpPr/>
          <p:nvPr/>
        </p:nvSpPr>
        <p:spPr>
          <a:xfrm>
            <a:off x="548640" y="310896"/>
            <a:ext cx="5029200" cy="219456"/>
          </a:xfrm>
          <a:prstGeom prst="rect">
            <a:avLst/>
          </a:prstGeom>
          <a:noFill/>
          <a:ln/>
        </p:spPr>
        <p:txBody>
          <a:bodyPr wrap="square" lIns="0" tIns="0" rIns="0" bIns="0" rtlCol="0" anchor="ctr"/>
          <a:lstStyle/>
          <a:p>
            <a:pPr indent="0" marL="0">
              <a:buNone/>
            </a:pPr>
            <a:r>
              <a:rPr lang="en-US" sz="1050" b="1" spc="160" kern="0" dirty="0">
                <a:solidFill>
                  <a:srgbClr val="0078D4"/>
                </a:solidFill>
              </a:rPr>
              <a:t>DELIVERY AND SUPPLY CHAIN</a:t>
            </a:r>
            <a:endParaRPr lang="en-US" sz="1050" dirty="0"/>
          </a:p>
        </p:txBody>
      </p:sp>
      <p:sp>
        <p:nvSpPr>
          <p:cNvPr id="7" name="Text 5"/>
          <p:cNvSpPr/>
          <p:nvPr/>
        </p:nvSpPr>
        <p:spPr>
          <a:xfrm>
            <a:off x="548640" y="640080"/>
            <a:ext cx="11018520" cy="484632"/>
          </a:xfrm>
          <a:prstGeom prst="rect">
            <a:avLst/>
          </a:prstGeom>
          <a:noFill/>
          <a:ln/>
        </p:spPr>
        <p:txBody>
          <a:bodyPr wrap="square" lIns="0" tIns="0" rIns="0" bIns="0" rtlCol="0" anchor="ctr"/>
          <a:lstStyle/>
          <a:p>
            <a:pPr indent="0" marL="0">
              <a:buNone/>
            </a:pPr>
            <a:r>
              <a:rPr lang="en-US" sz="2900" b="1" dirty="0">
                <a:solidFill>
                  <a:srgbClr val="102A43"/>
                </a:solidFill>
              </a:rPr>
              <a:t>Every change moves through reproducible quality and security gates</a:t>
            </a:r>
            <a:endParaRPr lang="en-US" sz="2900" dirty="0"/>
          </a:p>
        </p:txBody>
      </p:sp>
      <p:sp>
        <p:nvSpPr>
          <p:cNvPr id="8" name="Shape 6"/>
          <p:cNvSpPr/>
          <p:nvPr/>
        </p:nvSpPr>
        <p:spPr>
          <a:xfrm>
            <a:off x="438912" y="2011680"/>
            <a:ext cx="1627632" cy="2514600"/>
          </a:xfrm>
          <a:prstGeom prst="roundRect">
            <a:avLst>
              <a:gd name="adj" fmla="val 4494"/>
            </a:avLst>
          </a:prstGeom>
          <a:solidFill>
            <a:srgbClr val="FFFFFF"/>
          </a:solidFill>
          <a:ln w="19050">
            <a:solidFill>
              <a:srgbClr val="0078D4"/>
            </a:solidFill>
            <a:prstDash val="solid"/>
          </a:ln>
        </p:spPr>
      </p:sp>
      <p:sp>
        <p:nvSpPr>
          <p:cNvPr id="9" name="Shape 7"/>
          <p:cNvSpPr/>
          <p:nvPr/>
        </p:nvSpPr>
        <p:spPr>
          <a:xfrm>
            <a:off x="960120" y="2322576"/>
            <a:ext cx="585216" cy="585216"/>
          </a:xfrm>
          <a:prstGeom prst="ellipse">
            <a:avLst/>
          </a:prstGeom>
          <a:solidFill>
            <a:srgbClr val="0078D4"/>
          </a:solidFill>
          <a:ln w="12700">
            <a:solidFill>
              <a:srgbClr val="0078D4"/>
            </a:solidFill>
            <a:prstDash val="solid"/>
          </a:ln>
        </p:spPr>
      </p:sp>
      <p:sp>
        <p:nvSpPr>
          <p:cNvPr id="10" name="Text 8"/>
          <p:cNvSpPr/>
          <p:nvPr/>
        </p:nvSpPr>
        <p:spPr>
          <a:xfrm>
            <a:off x="960120" y="2487168"/>
            <a:ext cx="585216" cy="18288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11" name="Text 9"/>
          <p:cNvSpPr/>
          <p:nvPr/>
        </p:nvSpPr>
        <p:spPr>
          <a:xfrm>
            <a:off x="566928" y="3182112"/>
            <a:ext cx="1371600" cy="310896"/>
          </a:xfrm>
          <a:prstGeom prst="rect">
            <a:avLst/>
          </a:prstGeom>
          <a:noFill/>
          <a:ln/>
        </p:spPr>
        <p:txBody>
          <a:bodyPr wrap="square" lIns="0" tIns="0" rIns="0" bIns="0" rtlCol="0" anchor="ctr"/>
          <a:lstStyle/>
          <a:p>
            <a:pPr algn="ctr" indent="0" marL="0">
              <a:buNone/>
            </a:pPr>
            <a:r>
              <a:rPr lang="en-US" sz="1700" b="1" dirty="0">
                <a:solidFill>
                  <a:srgbClr val="102A43"/>
                </a:solidFill>
              </a:rPr>
              <a:t>Code</a:t>
            </a:r>
            <a:endParaRPr lang="en-US" sz="1700" dirty="0"/>
          </a:p>
        </p:txBody>
      </p:sp>
      <p:sp>
        <p:nvSpPr>
          <p:cNvPr id="12" name="Text 10"/>
          <p:cNvSpPr/>
          <p:nvPr/>
        </p:nvSpPr>
        <p:spPr>
          <a:xfrm>
            <a:off x="566928" y="3703320"/>
            <a:ext cx="1371600" cy="548640"/>
          </a:xfrm>
          <a:prstGeom prst="rect">
            <a:avLst/>
          </a:prstGeom>
          <a:noFill/>
          <a:ln/>
        </p:spPr>
        <p:txBody>
          <a:bodyPr wrap="square" lIns="0" tIns="0" rIns="0" bIns="0" rtlCol="0" anchor="ctr"/>
          <a:lstStyle/>
          <a:p>
            <a:pPr algn="ctr" indent="0" marL="0">
              <a:buNone/>
            </a:pPr>
            <a:r>
              <a:rPr lang="en-US" sz="1250" dirty="0">
                <a:solidFill>
                  <a:srgbClr val="5D6B78"/>
                </a:solidFill>
              </a:rPr>
              <a:t>npm ci</a:t>
            </a:r>
            <a:endParaRPr lang="en-US" sz="1250" dirty="0"/>
          </a:p>
          <a:p>
            <a:pPr algn="ctr" indent="0" marL="0">
              <a:buNone/>
            </a:pPr>
            <a:r>
              <a:rPr lang="en-US" sz="1250" dirty="0">
                <a:solidFill>
                  <a:srgbClr val="5D6B78"/>
                </a:solidFill>
              </a:rPr>
              <a:t>lint + typecheck</a:t>
            </a:r>
            <a:endParaRPr lang="en-US" sz="1250" dirty="0"/>
          </a:p>
        </p:txBody>
      </p:sp>
      <p:sp>
        <p:nvSpPr>
          <p:cNvPr id="13" name="Shape 11"/>
          <p:cNvSpPr/>
          <p:nvPr/>
        </p:nvSpPr>
        <p:spPr>
          <a:xfrm>
            <a:off x="2075688" y="3035808"/>
            <a:ext cx="256032" cy="438912"/>
          </a:xfrm>
          <a:prstGeom prst="chevron">
            <a:avLst/>
          </a:prstGeom>
          <a:solidFill>
            <a:srgbClr val="AFC6D6"/>
          </a:solidFill>
          <a:ln w="12700">
            <a:solidFill>
              <a:srgbClr val="AFC6D6"/>
            </a:solidFill>
            <a:prstDash val="solid"/>
          </a:ln>
        </p:spPr>
      </p:sp>
      <p:sp>
        <p:nvSpPr>
          <p:cNvPr id="14" name="Shape 12"/>
          <p:cNvSpPr/>
          <p:nvPr/>
        </p:nvSpPr>
        <p:spPr>
          <a:xfrm>
            <a:off x="2377440" y="2011680"/>
            <a:ext cx="1627632" cy="2514600"/>
          </a:xfrm>
          <a:prstGeom prst="roundRect">
            <a:avLst>
              <a:gd name="adj" fmla="val 4494"/>
            </a:avLst>
          </a:prstGeom>
          <a:solidFill>
            <a:srgbClr val="FFFFFF"/>
          </a:solidFill>
          <a:ln w="19050">
            <a:solidFill>
              <a:srgbClr val="008C83"/>
            </a:solidFill>
            <a:prstDash val="solid"/>
          </a:ln>
        </p:spPr>
      </p:sp>
      <p:sp>
        <p:nvSpPr>
          <p:cNvPr id="15" name="Shape 13"/>
          <p:cNvSpPr/>
          <p:nvPr/>
        </p:nvSpPr>
        <p:spPr>
          <a:xfrm>
            <a:off x="2898648" y="2322576"/>
            <a:ext cx="585216" cy="585216"/>
          </a:xfrm>
          <a:prstGeom prst="ellipse">
            <a:avLst/>
          </a:prstGeom>
          <a:solidFill>
            <a:srgbClr val="008C83"/>
          </a:solidFill>
          <a:ln w="12700">
            <a:solidFill>
              <a:srgbClr val="008C83"/>
            </a:solidFill>
            <a:prstDash val="solid"/>
          </a:ln>
        </p:spPr>
      </p:sp>
      <p:sp>
        <p:nvSpPr>
          <p:cNvPr id="16" name="Text 14"/>
          <p:cNvSpPr/>
          <p:nvPr/>
        </p:nvSpPr>
        <p:spPr>
          <a:xfrm>
            <a:off x="2898648" y="2487168"/>
            <a:ext cx="585216" cy="18288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7" name="Text 15"/>
          <p:cNvSpPr/>
          <p:nvPr/>
        </p:nvSpPr>
        <p:spPr>
          <a:xfrm>
            <a:off x="2505456" y="3182112"/>
            <a:ext cx="1371600" cy="310896"/>
          </a:xfrm>
          <a:prstGeom prst="rect">
            <a:avLst/>
          </a:prstGeom>
          <a:noFill/>
          <a:ln/>
        </p:spPr>
        <p:txBody>
          <a:bodyPr wrap="square" lIns="0" tIns="0" rIns="0" bIns="0" rtlCol="0" anchor="ctr"/>
          <a:lstStyle/>
          <a:p>
            <a:pPr algn="ctr" indent="0" marL="0">
              <a:buNone/>
            </a:pPr>
            <a:r>
              <a:rPr lang="en-US" sz="1700" b="1" dirty="0">
                <a:solidFill>
                  <a:srgbClr val="102A43"/>
                </a:solidFill>
              </a:rPr>
              <a:t>Test</a:t>
            </a:r>
            <a:endParaRPr lang="en-US" sz="1700" dirty="0"/>
          </a:p>
        </p:txBody>
      </p:sp>
      <p:sp>
        <p:nvSpPr>
          <p:cNvPr id="18" name="Text 16"/>
          <p:cNvSpPr/>
          <p:nvPr/>
        </p:nvSpPr>
        <p:spPr>
          <a:xfrm>
            <a:off x="2505456" y="3703320"/>
            <a:ext cx="1371600" cy="548640"/>
          </a:xfrm>
          <a:prstGeom prst="rect">
            <a:avLst/>
          </a:prstGeom>
          <a:noFill/>
          <a:ln/>
        </p:spPr>
        <p:txBody>
          <a:bodyPr wrap="square" lIns="0" tIns="0" rIns="0" bIns="0" rtlCol="0" anchor="ctr"/>
          <a:lstStyle/>
          <a:p>
            <a:pPr algn="ctr" indent="0" marL="0">
              <a:buNone/>
            </a:pPr>
            <a:r>
              <a:rPr lang="en-US" sz="1250" dirty="0">
                <a:solidFill>
                  <a:srgbClr val="5D6B78"/>
                </a:solidFill>
              </a:rPr>
              <a:t>unit + API</a:t>
            </a:r>
            <a:endParaRPr lang="en-US" sz="1250" dirty="0"/>
          </a:p>
          <a:p>
            <a:pPr algn="ctr" indent="0" marL="0">
              <a:buNone/>
            </a:pPr>
            <a:r>
              <a:rPr lang="en-US" sz="1250" dirty="0">
                <a:solidFill>
                  <a:srgbClr val="5D6B78"/>
                </a:solidFill>
              </a:rPr>
              <a:t>infra + browser</a:t>
            </a:r>
            <a:endParaRPr lang="en-US" sz="1250" dirty="0"/>
          </a:p>
        </p:txBody>
      </p:sp>
      <p:sp>
        <p:nvSpPr>
          <p:cNvPr id="19" name="Shape 17"/>
          <p:cNvSpPr/>
          <p:nvPr/>
        </p:nvSpPr>
        <p:spPr>
          <a:xfrm>
            <a:off x="4014216" y="3035808"/>
            <a:ext cx="256032" cy="438912"/>
          </a:xfrm>
          <a:prstGeom prst="chevron">
            <a:avLst/>
          </a:prstGeom>
          <a:solidFill>
            <a:srgbClr val="AFC6D6"/>
          </a:solidFill>
          <a:ln w="12700">
            <a:solidFill>
              <a:srgbClr val="AFC6D6"/>
            </a:solidFill>
            <a:prstDash val="solid"/>
          </a:ln>
        </p:spPr>
      </p:sp>
      <p:sp>
        <p:nvSpPr>
          <p:cNvPr id="20" name="Shape 18"/>
          <p:cNvSpPr/>
          <p:nvPr/>
        </p:nvSpPr>
        <p:spPr>
          <a:xfrm>
            <a:off x="4315968" y="2011680"/>
            <a:ext cx="1627632" cy="2514600"/>
          </a:xfrm>
          <a:prstGeom prst="roundRect">
            <a:avLst>
              <a:gd name="adj" fmla="val 4494"/>
            </a:avLst>
          </a:prstGeom>
          <a:solidFill>
            <a:srgbClr val="FFFFFF"/>
          </a:solidFill>
          <a:ln w="19050">
            <a:solidFill>
              <a:srgbClr val="163B59"/>
            </a:solidFill>
            <a:prstDash val="solid"/>
          </a:ln>
        </p:spPr>
      </p:sp>
      <p:sp>
        <p:nvSpPr>
          <p:cNvPr id="21" name="Shape 19"/>
          <p:cNvSpPr/>
          <p:nvPr/>
        </p:nvSpPr>
        <p:spPr>
          <a:xfrm>
            <a:off x="4837176" y="2322576"/>
            <a:ext cx="585216" cy="585216"/>
          </a:xfrm>
          <a:prstGeom prst="ellipse">
            <a:avLst/>
          </a:prstGeom>
          <a:solidFill>
            <a:srgbClr val="163B59"/>
          </a:solidFill>
          <a:ln w="12700">
            <a:solidFill>
              <a:srgbClr val="163B59"/>
            </a:solidFill>
            <a:prstDash val="solid"/>
          </a:ln>
        </p:spPr>
      </p:sp>
      <p:sp>
        <p:nvSpPr>
          <p:cNvPr id="22" name="Text 20"/>
          <p:cNvSpPr/>
          <p:nvPr/>
        </p:nvSpPr>
        <p:spPr>
          <a:xfrm>
            <a:off x="4837176" y="2487168"/>
            <a:ext cx="585216" cy="18288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23" name="Text 21"/>
          <p:cNvSpPr/>
          <p:nvPr/>
        </p:nvSpPr>
        <p:spPr>
          <a:xfrm>
            <a:off x="4443984" y="3182112"/>
            <a:ext cx="1371600" cy="310896"/>
          </a:xfrm>
          <a:prstGeom prst="rect">
            <a:avLst/>
          </a:prstGeom>
          <a:noFill/>
          <a:ln/>
        </p:spPr>
        <p:txBody>
          <a:bodyPr wrap="square" lIns="0" tIns="0" rIns="0" bIns="0" rtlCol="0" anchor="ctr"/>
          <a:lstStyle/>
          <a:p>
            <a:pPr algn="ctr" indent="0" marL="0">
              <a:buNone/>
            </a:pPr>
            <a:r>
              <a:rPr lang="en-US" sz="1700" b="1" dirty="0">
                <a:solidFill>
                  <a:srgbClr val="102A43"/>
                </a:solidFill>
              </a:rPr>
              <a:t>IaC</a:t>
            </a:r>
            <a:endParaRPr lang="en-US" sz="1700" dirty="0"/>
          </a:p>
        </p:txBody>
      </p:sp>
      <p:sp>
        <p:nvSpPr>
          <p:cNvPr id="24" name="Text 22"/>
          <p:cNvSpPr/>
          <p:nvPr/>
        </p:nvSpPr>
        <p:spPr>
          <a:xfrm>
            <a:off x="4443984" y="3703320"/>
            <a:ext cx="1371600" cy="548640"/>
          </a:xfrm>
          <a:prstGeom prst="rect">
            <a:avLst/>
          </a:prstGeom>
          <a:noFill/>
          <a:ln/>
        </p:spPr>
        <p:txBody>
          <a:bodyPr wrap="square" lIns="0" tIns="0" rIns="0" bIns="0" rtlCol="0" anchor="ctr"/>
          <a:lstStyle/>
          <a:p>
            <a:pPr algn="ctr" indent="0" marL="0">
              <a:buNone/>
            </a:pPr>
            <a:r>
              <a:rPr lang="en-US" sz="1250" dirty="0">
                <a:solidFill>
                  <a:srgbClr val="5D6B78"/>
                </a:solidFill>
              </a:rPr>
              <a:t>Bicep compile</a:t>
            </a:r>
            <a:endParaRPr lang="en-US" sz="1250" dirty="0"/>
          </a:p>
          <a:p>
            <a:pPr algn="ctr" indent="0" marL="0">
              <a:buNone/>
            </a:pPr>
            <a:r>
              <a:rPr lang="en-US" sz="1250" dirty="0">
                <a:solidFill>
                  <a:srgbClr val="5D6B78"/>
                </a:solidFill>
              </a:rPr>
              <a:t>lint + format</a:t>
            </a:r>
            <a:endParaRPr lang="en-US" sz="1250" dirty="0"/>
          </a:p>
        </p:txBody>
      </p:sp>
      <p:sp>
        <p:nvSpPr>
          <p:cNvPr id="25" name="Shape 23"/>
          <p:cNvSpPr/>
          <p:nvPr/>
        </p:nvSpPr>
        <p:spPr>
          <a:xfrm>
            <a:off x="5952744" y="3035808"/>
            <a:ext cx="256032" cy="438912"/>
          </a:xfrm>
          <a:prstGeom prst="chevron">
            <a:avLst/>
          </a:prstGeom>
          <a:solidFill>
            <a:srgbClr val="AFC6D6"/>
          </a:solidFill>
          <a:ln w="12700">
            <a:solidFill>
              <a:srgbClr val="AFC6D6"/>
            </a:solidFill>
            <a:prstDash val="solid"/>
          </a:ln>
        </p:spPr>
      </p:sp>
      <p:sp>
        <p:nvSpPr>
          <p:cNvPr id="26" name="Shape 24"/>
          <p:cNvSpPr/>
          <p:nvPr/>
        </p:nvSpPr>
        <p:spPr>
          <a:xfrm>
            <a:off x="6254496" y="2011680"/>
            <a:ext cx="1627632" cy="2514600"/>
          </a:xfrm>
          <a:prstGeom prst="roundRect">
            <a:avLst>
              <a:gd name="adj" fmla="val 4494"/>
            </a:avLst>
          </a:prstGeom>
          <a:solidFill>
            <a:srgbClr val="FFFFFF"/>
          </a:solidFill>
          <a:ln w="19050">
            <a:solidFill>
              <a:srgbClr val="DC5A4A"/>
            </a:solidFill>
            <a:prstDash val="solid"/>
          </a:ln>
        </p:spPr>
      </p:sp>
      <p:sp>
        <p:nvSpPr>
          <p:cNvPr id="27" name="Shape 25"/>
          <p:cNvSpPr/>
          <p:nvPr/>
        </p:nvSpPr>
        <p:spPr>
          <a:xfrm>
            <a:off x="6775704" y="2322576"/>
            <a:ext cx="585216" cy="585216"/>
          </a:xfrm>
          <a:prstGeom prst="ellipse">
            <a:avLst/>
          </a:prstGeom>
          <a:solidFill>
            <a:srgbClr val="DC5A4A"/>
          </a:solidFill>
          <a:ln w="12700">
            <a:solidFill>
              <a:srgbClr val="DC5A4A"/>
            </a:solidFill>
            <a:prstDash val="solid"/>
          </a:ln>
        </p:spPr>
      </p:sp>
      <p:sp>
        <p:nvSpPr>
          <p:cNvPr id="28" name="Text 26"/>
          <p:cNvSpPr/>
          <p:nvPr/>
        </p:nvSpPr>
        <p:spPr>
          <a:xfrm>
            <a:off x="6775704" y="2487168"/>
            <a:ext cx="585216" cy="18288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29" name="Text 27"/>
          <p:cNvSpPr/>
          <p:nvPr/>
        </p:nvSpPr>
        <p:spPr>
          <a:xfrm>
            <a:off x="6382512" y="3182112"/>
            <a:ext cx="1371600" cy="310896"/>
          </a:xfrm>
          <a:prstGeom prst="rect">
            <a:avLst/>
          </a:prstGeom>
          <a:noFill/>
          <a:ln/>
        </p:spPr>
        <p:txBody>
          <a:bodyPr wrap="square" lIns="0" tIns="0" rIns="0" bIns="0" rtlCol="0" anchor="ctr"/>
          <a:lstStyle/>
          <a:p>
            <a:pPr algn="ctr" indent="0" marL="0">
              <a:buNone/>
            </a:pPr>
            <a:r>
              <a:rPr lang="en-US" sz="1700" b="1" dirty="0">
                <a:solidFill>
                  <a:srgbClr val="102A43"/>
                </a:solidFill>
              </a:rPr>
              <a:t>Image</a:t>
            </a:r>
            <a:endParaRPr lang="en-US" sz="1700" dirty="0"/>
          </a:p>
        </p:txBody>
      </p:sp>
      <p:sp>
        <p:nvSpPr>
          <p:cNvPr id="30" name="Text 28"/>
          <p:cNvSpPr/>
          <p:nvPr/>
        </p:nvSpPr>
        <p:spPr>
          <a:xfrm>
            <a:off x="6382512" y="3703320"/>
            <a:ext cx="1371600" cy="548640"/>
          </a:xfrm>
          <a:prstGeom prst="rect">
            <a:avLst/>
          </a:prstGeom>
          <a:noFill/>
          <a:ln/>
        </p:spPr>
        <p:txBody>
          <a:bodyPr wrap="square" lIns="0" tIns="0" rIns="0" bIns="0" rtlCol="0" anchor="ctr"/>
          <a:lstStyle/>
          <a:p>
            <a:pPr algn="ctr" indent="0" marL="0">
              <a:buNone/>
            </a:pPr>
            <a:r>
              <a:rPr lang="en-US" sz="1250" dirty="0">
                <a:solidFill>
                  <a:srgbClr val="5D6B78"/>
                </a:solidFill>
              </a:rPr>
              <a:t>Docker build</a:t>
            </a:r>
            <a:endParaRPr lang="en-US" sz="1250" dirty="0"/>
          </a:p>
          <a:p>
            <a:pPr algn="ctr" indent="0" marL="0">
              <a:buNone/>
            </a:pPr>
            <a:r>
              <a:rPr lang="en-US" sz="1250" dirty="0">
                <a:solidFill>
                  <a:srgbClr val="5D6B78"/>
                </a:solidFill>
              </a:rPr>
              <a:t>Trivy + SBOM</a:t>
            </a:r>
            <a:endParaRPr lang="en-US" sz="1250" dirty="0"/>
          </a:p>
        </p:txBody>
      </p:sp>
      <p:sp>
        <p:nvSpPr>
          <p:cNvPr id="31" name="Shape 29"/>
          <p:cNvSpPr/>
          <p:nvPr/>
        </p:nvSpPr>
        <p:spPr>
          <a:xfrm>
            <a:off x="7891272" y="3035808"/>
            <a:ext cx="256032" cy="438912"/>
          </a:xfrm>
          <a:prstGeom prst="chevron">
            <a:avLst/>
          </a:prstGeom>
          <a:solidFill>
            <a:srgbClr val="AFC6D6"/>
          </a:solidFill>
          <a:ln w="12700">
            <a:solidFill>
              <a:srgbClr val="AFC6D6"/>
            </a:solidFill>
            <a:prstDash val="solid"/>
          </a:ln>
        </p:spPr>
      </p:sp>
      <p:sp>
        <p:nvSpPr>
          <p:cNvPr id="32" name="Shape 30"/>
          <p:cNvSpPr/>
          <p:nvPr/>
        </p:nvSpPr>
        <p:spPr>
          <a:xfrm>
            <a:off x="8193024" y="2011680"/>
            <a:ext cx="1627632" cy="2514600"/>
          </a:xfrm>
          <a:prstGeom prst="roundRect">
            <a:avLst>
              <a:gd name="adj" fmla="val 4494"/>
            </a:avLst>
          </a:prstGeom>
          <a:solidFill>
            <a:srgbClr val="FFFFFF"/>
          </a:solidFill>
          <a:ln w="19050">
            <a:solidFill>
              <a:srgbClr val="F59E0B"/>
            </a:solidFill>
            <a:prstDash val="solid"/>
          </a:ln>
        </p:spPr>
      </p:sp>
      <p:sp>
        <p:nvSpPr>
          <p:cNvPr id="33" name="Shape 31"/>
          <p:cNvSpPr/>
          <p:nvPr/>
        </p:nvSpPr>
        <p:spPr>
          <a:xfrm>
            <a:off x="8714232" y="2322576"/>
            <a:ext cx="585216" cy="585216"/>
          </a:xfrm>
          <a:prstGeom prst="ellipse">
            <a:avLst/>
          </a:prstGeom>
          <a:solidFill>
            <a:srgbClr val="F59E0B"/>
          </a:solidFill>
          <a:ln w="12700">
            <a:solidFill>
              <a:srgbClr val="F59E0B"/>
            </a:solidFill>
            <a:prstDash val="solid"/>
          </a:ln>
        </p:spPr>
      </p:sp>
      <p:sp>
        <p:nvSpPr>
          <p:cNvPr id="34" name="Text 32"/>
          <p:cNvSpPr/>
          <p:nvPr/>
        </p:nvSpPr>
        <p:spPr>
          <a:xfrm>
            <a:off x="8714232" y="2487168"/>
            <a:ext cx="585216" cy="182880"/>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35" name="Text 33"/>
          <p:cNvSpPr/>
          <p:nvPr/>
        </p:nvSpPr>
        <p:spPr>
          <a:xfrm>
            <a:off x="8321040" y="3182112"/>
            <a:ext cx="1371600" cy="310896"/>
          </a:xfrm>
          <a:prstGeom prst="rect">
            <a:avLst/>
          </a:prstGeom>
          <a:noFill/>
          <a:ln/>
        </p:spPr>
        <p:txBody>
          <a:bodyPr wrap="square" lIns="0" tIns="0" rIns="0" bIns="0" rtlCol="0" anchor="ctr"/>
          <a:lstStyle/>
          <a:p>
            <a:pPr algn="ctr" indent="0" marL="0">
              <a:buNone/>
            </a:pPr>
            <a:r>
              <a:rPr lang="en-US" sz="1700" b="1" dirty="0">
                <a:solidFill>
                  <a:srgbClr val="102A43"/>
                </a:solidFill>
              </a:rPr>
              <a:t>Preview</a:t>
            </a:r>
            <a:endParaRPr lang="en-US" sz="1700" dirty="0"/>
          </a:p>
        </p:txBody>
      </p:sp>
      <p:sp>
        <p:nvSpPr>
          <p:cNvPr id="36" name="Text 34"/>
          <p:cNvSpPr/>
          <p:nvPr/>
        </p:nvSpPr>
        <p:spPr>
          <a:xfrm>
            <a:off x="8321040" y="3703320"/>
            <a:ext cx="1371600" cy="548640"/>
          </a:xfrm>
          <a:prstGeom prst="rect">
            <a:avLst/>
          </a:prstGeom>
          <a:noFill/>
          <a:ln/>
        </p:spPr>
        <p:txBody>
          <a:bodyPr wrap="square" lIns="0" tIns="0" rIns="0" bIns="0" rtlCol="0" anchor="ctr"/>
          <a:lstStyle/>
          <a:p>
            <a:pPr algn="ctr" indent="0" marL="0">
              <a:buNone/>
            </a:pPr>
            <a:r>
              <a:rPr lang="en-US" sz="1250" dirty="0">
                <a:solidFill>
                  <a:srgbClr val="5D6B78"/>
                </a:solidFill>
              </a:rPr>
              <a:t>Azure what-if</a:t>
            </a:r>
            <a:endParaRPr lang="en-US" sz="1250" dirty="0"/>
          </a:p>
          <a:p>
            <a:pPr algn="ctr" indent="0" marL="0">
              <a:buNone/>
            </a:pPr>
            <a:r>
              <a:rPr lang="en-US" sz="1250" dirty="0">
                <a:solidFill>
                  <a:srgbClr val="5D6B78"/>
                </a:solidFill>
              </a:rPr>
              <a:t>GitHub OIDC</a:t>
            </a:r>
            <a:endParaRPr lang="en-US" sz="1250" dirty="0"/>
          </a:p>
        </p:txBody>
      </p:sp>
      <p:sp>
        <p:nvSpPr>
          <p:cNvPr id="37" name="Shape 35"/>
          <p:cNvSpPr/>
          <p:nvPr/>
        </p:nvSpPr>
        <p:spPr>
          <a:xfrm>
            <a:off x="9829800" y="3035808"/>
            <a:ext cx="256032" cy="438912"/>
          </a:xfrm>
          <a:prstGeom prst="chevron">
            <a:avLst/>
          </a:prstGeom>
          <a:solidFill>
            <a:srgbClr val="AFC6D6"/>
          </a:solidFill>
          <a:ln w="12700">
            <a:solidFill>
              <a:srgbClr val="AFC6D6"/>
            </a:solidFill>
            <a:prstDash val="solid"/>
          </a:ln>
        </p:spPr>
      </p:sp>
      <p:sp>
        <p:nvSpPr>
          <p:cNvPr id="38" name="Shape 36"/>
          <p:cNvSpPr/>
          <p:nvPr/>
        </p:nvSpPr>
        <p:spPr>
          <a:xfrm>
            <a:off x="10131552" y="2011680"/>
            <a:ext cx="1627632" cy="2514600"/>
          </a:xfrm>
          <a:prstGeom prst="roundRect">
            <a:avLst>
              <a:gd name="adj" fmla="val 4494"/>
            </a:avLst>
          </a:prstGeom>
          <a:solidFill>
            <a:srgbClr val="FFFFFF"/>
          </a:solidFill>
          <a:ln w="19050">
            <a:solidFill>
              <a:srgbClr val="21B573"/>
            </a:solidFill>
            <a:prstDash val="solid"/>
          </a:ln>
        </p:spPr>
      </p:sp>
      <p:sp>
        <p:nvSpPr>
          <p:cNvPr id="39" name="Shape 37"/>
          <p:cNvSpPr/>
          <p:nvPr/>
        </p:nvSpPr>
        <p:spPr>
          <a:xfrm>
            <a:off x="10652760" y="2322576"/>
            <a:ext cx="585216" cy="585216"/>
          </a:xfrm>
          <a:prstGeom prst="ellipse">
            <a:avLst/>
          </a:prstGeom>
          <a:solidFill>
            <a:srgbClr val="21B573"/>
          </a:solidFill>
          <a:ln w="12700">
            <a:solidFill>
              <a:srgbClr val="21B573"/>
            </a:solidFill>
            <a:prstDash val="solid"/>
          </a:ln>
        </p:spPr>
      </p:sp>
      <p:sp>
        <p:nvSpPr>
          <p:cNvPr id="40" name="Text 38"/>
          <p:cNvSpPr/>
          <p:nvPr/>
        </p:nvSpPr>
        <p:spPr>
          <a:xfrm>
            <a:off x="10652760" y="2487168"/>
            <a:ext cx="585216" cy="182880"/>
          </a:xfrm>
          <a:prstGeom prst="rect">
            <a:avLst/>
          </a:prstGeom>
          <a:noFill/>
          <a:ln/>
        </p:spPr>
        <p:txBody>
          <a:bodyPr wrap="square" lIns="0" tIns="0" rIns="0" bIns="0" rtlCol="0" anchor="ctr"/>
          <a:lstStyle/>
          <a:p>
            <a:pPr algn="ctr" indent="0" marL="0">
              <a:buNone/>
            </a:pPr>
            <a:r>
              <a:rPr lang="en-US" sz="1400" b="1" dirty="0">
                <a:solidFill>
                  <a:srgbClr val="FFFFFF"/>
                </a:solidFill>
              </a:rPr>
              <a:t>6</a:t>
            </a:r>
            <a:endParaRPr lang="en-US" sz="1400" dirty="0"/>
          </a:p>
        </p:txBody>
      </p:sp>
      <p:sp>
        <p:nvSpPr>
          <p:cNvPr id="41" name="Text 39"/>
          <p:cNvSpPr/>
          <p:nvPr/>
        </p:nvSpPr>
        <p:spPr>
          <a:xfrm>
            <a:off x="10259568" y="3182112"/>
            <a:ext cx="1371600" cy="310896"/>
          </a:xfrm>
          <a:prstGeom prst="rect">
            <a:avLst/>
          </a:prstGeom>
          <a:noFill/>
          <a:ln/>
        </p:spPr>
        <p:txBody>
          <a:bodyPr wrap="square" lIns="0" tIns="0" rIns="0" bIns="0" rtlCol="0" anchor="ctr"/>
          <a:lstStyle/>
          <a:p>
            <a:pPr algn="ctr" indent="0" marL="0">
              <a:buNone/>
            </a:pPr>
            <a:r>
              <a:rPr lang="en-US" sz="1700" b="1" dirty="0">
                <a:solidFill>
                  <a:srgbClr val="102A43"/>
                </a:solidFill>
              </a:rPr>
              <a:t>Promote</a:t>
            </a:r>
            <a:endParaRPr lang="en-US" sz="1700" dirty="0"/>
          </a:p>
        </p:txBody>
      </p:sp>
      <p:sp>
        <p:nvSpPr>
          <p:cNvPr id="42" name="Text 40"/>
          <p:cNvSpPr/>
          <p:nvPr/>
        </p:nvSpPr>
        <p:spPr>
          <a:xfrm>
            <a:off x="10259568" y="3703320"/>
            <a:ext cx="1371600" cy="548640"/>
          </a:xfrm>
          <a:prstGeom prst="rect">
            <a:avLst/>
          </a:prstGeom>
          <a:noFill/>
          <a:ln/>
        </p:spPr>
        <p:txBody>
          <a:bodyPr wrap="square" lIns="0" tIns="0" rIns="0" bIns="0" rtlCol="0" anchor="ctr"/>
          <a:lstStyle/>
          <a:p>
            <a:pPr algn="ctr" indent="0" marL="0">
              <a:buNone/>
            </a:pPr>
            <a:r>
              <a:rPr lang="en-US" sz="1250" dirty="0">
                <a:solidFill>
                  <a:srgbClr val="5D6B78"/>
                </a:solidFill>
              </a:rPr>
              <a:t>immutable SHA</a:t>
            </a:r>
            <a:endParaRPr lang="en-US" sz="1250" dirty="0"/>
          </a:p>
          <a:p>
            <a:pPr algn="ctr" indent="0" marL="0">
              <a:buNone/>
            </a:pPr>
            <a:r>
              <a:rPr lang="en-US" sz="1250" dirty="0">
                <a:solidFill>
                  <a:srgbClr val="5D6B78"/>
                </a:solidFill>
              </a:rPr>
              <a:t>dev → prod</a:t>
            </a:r>
            <a:endParaRPr lang="en-US" sz="1250" dirty="0"/>
          </a:p>
        </p:txBody>
      </p:sp>
      <p:sp>
        <p:nvSpPr>
          <p:cNvPr id="43" name="Shape 41"/>
          <p:cNvSpPr/>
          <p:nvPr/>
        </p:nvSpPr>
        <p:spPr>
          <a:xfrm>
            <a:off x="3337560" y="5166360"/>
            <a:ext cx="2377440" cy="347472"/>
          </a:xfrm>
          <a:prstGeom prst="roundRect">
            <a:avLst>
              <a:gd name="adj" fmla="val 26316"/>
            </a:avLst>
          </a:prstGeom>
          <a:solidFill>
            <a:srgbClr val="163B59"/>
          </a:solidFill>
          <a:ln w="12700">
            <a:solidFill>
              <a:srgbClr val="163B59"/>
            </a:solidFill>
            <a:prstDash val="solid"/>
          </a:ln>
        </p:spPr>
      </p:sp>
      <p:sp>
        <p:nvSpPr>
          <p:cNvPr id="44" name="Text 42"/>
          <p:cNvSpPr/>
          <p:nvPr/>
        </p:nvSpPr>
        <p:spPr>
          <a:xfrm>
            <a:off x="3337560" y="5216652"/>
            <a:ext cx="2377440" cy="201168"/>
          </a:xfrm>
          <a:prstGeom prst="rect">
            <a:avLst/>
          </a:prstGeom>
          <a:noFill/>
          <a:ln/>
        </p:spPr>
        <p:txBody>
          <a:bodyPr wrap="square" lIns="0" tIns="0" rIns="0" bIns="0" rtlCol="0" anchor="ctr"/>
          <a:lstStyle/>
          <a:p>
            <a:pPr algn="ctr" indent="0" marL="0">
              <a:buNone/>
            </a:pPr>
            <a:r>
              <a:rPr lang="en-US" sz="1050" b="1" dirty="0">
                <a:solidFill>
                  <a:srgbClr val="FFFFFF"/>
                </a:solidFill>
              </a:rPr>
              <a:t>OIDC DEPLOYMENT LOGIN</a:t>
            </a:r>
            <a:endParaRPr lang="en-US" sz="1050" dirty="0"/>
          </a:p>
        </p:txBody>
      </p:sp>
      <p:sp>
        <p:nvSpPr>
          <p:cNvPr id="45" name="Shape 43"/>
          <p:cNvSpPr/>
          <p:nvPr/>
        </p:nvSpPr>
        <p:spPr>
          <a:xfrm>
            <a:off x="5897880" y="5166360"/>
            <a:ext cx="2926080" cy="347472"/>
          </a:xfrm>
          <a:prstGeom prst="roundRect">
            <a:avLst>
              <a:gd name="adj" fmla="val 26316"/>
            </a:avLst>
          </a:prstGeom>
          <a:solidFill>
            <a:srgbClr val="F59E0B"/>
          </a:solidFill>
          <a:ln w="12700">
            <a:solidFill>
              <a:srgbClr val="F59E0B"/>
            </a:solidFill>
            <a:prstDash val="solid"/>
          </a:ln>
        </p:spPr>
      </p:sp>
      <p:sp>
        <p:nvSpPr>
          <p:cNvPr id="46" name="Text 44"/>
          <p:cNvSpPr/>
          <p:nvPr/>
        </p:nvSpPr>
        <p:spPr>
          <a:xfrm>
            <a:off x="5897880" y="5216652"/>
            <a:ext cx="2926080" cy="201168"/>
          </a:xfrm>
          <a:prstGeom prst="rect">
            <a:avLst/>
          </a:prstGeom>
          <a:noFill/>
          <a:ln/>
        </p:spPr>
        <p:txBody>
          <a:bodyPr wrap="square" lIns="0" tIns="0" rIns="0" bIns="0" rtlCol="0" anchor="ctr"/>
          <a:lstStyle/>
          <a:p>
            <a:pPr algn="ctr" indent="0" marL="0">
              <a:buNone/>
            </a:pPr>
            <a:r>
              <a:rPr lang="en-US" sz="1050" b="1" dirty="0">
                <a:solidFill>
                  <a:srgbClr val="102A43"/>
                </a:solidFill>
              </a:rPr>
              <a:t>PROD APPROVAL REQUIRED</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7FA"/>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78D4"/>
          </a:solidFill>
          <a:ln w="12700">
            <a:solidFill>
              <a:srgbClr val="0078D4"/>
            </a:solidFill>
            <a:prstDash val="solid"/>
          </a:ln>
        </p:spPr>
      </p:sp>
      <p:sp>
        <p:nvSpPr>
          <p:cNvPr id="3" name="Text 1"/>
          <p:cNvSpPr/>
          <p:nvPr/>
        </p:nvSpPr>
        <p:spPr>
          <a:xfrm>
            <a:off x="502920" y="6455664"/>
            <a:ext cx="4389120" cy="164592"/>
          </a:xfrm>
          <a:prstGeom prst="rect">
            <a:avLst/>
          </a:prstGeom>
          <a:noFill/>
          <a:ln/>
        </p:spPr>
        <p:txBody>
          <a:bodyPr wrap="square" lIns="0" tIns="0" rIns="0" bIns="0" rtlCol="0" anchor="ctr"/>
          <a:lstStyle/>
          <a:p>
            <a:pPr indent="0" marL="0">
              <a:buNone/>
            </a:pPr>
            <a:r>
              <a:rPr lang="en-US" sz="850" spc="100" kern="0" dirty="0">
                <a:solidFill>
                  <a:srgbClr val="778897"/>
                </a:solidFill>
              </a:rPr>
              <a:t>CLOUD WORKLOAD PROTECTION READINESS ANALYZER</a:t>
            </a:r>
            <a:endParaRPr lang="en-US" sz="850" dirty="0"/>
          </a:p>
        </p:txBody>
      </p:sp>
      <p:sp>
        <p:nvSpPr>
          <p:cNvPr id="4" name="Text 2"/>
          <p:cNvSpPr/>
          <p:nvPr/>
        </p:nvSpPr>
        <p:spPr>
          <a:xfrm>
            <a:off x="8503920" y="6455664"/>
            <a:ext cx="2743200" cy="164592"/>
          </a:xfrm>
          <a:prstGeom prst="rect">
            <a:avLst/>
          </a:prstGeom>
          <a:noFill/>
          <a:ln/>
        </p:spPr>
        <p:txBody>
          <a:bodyPr wrap="square" lIns="0" tIns="0" rIns="0" bIns="0" rtlCol="0" anchor="ctr"/>
          <a:lstStyle/>
          <a:p>
            <a:pPr algn="r" indent="0" marL="0">
              <a:buNone/>
            </a:pPr>
            <a:r>
              <a:rPr lang="en-US" sz="850" dirty="0">
                <a:solidFill>
                  <a:srgbClr val="778897"/>
                </a:solidFill>
              </a:rPr>
              <a:t>PRODUCTION IMPLEMENTATION</a:t>
            </a:r>
            <a:endParaRPr lang="en-US" sz="850" dirty="0"/>
          </a:p>
        </p:txBody>
      </p:sp>
      <p:sp>
        <p:nvSpPr>
          <p:cNvPr id="5" name="Text 3"/>
          <p:cNvSpPr/>
          <p:nvPr/>
        </p:nvSpPr>
        <p:spPr>
          <a:xfrm>
            <a:off x="11475720" y="6437376"/>
            <a:ext cx="228600" cy="164592"/>
          </a:xfrm>
          <a:prstGeom prst="rect">
            <a:avLst/>
          </a:prstGeom>
          <a:noFill/>
          <a:ln/>
        </p:spPr>
        <p:txBody>
          <a:bodyPr wrap="square" lIns="0" tIns="0" rIns="0" bIns="0" rtlCol="0" anchor="ctr"/>
          <a:lstStyle/>
          <a:p>
            <a:pPr algn="r" indent="0" marL="0">
              <a:buNone/>
            </a:pPr>
            <a:r>
              <a:rPr lang="en-US" sz="850" dirty="0">
                <a:solidFill>
                  <a:srgbClr val="778897"/>
                </a:solidFill>
              </a:rPr>
              <a:t>10</a:t>
            </a:r>
            <a:endParaRPr lang="en-US" sz="850" dirty="0"/>
          </a:p>
        </p:txBody>
      </p:sp>
      <p:sp>
        <p:nvSpPr>
          <p:cNvPr id="6" name="Text 4"/>
          <p:cNvSpPr/>
          <p:nvPr/>
        </p:nvSpPr>
        <p:spPr>
          <a:xfrm>
            <a:off x="548640" y="310896"/>
            <a:ext cx="5029200" cy="219456"/>
          </a:xfrm>
          <a:prstGeom prst="rect">
            <a:avLst/>
          </a:prstGeom>
          <a:noFill/>
          <a:ln/>
        </p:spPr>
        <p:txBody>
          <a:bodyPr wrap="square" lIns="0" tIns="0" rIns="0" bIns="0" rtlCol="0" anchor="ctr"/>
          <a:lstStyle/>
          <a:p>
            <a:pPr indent="0" marL="0">
              <a:buNone/>
            </a:pPr>
            <a:r>
              <a:rPr lang="en-US" sz="1050" b="1" spc="160" kern="0" dirty="0">
                <a:solidFill>
                  <a:srgbClr val="0078D4"/>
                </a:solidFill>
              </a:rPr>
              <a:t>TECHNICAL ACCOMPLISHMENTS</a:t>
            </a:r>
            <a:endParaRPr lang="en-US" sz="1050" dirty="0"/>
          </a:p>
        </p:txBody>
      </p:sp>
      <p:sp>
        <p:nvSpPr>
          <p:cNvPr id="7" name="Text 5"/>
          <p:cNvSpPr/>
          <p:nvPr/>
        </p:nvSpPr>
        <p:spPr>
          <a:xfrm>
            <a:off x="548640" y="640080"/>
            <a:ext cx="11018520" cy="484632"/>
          </a:xfrm>
          <a:prstGeom prst="rect">
            <a:avLst/>
          </a:prstGeom>
          <a:noFill/>
          <a:ln/>
        </p:spPr>
        <p:txBody>
          <a:bodyPr wrap="square" lIns="0" tIns="0" rIns="0" bIns="0" rtlCol="0" anchor="ctr"/>
          <a:lstStyle/>
          <a:p>
            <a:pPr indent="0" marL="0">
              <a:buNone/>
            </a:pPr>
            <a:r>
              <a:rPr lang="en-US" sz="2900" b="1" dirty="0">
                <a:solidFill>
                  <a:srgbClr val="102A43"/>
                </a:solidFill>
              </a:rPr>
              <a:t>What is implemented in the repository today</a:t>
            </a:r>
            <a:endParaRPr lang="en-US" sz="2900" dirty="0"/>
          </a:p>
        </p:txBody>
      </p:sp>
      <p:sp>
        <p:nvSpPr>
          <p:cNvPr id="8" name="Shape 6"/>
          <p:cNvSpPr/>
          <p:nvPr/>
        </p:nvSpPr>
        <p:spPr>
          <a:xfrm>
            <a:off x="621792" y="1481328"/>
            <a:ext cx="2487168" cy="1417320"/>
          </a:xfrm>
          <a:prstGeom prst="roundRect">
            <a:avLst>
              <a:gd name="adj" fmla="val 5161"/>
            </a:avLst>
          </a:prstGeom>
          <a:solidFill>
            <a:srgbClr val="FFFFFF"/>
          </a:solidFill>
          <a:ln w="12700">
            <a:solidFill>
              <a:srgbClr val="D7E2EA"/>
            </a:solidFill>
            <a:prstDash val="solid"/>
          </a:ln>
        </p:spPr>
      </p:sp>
      <p:sp>
        <p:nvSpPr>
          <p:cNvPr id="9" name="Text 7"/>
          <p:cNvSpPr/>
          <p:nvPr/>
        </p:nvSpPr>
        <p:spPr>
          <a:xfrm>
            <a:off x="804672" y="1719072"/>
            <a:ext cx="2121408" cy="502920"/>
          </a:xfrm>
          <a:prstGeom prst="rect">
            <a:avLst/>
          </a:prstGeom>
          <a:noFill/>
          <a:ln/>
        </p:spPr>
        <p:txBody>
          <a:bodyPr wrap="square" lIns="0" tIns="0" rIns="0" bIns="0" rtlCol="0" anchor="ctr"/>
          <a:lstStyle/>
          <a:p>
            <a:pPr algn="ctr" indent="0" marL="0">
              <a:buNone/>
            </a:pPr>
            <a:r>
              <a:rPr lang="en-US" sz="3100" b="1" dirty="0">
                <a:solidFill>
                  <a:srgbClr val="0078D4"/>
                </a:solidFill>
              </a:rPr>
              <a:t>10</a:t>
            </a:r>
            <a:endParaRPr lang="en-US" sz="3100" dirty="0"/>
          </a:p>
        </p:txBody>
      </p:sp>
      <p:sp>
        <p:nvSpPr>
          <p:cNvPr id="10" name="Text 8"/>
          <p:cNvSpPr/>
          <p:nvPr/>
        </p:nvSpPr>
        <p:spPr>
          <a:xfrm>
            <a:off x="804672" y="2350008"/>
            <a:ext cx="2121408" cy="228600"/>
          </a:xfrm>
          <a:prstGeom prst="rect">
            <a:avLst/>
          </a:prstGeom>
          <a:noFill/>
          <a:ln/>
        </p:spPr>
        <p:txBody>
          <a:bodyPr wrap="square" lIns="0" tIns="0" rIns="0" bIns="0" rtlCol="0" anchor="ctr"/>
          <a:lstStyle/>
          <a:p>
            <a:pPr algn="ctr" indent="0" marL="0">
              <a:buNone/>
            </a:pPr>
            <a:r>
              <a:rPr lang="en-US" sz="1250" dirty="0">
                <a:solidFill>
                  <a:srgbClr val="5D6B78"/>
                </a:solidFill>
              </a:rPr>
              <a:t>semantic security rules</a:t>
            </a:r>
            <a:endParaRPr lang="en-US" sz="1250" dirty="0"/>
          </a:p>
        </p:txBody>
      </p:sp>
      <p:sp>
        <p:nvSpPr>
          <p:cNvPr id="11" name="Shape 9"/>
          <p:cNvSpPr/>
          <p:nvPr/>
        </p:nvSpPr>
        <p:spPr>
          <a:xfrm>
            <a:off x="3474720" y="1481328"/>
            <a:ext cx="2487168" cy="1417320"/>
          </a:xfrm>
          <a:prstGeom prst="roundRect">
            <a:avLst>
              <a:gd name="adj" fmla="val 5161"/>
            </a:avLst>
          </a:prstGeom>
          <a:solidFill>
            <a:srgbClr val="FFFFFF"/>
          </a:solidFill>
          <a:ln w="12700">
            <a:solidFill>
              <a:srgbClr val="D7E2EA"/>
            </a:solidFill>
            <a:prstDash val="solid"/>
          </a:ln>
        </p:spPr>
      </p:sp>
      <p:sp>
        <p:nvSpPr>
          <p:cNvPr id="12" name="Text 10"/>
          <p:cNvSpPr/>
          <p:nvPr/>
        </p:nvSpPr>
        <p:spPr>
          <a:xfrm>
            <a:off x="3657600" y="1719072"/>
            <a:ext cx="2121408" cy="502920"/>
          </a:xfrm>
          <a:prstGeom prst="rect">
            <a:avLst/>
          </a:prstGeom>
          <a:noFill/>
          <a:ln/>
        </p:spPr>
        <p:txBody>
          <a:bodyPr wrap="square" lIns="0" tIns="0" rIns="0" bIns="0" rtlCol="0" anchor="ctr"/>
          <a:lstStyle/>
          <a:p>
            <a:pPr algn="ctr" indent="0" marL="0">
              <a:buNone/>
            </a:pPr>
            <a:r>
              <a:rPr lang="en-US" sz="3100" b="1" dirty="0">
                <a:solidFill>
                  <a:srgbClr val="008C83"/>
                </a:solidFill>
              </a:rPr>
              <a:t>6</a:t>
            </a:r>
            <a:endParaRPr lang="en-US" sz="3100" dirty="0"/>
          </a:p>
        </p:txBody>
      </p:sp>
      <p:sp>
        <p:nvSpPr>
          <p:cNvPr id="13" name="Text 11"/>
          <p:cNvSpPr/>
          <p:nvPr/>
        </p:nvSpPr>
        <p:spPr>
          <a:xfrm>
            <a:off x="3657600" y="2350008"/>
            <a:ext cx="2121408" cy="228600"/>
          </a:xfrm>
          <a:prstGeom prst="rect">
            <a:avLst/>
          </a:prstGeom>
          <a:noFill/>
          <a:ln/>
        </p:spPr>
        <p:txBody>
          <a:bodyPr wrap="square" lIns="0" tIns="0" rIns="0" bIns="0" rtlCol="0" anchor="ctr"/>
          <a:lstStyle/>
          <a:p>
            <a:pPr algn="ctr" indent="0" marL="0">
              <a:buNone/>
            </a:pPr>
            <a:r>
              <a:rPr lang="en-US" sz="1250" dirty="0">
                <a:solidFill>
                  <a:srgbClr val="5D6B78"/>
                </a:solidFill>
              </a:rPr>
              <a:t>control categories</a:t>
            </a:r>
            <a:endParaRPr lang="en-US" sz="1250" dirty="0"/>
          </a:p>
        </p:txBody>
      </p:sp>
      <p:sp>
        <p:nvSpPr>
          <p:cNvPr id="14" name="Shape 12"/>
          <p:cNvSpPr/>
          <p:nvPr/>
        </p:nvSpPr>
        <p:spPr>
          <a:xfrm>
            <a:off x="6327648" y="1481328"/>
            <a:ext cx="2487168" cy="1417320"/>
          </a:xfrm>
          <a:prstGeom prst="roundRect">
            <a:avLst>
              <a:gd name="adj" fmla="val 5161"/>
            </a:avLst>
          </a:prstGeom>
          <a:solidFill>
            <a:srgbClr val="FFFFFF"/>
          </a:solidFill>
          <a:ln w="12700">
            <a:solidFill>
              <a:srgbClr val="D7E2EA"/>
            </a:solidFill>
            <a:prstDash val="solid"/>
          </a:ln>
        </p:spPr>
      </p:sp>
      <p:sp>
        <p:nvSpPr>
          <p:cNvPr id="15" name="Text 13"/>
          <p:cNvSpPr/>
          <p:nvPr/>
        </p:nvSpPr>
        <p:spPr>
          <a:xfrm>
            <a:off x="6510528" y="1719072"/>
            <a:ext cx="2121408" cy="502920"/>
          </a:xfrm>
          <a:prstGeom prst="rect">
            <a:avLst/>
          </a:prstGeom>
          <a:noFill/>
          <a:ln/>
        </p:spPr>
        <p:txBody>
          <a:bodyPr wrap="square" lIns="0" tIns="0" rIns="0" bIns="0" rtlCol="0" anchor="ctr"/>
          <a:lstStyle/>
          <a:p>
            <a:pPr algn="ctr" indent="0" marL="0">
              <a:buNone/>
            </a:pPr>
            <a:r>
              <a:rPr lang="en-US" sz="3100" b="1" dirty="0">
                <a:solidFill>
                  <a:srgbClr val="F59E0B"/>
                </a:solidFill>
              </a:rPr>
              <a:t>17</a:t>
            </a:r>
            <a:endParaRPr lang="en-US" sz="3100" dirty="0"/>
          </a:p>
        </p:txBody>
      </p:sp>
      <p:sp>
        <p:nvSpPr>
          <p:cNvPr id="16" name="Text 14"/>
          <p:cNvSpPr/>
          <p:nvPr/>
        </p:nvSpPr>
        <p:spPr>
          <a:xfrm>
            <a:off x="6510528" y="2350008"/>
            <a:ext cx="2121408" cy="228600"/>
          </a:xfrm>
          <a:prstGeom prst="rect">
            <a:avLst/>
          </a:prstGeom>
          <a:noFill/>
          <a:ln/>
        </p:spPr>
        <p:txBody>
          <a:bodyPr wrap="square" lIns="0" tIns="0" rIns="0" bIns="0" rtlCol="0" anchor="ctr"/>
          <a:lstStyle/>
          <a:p>
            <a:pPr algn="ctr" indent="0" marL="0">
              <a:buNone/>
            </a:pPr>
            <a:r>
              <a:rPr lang="en-US" sz="1250" dirty="0">
                <a:solidFill>
                  <a:srgbClr val="5D6B78"/>
                </a:solidFill>
              </a:rPr>
              <a:t>automated tests</a:t>
            </a:r>
            <a:endParaRPr lang="en-US" sz="1250" dirty="0"/>
          </a:p>
        </p:txBody>
      </p:sp>
      <p:sp>
        <p:nvSpPr>
          <p:cNvPr id="17" name="Shape 15"/>
          <p:cNvSpPr/>
          <p:nvPr/>
        </p:nvSpPr>
        <p:spPr>
          <a:xfrm>
            <a:off x="9180576" y="1481328"/>
            <a:ext cx="2487168" cy="1417320"/>
          </a:xfrm>
          <a:prstGeom prst="roundRect">
            <a:avLst>
              <a:gd name="adj" fmla="val 5161"/>
            </a:avLst>
          </a:prstGeom>
          <a:solidFill>
            <a:srgbClr val="FFFFFF"/>
          </a:solidFill>
          <a:ln w="12700">
            <a:solidFill>
              <a:srgbClr val="D7E2EA"/>
            </a:solidFill>
            <a:prstDash val="solid"/>
          </a:ln>
        </p:spPr>
      </p:sp>
      <p:sp>
        <p:nvSpPr>
          <p:cNvPr id="18" name="Text 16"/>
          <p:cNvSpPr/>
          <p:nvPr/>
        </p:nvSpPr>
        <p:spPr>
          <a:xfrm>
            <a:off x="9363456" y="1719072"/>
            <a:ext cx="2121408" cy="502920"/>
          </a:xfrm>
          <a:prstGeom prst="rect">
            <a:avLst/>
          </a:prstGeom>
          <a:noFill/>
          <a:ln/>
        </p:spPr>
        <p:txBody>
          <a:bodyPr wrap="square" lIns="0" tIns="0" rIns="0" bIns="0" rtlCol="0" anchor="ctr"/>
          <a:lstStyle/>
          <a:p>
            <a:pPr algn="ctr" indent="0" marL="0">
              <a:buNone/>
            </a:pPr>
            <a:r>
              <a:rPr lang="en-US" sz="3100" b="1" dirty="0">
                <a:solidFill>
                  <a:srgbClr val="21B573"/>
                </a:solidFill>
              </a:rPr>
              <a:t>2</a:t>
            </a:r>
            <a:endParaRPr lang="en-US" sz="3100" dirty="0"/>
          </a:p>
        </p:txBody>
      </p:sp>
      <p:sp>
        <p:nvSpPr>
          <p:cNvPr id="19" name="Text 17"/>
          <p:cNvSpPr/>
          <p:nvPr/>
        </p:nvSpPr>
        <p:spPr>
          <a:xfrm>
            <a:off x="9363456" y="2350008"/>
            <a:ext cx="2121408" cy="228600"/>
          </a:xfrm>
          <a:prstGeom prst="rect">
            <a:avLst/>
          </a:prstGeom>
          <a:noFill/>
          <a:ln/>
        </p:spPr>
        <p:txBody>
          <a:bodyPr wrap="square" lIns="0" tIns="0" rIns="0" bIns="0" rtlCol="0" anchor="ctr"/>
          <a:lstStyle/>
          <a:p>
            <a:pPr algn="ctr" indent="0" marL="0">
              <a:buNone/>
            </a:pPr>
            <a:r>
              <a:rPr lang="en-US" sz="1250" dirty="0">
                <a:solidFill>
                  <a:srgbClr val="5D6B78"/>
                </a:solidFill>
              </a:rPr>
              <a:t>target environments</a:t>
            </a:r>
            <a:endParaRPr lang="en-US" sz="1250" dirty="0"/>
          </a:p>
        </p:txBody>
      </p:sp>
      <p:sp>
        <p:nvSpPr>
          <p:cNvPr id="20" name="Shape 18"/>
          <p:cNvSpPr/>
          <p:nvPr/>
        </p:nvSpPr>
        <p:spPr>
          <a:xfrm>
            <a:off x="621792" y="3337560"/>
            <a:ext cx="3401568" cy="1938528"/>
          </a:xfrm>
          <a:prstGeom prst="roundRect">
            <a:avLst>
              <a:gd name="adj" fmla="val 3774"/>
            </a:avLst>
          </a:prstGeom>
          <a:solidFill>
            <a:srgbClr val="FFFFFF"/>
          </a:solidFill>
          <a:ln w="12700">
            <a:solidFill>
              <a:srgbClr val="D7E2EA"/>
            </a:solidFill>
            <a:prstDash val="solid"/>
          </a:ln>
        </p:spPr>
      </p:sp>
      <p:sp>
        <p:nvSpPr>
          <p:cNvPr id="21" name="Shape 19"/>
          <p:cNvSpPr/>
          <p:nvPr/>
        </p:nvSpPr>
        <p:spPr>
          <a:xfrm>
            <a:off x="621792" y="3337560"/>
            <a:ext cx="91440" cy="1938528"/>
          </a:xfrm>
          <a:prstGeom prst="rect">
            <a:avLst/>
          </a:prstGeom>
          <a:solidFill>
            <a:srgbClr val="0078D4"/>
          </a:solidFill>
          <a:ln w="12700">
            <a:solidFill>
              <a:srgbClr val="0078D4"/>
            </a:solidFill>
            <a:prstDash val="solid"/>
          </a:ln>
        </p:spPr>
      </p:sp>
      <p:sp>
        <p:nvSpPr>
          <p:cNvPr id="22" name="Text 20"/>
          <p:cNvSpPr/>
          <p:nvPr/>
        </p:nvSpPr>
        <p:spPr>
          <a:xfrm>
            <a:off x="914400" y="3566160"/>
            <a:ext cx="2871216" cy="310896"/>
          </a:xfrm>
          <a:prstGeom prst="rect">
            <a:avLst/>
          </a:prstGeom>
          <a:noFill/>
          <a:ln/>
        </p:spPr>
        <p:txBody>
          <a:bodyPr wrap="square" lIns="0" tIns="0" rIns="0" bIns="0" rtlCol="0" anchor="ctr"/>
          <a:lstStyle/>
          <a:p>
            <a:pPr indent="0" marL="0">
              <a:buNone/>
            </a:pPr>
            <a:r>
              <a:rPr lang="en-US" sz="1700" b="1" dirty="0">
                <a:solidFill>
                  <a:srgbClr val="203040"/>
                </a:solidFill>
              </a:rPr>
              <a:t>Analyzer</a:t>
            </a:r>
            <a:endParaRPr lang="en-US" sz="1700" dirty="0"/>
          </a:p>
        </p:txBody>
      </p:sp>
      <p:sp>
        <p:nvSpPr>
          <p:cNvPr id="23" name="Text 21"/>
          <p:cNvSpPr/>
          <p:nvPr/>
        </p:nvSpPr>
        <p:spPr>
          <a:xfrm>
            <a:off x="914400" y="4050792"/>
            <a:ext cx="2871216" cy="1005840"/>
          </a:xfrm>
          <a:prstGeom prst="rect">
            <a:avLst/>
          </a:prstGeom>
          <a:noFill/>
          <a:ln/>
        </p:spPr>
        <p:txBody>
          <a:bodyPr wrap="square" lIns="0" tIns="0" rIns="0" bIns="0" rtlCol="0" anchor="t"/>
          <a:lstStyle/>
          <a:p>
            <a:pPr indent="0" marL="0">
              <a:buNone/>
            </a:pPr>
            <a:r>
              <a:rPr lang="en-US" sz="1320" dirty="0">
                <a:solidFill>
                  <a:srgbClr val="5D6B78"/>
                </a:solidFill>
              </a:rPr>
              <a:t>Official compiler integration</a:t>
            </a:r>
            <a:endParaRPr lang="en-US" sz="1320" dirty="0"/>
          </a:p>
          <a:p>
            <a:pPr indent="0" marL="0">
              <a:buNone/>
            </a:pPr>
            <a:r>
              <a:rPr lang="en-US" sz="1320" dirty="0">
                <a:solidFill>
                  <a:srgbClr val="5D6B78"/>
                </a:solidFill>
              </a:rPr>
              <a:t>Multi-file local modules</a:t>
            </a:r>
            <a:endParaRPr lang="en-US" sz="1320" dirty="0"/>
          </a:p>
          <a:p>
            <a:pPr indent="0" marL="0">
              <a:buNone/>
            </a:pPr>
            <a:r>
              <a:rPr lang="en-US" sz="1320" dirty="0">
                <a:solidFill>
                  <a:srgbClr val="5D6B78"/>
                </a:solidFill>
              </a:rPr>
              <a:t>Structured diagnostics</a:t>
            </a:r>
            <a:endParaRPr lang="en-US" sz="1320" dirty="0"/>
          </a:p>
          <a:p>
            <a:pPr indent="0" marL="0">
              <a:buNone/>
            </a:pPr>
            <a:r>
              <a:rPr lang="en-US" sz="1320" dirty="0">
                <a:solidFill>
                  <a:srgbClr val="5D6B78"/>
                </a:solidFill>
              </a:rPr>
              <a:t>Evidence-backed findings</a:t>
            </a:r>
            <a:endParaRPr lang="en-US" sz="1320" dirty="0"/>
          </a:p>
        </p:txBody>
      </p:sp>
      <p:sp>
        <p:nvSpPr>
          <p:cNvPr id="24" name="Shape 22"/>
          <p:cNvSpPr/>
          <p:nvPr/>
        </p:nvSpPr>
        <p:spPr>
          <a:xfrm>
            <a:off x="4389120" y="3337560"/>
            <a:ext cx="3401568" cy="1938528"/>
          </a:xfrm>
          <a:prstGeom prst="roundRect">
            <a:avLst>
              <a:gd name="adj" fmla="val 3774"/>
            </a:avLst>
          </a:prstGeom>
          <a:solidFill>
            <a:srgbClr val="FFFFFF"/>
          </a:solidFill>
          <a:ln w="12700">
            <a:solidFill>
              <a:srgbClr val="D7E2EA"/>
            </a:solidFill>
            <a:prstDash val="solid"/>
          </a:ln>
        </p:spPr>
      </p:sp>
      <p:sp>
        <p:nvSpPr>
          <p:cNvPr id="25" name="Shape 23"/>
          <p:cNvSpPr/>
          <p:nvPr/>
        </p:nvSpPr>
        <p:spPr>
          <a:xfrm>
            <a:off x="4389120" y="3337560"/>
            <a:ext cx="91440" cy="1938528"/>
          </a:xfrm>
          <a:prstGeom prst="rect">
            <a:avLst/>
          </a:prstGeom>
          <a:solidFill>
            <a:srgbClr val="008C83"/>
          </a:solidFill>
          <a:ln w="12700">
            <a:solidFill>
              <a:srgbClr val="008C83"/>
            </a:solidFill>
            <a:prstDash val="solid"/>
          </a:ln>
        </p:spPr>
      </p:sp>
      <p:sp>
        <p:nvSpPr>
          <p:cNvPr id="26" name="Text 24"/>
          <p:cNvSpPr/>
          <p:nvPr/>
        </p:nvSpPr>
        <p:spPr>
          <a:xfrm>
            <a:off x="4681728" y="3566160"/>
            <a:ext cx="2871216" cy="310896"/>
          </a:xfrm>
          <a:prstGeom prst="rect">
            <a:avLst/>
          </a:prstGeom>
          <a:noFill/>
          <a:ln/>
        </p:spPr>
        <p:txBody>
          <a:bodyPr wrap="square" lIns="0" tIns="0" rIns="0" bIns="0" rtlCol="0" anchor="ctr"/>
          <a:lstStyle/>
          <a:p>
            <a:pPr indent="0" marL="0">
              <a:buNone/>
            </a:pPr>
            <a:r>
              <a:rPr lang="en-US" sz="1700" b="1" dirty="0">
                <a:solidFill>
                  <a:srgbClr val="203040"/>
                </a:solidFill>
              </a:rPr>
              <a:t>Azure</a:t>
            </a:r>
            <a:endParaRPr lang="en-US" sz="1700" dirty="0"/>
          </a:p>
        </p:txBody>
      </p:sp>
      <p:sp>
        <p:nvSpPr>
          <p:cNvPr id="27" name="Text 25"/>
          <p:cNvSpPr/>
          <p:nvPr/>
        </p:nvSpPr>
        <p:spPr>
          <a:xfrm>
            <a:off x="4681728" y="4050792"/>
            <a:ext cx="2871216" cy="1005840"/>
          </a:xfrm>
          <a:prstGeom prst="rect">
            <a:avLst/>
          </a:prstGeom>
          <a:noFill/>
          <a:ln/>
        </p:spPr>
        <p:txBody>
          <a:bodyPr wrap="square" lIns="0" tIns="0" rIns="0" bIns="0" rtlCol="0" anchor="t"/>
          <a:lstStyle/>
          <a:p>
            <a:pPr indent="0" marL="0">
              <a:buNone/>
            </a:pPr>
            <a:r>
              <a:rPr lang="en-US" sz="1320" dirty="0">
                <a:solidFill>
                  <a:srgbClr val="5D6B78"/>
                </a:solidFill>
              </a:rPr>
              <a:t>VNet-integrated Container Apps</a:t>
            </a:r>
            <a:endParaRPr lang="en-US" sz="1320" dirty="0"/>
          </a:p>
          <a:p>
            <a:pPr indent="0" marL="0">
              <a:buNone/>
            </a:pPr>
            <a:r>
              <a:rPr lang="en-US" sz="1320" dirty="0">
                <a:solidFill>
                  <a:srgbClr val="5D6B78"/>
                </a:solidFill>
              </a:rPr>
              <a:t>Private ACR and Key Vault</a:t>
            </a:r>
            <a:endParaRPr lang="en-US" sz="1320" dirty="0"/>
          </a:p>
          <a:p>
            <a:pPr indent="0" marL="0">
              <a:buNone/>
            </a:pPr>
            <a:r>
              <a:rPr lang="en-US" sz="1320" dirty="0">
                <a:solidFill>
                  <a:srgbClr val="5D6B78"/>
                </a:solidFill>
              </a:rPr>
              <a:t>Entra authentication</a:t>
            </a:r>
            <a:endParaRPr lang="en-US" sz="1320" dirty="0"/>
          </a:p>
          <a:p>
            <a:pPr indent="0" marL="0">
              <a:buNone/>
            </a:pPr>
            <a:r>
              <a:rPr lang="en-US" sz="1320" dirty="0">
                <a:solidFill>
                  <a:srgbClr val="5D6B78"/>
                </a:solidFill>
              </a:rPr>
              <a:t>Application Insights + alerts</a:t>
            </a:r>
            <a:endParaRPr lang="en-US" sz="1320" dirty="0"/>
          </a:p>
        </p:txBody>
      </p:sp>
      <p:sp>
        <p:nvSpPr>
          <p:cNvPr id="28" name="Shape 26"/>
          <p:cNvSpPr/>
          <p:nvPr/>
        </p:nvSpPr>
        <p:spPr>
          <a:xfrm>
            <a:off x="8156448" y="3337560"/>
            <a:ext cx="3401568" cy="1938528"/>
          </a:xfrm>
          <a:prstGeom prst="roundRect">
            <a:avLst>
              <a:gd name="adj" fmla="val 3774"/>
            </a:avLst>
          </a:prstGeom>
          <a:solidFill>
            <a:srgbClr val="FFFFFF"/>
          </a:solidFill>
          <a:ln w="12700">
            <a:solidFill>
              <a:srgbClr val="D7E2EA"/>
            </a:solidFill>
            <a:prstDash val="solid"/>
          </a:ln>
        </p:spPr>
      </p:sp>
      <p:sp>
        <p:nvSpPr>
          <p:cNvPr id="29" name="Shape 27"/>
          <p:cNvSpPr/>
          <p:nvPr/>
        </p:nvSpPr>
        <p:spPr>
          <a:xfrm>
            <a:off x="8156448" y="3337560"/>
            <a:ext cx="91440" cy="1938528"/>
          </a:xfrm>
          <a:prstGeom prst="rect">
            <a:avLst/>
          </a:prstGeom>
          <a:solidFill>
            <a:srgbClr val="F59E0B"/>
          </a:solidFill>
          <a:ln w="12700">
            <a:solidFill>
              <a:srgbClr val="F59E0B"/>
            </a:solidFill>
            <a:prstDash val="solid"/>
          </a:ln>
        </p:spPr>
      </p:sp>
      <p:sp>
        <p:nvSpPr>
          <p:cNvPr id="30" name="Text 28"/>
          <p:cNvSpPr/>
          <p:nvPr/>
        </p:nvSpPr>
        <p:spPr>
          <a:xfrm>
            <a:off x="8449056" y="3566160"/>
            <a:ext cx="2871216" cy="310896"/>
          </a:xfrm>
          <a:prstGeom prst="rect">
            <a:avLst/>
          </a:prstGeom>
          <a:noFill/>
          <a:ln/>
        </p:spPr>
        <p:txBody>
          <a:bodyPr wrap="square" lIns="0" tIns="0" rIns="0" bIns="0" rtlCol="0" anchor="ctr"/>
          <a:lstStyle/>
          <a:p>
            <a:pPr indent="0" marL="0">
              <a:buNone/>
            </a:pPr>
            <a:r>
              <a:rPr lang="en-US" sz="1700" b="1" dirty="0">
                <a:solidFill>
                  <a:srgbClr val="203040"/>
                </a:solidFill>
              </a:rPr>
              <a:t>Engineering</a:t>
            </a:r>
            <a:endParaRPr lang="en-US" sz="1700" dirty="0"/>
          </a:p>
        </p:txBody>
      </p:sp>
      <p:sp>
        <p:nvSpPr>
          <p:cNvPr id="31" name="Text 29"/>
          <p:cNvSpPr/>
          <p:nvPr/>
        </p:nvSpPr>
        <p:spPr>
          <a:xfrm>
            <a:off x="8449056" y="4050792"/>
            <a:ext cx="2871216" cy="1005840"/>
          </a:xfrm>
          <a:prstGeom prst="rect">
            <a:avLst/>
          </a:prstGeom>
          <a:noFill/>
          <a:ln/>
        </p:spPr>
        <p:txBody>
          <a:bodyPr wrap="square" lIns="0" tIns="0" rIns="0" bIns="0" rtlCol="0" anchor="t"/>
          <a:lstStyle/>
          <a:p>
            <a:pPr indent="0" marL="0">
              <a:buNone/>
            </a:pPr>
            <a:r>
              <a:rPr lang="en-US" sz="1320" dirty="0">
                <a:solidFill>
                  <a:srgbClr val="5D6B78"/>
                </a:solidFill>
              </a:rPr>
              <a:t>Pinned compiler checksum</a:t>
            </a:r>
            <a:endParaRPr lang="en-US" sz="1320" dirty="0"/>
          </a:p>
          <a:p>
            <a:pPr indent="0" marL="0">
              <a:buNone/>
            </a:pPr>
            <a:r>
              <a:rPr lang="en-US" sz="1320" dirty="0">
                <a:solidFill>
                  <a:srgbClr val="5D6B78"/>
                </a:solidFill>
              </a:rPr>
              <a:t>Threat model + runbook</a:t>
            </a:r>
            <a:endParaRPr lang="en-US" sz="1320" dirty="0"/>
          </a:p>
          <a:p>
            <a:pPr indent="0" marL="0">
              <a:buNone/>
            </a:pPr>
            <a:r>
              <a:rPr lang="en-US" sz="1320" dirty="0">
                <a:solidFill>
                  <a:srgbClr val="5D6B78"/>
                </a:solidFill>
              </a:rPr>
              <a:t>CI supply-chain gates</a:t>
            </a:r>
            <a:endParaRPr lang="en-US" sz="1320" dirty="0"/>
          </a:p>
          <a:p>
            <a:pPr indent="0" marL="0">
              <a:buNone/>
            </a:pPr>
            <a:r>
              <a:rPr lang="en-US" sz="1320" dirty="0">
                <a:solidFill>
                  <a:srgbClr val="5D6B78"/>
                </a:solidFill>
              </a:rPr>
              <a:t>Immutable deployment flow</a:t>
            </a:r>
            <a:endParaRPr lang="en-US" sz="13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7FA"/>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78D4"/>
          </a:solidFill>
          <a:ln w="12700">
            <a:solidFill>
              <a:srgbClr val="0078D4"/>
            </a:solidFill>
            <a:prstDash val="solid"/>
          </a:ln>
        </p:spPr>
      </p:sp>
      <p:sp>
        <p:nvSpPr>
          <p:cNvPr id="3" name="Text 1"/>
          <p:cNvSpPr/>
          <p:nvPr/>
        </p:nvSpPr>
        <p:spPr>
          <a:xfrm>
            <a:off x="502920" y="6455664"/>
            <a:ext cx="4389120" cy="164592"/>
          </a:xfrm>
          <a:prstGeom prst="rect">
            <a:avLst/>
          </a:prstGeom>
          <a:noFill/>
          <a:ln/>
        </p:spPr>
        <p:txBody>
          <a:bodyPr wrap="square" lIns="0" tIns="0" rIns="0" bIns="0" rtlCol="0" anchor="ctr"/>
          <a:lstStyle/>
          <a:p>
            <a:pPr indent="0" marL="0">
              <a:buNone/>
            </a:pPr>
            <a:r>
              <a:rPr lang="en-US" sz="850" spc="100" kern="0" dirty="0">
                <a:solidFill>
                  <a:srgbClr val="778897"/>
                </a:solidFill>
              </a:rPr>
              <a:t>CLOUD WORKLOAD PROTECTION READINESS ANALYZER</a:t>
            </a:r>
            <a:endParaRPr lang="en-US" sz="850" dirty="0"/>
          </a:p>
        </p:txBody>
      </p:sp>
      <p:sp>
        <p:nvSpPr>
          <p:cNvPr id="4" name="Text 2"/>
          <p:cNvSpPr/>
          <p:nvPr/>
        </p:nvSpPr>
        <p:spPr>
          <a:xfrm>
            <a:off x="8503920" y="6455664"/>
            <a:ext cx="2743200" cy="164592"/>
          </a:xfrm>
          <a:prstGeom prst="rect">
            <a:avLst/>
          </a:prstGeom>
          <a:noFill/>
          <a:ln/>
        </p:spPr>
        <p:txBody>
          <a:bodyPr wrap="square" lIns="0" tIns="0" rIns="0" bIns="0" rtlCol="0" anchor="ctr"/>
          <a:lstStyle/>
          <a:p>
            <a:pPr algn="r" indent="0" marL="0">
              <a:buNone/>
            </a:pPr>
            <a:r>
              <a:rPr lang="en-US" sz="850" dirty="0">
                <a:solidFill>
                  <a:srgbClr val="778897"/>
                </a:solidFill>
              </a:rPr>
              <a:t>PRODUCTION IMPLEMENTATION</a:t>
            </a:r>
            <a:endParaRPr lang="en-US" sz="850" dirty="0"/>
          </a:p>
        </p:txBody>
      </p:sp>
      <p:sp>
        <p:nvSpPr>
          <p:cNvPr id="5" name="Text 3"/>
          <p:cNvSpPr/>
          <p:nvPr/>
        </p:nvSpPr>
        <p:spPr>
          <a:xfrm>
            <a:off x="11475720" y="6437376"/>
            <a:ext cx="228600" cy="164592"/>
          </a:xfrm>
          <a:prstGeom prst="rect">
            <a:avLst/>
          </a:prstGeom>
          <a:noFill/>
          <a:ln/>
        </p:spPr>
        <p:txBody>
          <a:bodyPr wrap="square" lIns="0" tIns="0" rIns="0" bIns="0" rtlCol="0" anchor="ctr"/>
          <a:lstStyle/>
          <a:p>
            <a:pPr algn="r" indent="0" marL="0">
              <a:buNone/>
            </a:pPr>
            <a:r>
              <a:rPr lang="en-US" sz="850" dirty="0">
                <a:solidFill>
                  <a:srgbClr val="778897"/>
                </a:solidFill>
              </a:rPr>
              <a:t>11</a:t>
            </a:r>
            <a:endParaRPr lang="en-US" sz="850" dirty="0"/>
          </a:p>
        </p:txBody>
      </p:sp>
      <p:sp>
        <p:nvSpPr>
          <p:cNvPr id="6" name="Text 4"/>
          <p:cNvSpPr/>
          <p:nvPr/>
        </p:nvSpPr>
        <p:spPr>
          <a:xfrm>
            <a:off x="548640" y="310896"/>
            <a:ext cx="5029200" cy="219456"/>
          </a:xfrm>
          <a:prstGeom prst="rect">
            <a:avLst/>
          </a:prstGeom>
          <a:noFill/>
          <a:ln/>
        </p:spPr>
        <p:txBody>
          <a:bodyPr wrap="square" lIns="0" tIns="0" rIns="0" bIns="0" rtlCol="0" anchor="ctr"/>
          <a:lstStyle/>
          <a:p>
            <a:pPr indent="0" marL="0">
              <a:buNone/>
            </a:pPr>
            <a:r>
              <a:rPr lang="en-US" sz="1050" b="1" spc="160" kern="0" dirty="0">
                <a:solidFill>
                  <a:srgbClr val="0078D4"/>
                </a:solidFill>
              </a:rPr>
              <a:t>GO-LIVE CHECKLIST</a:t>
            </a:r>
            <a:endParaRPr lang="en-US" sz="1050" dirty="0"/>
          </a:p>
        </p:txBody>
      </p:sp>
      <p:sp>
        <p:nvSpPr>
          <p:cNvPr id="7" name="Text 5"/>
          <p:cNvSpPr/>
          <p:nvPr/>
        </p:nvSpPr>
        <p:spPr>
          <a:xfrm>
            <a:off x="548640" y="640080"/>
            <a:ext cx="11018520" cy="484632"/>
          </a:xfrm>
          <a:prstGeom prst="rect">
            <a:avLst/>
          </a:prstGeom>
          <a:noFill/>
          <a:ln/>
        </p:spPr>
        <p:txBody>
          <a:bodyPr wrap="square" lIns="0" tIns="0" rIns="0" bIns="0" rtlCol="0" anchor="ctr"/>
          <a:lstStyle/>
          <a:p>
            <a:pPr indent="0" marL="0">
              <a:buNone/>
            </a:pPr>
            <a:r>
              <a:rPr lang="en-US" sz="2900" b="1" dirty="0">
                <a:solidFill>
                  <a:srgbClr val="102A43"/>
                </a:solidFill>
              </a:rPr>
              <a:t>What remains before the new production architecture is operational</a:t>
            </a:r>
            <a:endParaRPr lang="en-US" sz="2900" dirty="0"/>
          </a:p>
        </p:txBody>
      </p:sp>
      <p:sp>
        <p:nvSpPr>
          <p:cNvPr id="8" name="Shape 6"/>
          <p:cNvSpPr/>
          <p:nvPr/>
        </p:nvSpPr>
        <p:spPr>
          <a:xfrm>
            <a:off x="658368" y="1417320"/>
            <a:ext cx="10881360" cy="932688"/>
          </a:xfrm>
          <a:prstGeom prst="roundRect">
            <a:avLst>
              <a:gd name="adj" fmla="val 5882"/>
            </a:avLst>
          </a:prstGeom>
          <a:solidFill>
            <a:srgbClr val="FFFFFF"/>
          </a:solidFill>
          <a:ln w="12700">
            <a:solidFill>
              <a:srgbClr val="D7E2EA"/>
            </a:solidFill>
            <a:prstDash val="solid"/>
          </a:ln>
        </p:spPr>
      </p:sp>
      <p:sp>
        <p:nvSpPr>
          <p:cNvPr id="9" name="Shape 7"/>
          <p:cNvSpPr/>
          <p:nvPr/>
        </p:nvSpPr>
        <p:spPr>
          <a:xfrm>
            <a:off x="877824" y="1591056"/>
            <a:ext cx="566928" cy="566928"/>
          </a:xfrm>
          <a:prstGeom prst="ellipse">
            <a:avLst/>
          </a:prstGeom>
          <a:solidFill>
            <a:srgbClr val="0078D4"/>
          </a:solidFill>
          <a:ln w="12700">
            <a:solidFill>
              <a:srgbClr val="0078D4"/>
            </a:solidFill>
            <a:prstDash val="solid"/>
          </a:ln>
        </p:spPr>
      </p:sp>
      <p:sp>
        <p:nvSpPr>
          <p:cNvPr id="10" name="Text 8"/>
          <p:cNvSpPr/>
          <p:nvPr/>
        </p:nvSpPr>
        <p:spPr>
          <a:xfrm>
            <a:off x="877824" y="1755648"/>
            <a:ext cx="566928" cy="18288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11" name="Text 9"/>
          <p:cNvSpPr/>
          <p:nvPr/>
        </p:nvSpPr>
        <p:spPr>
          <a:xfrm>
            <a:off x="1691640" y="1591056"/>
            <a:ext cx="2514600" cy="292608"/>
          </a:xfrm>
          <a:prstGeom prst="rect">
            <a:avLst/>
          </a:prstGeom>
          <a:noFill/>
          <a:ln/>
        </p:spPr>
        <p:txBody>
          <a:bodyPr wrap="square" lIns="0" tIns="0" rIns="0" bIns="0" rtlCol="0" anchor="ctr"/>
          <a:lstStyle/>
          <a:p>
            <a:pPr indent="0" marL="0">
              <a:buNone/>
            </a:pPr>
            <a:r>
              <a:rPr lang="en-US" sz="1650" b="1" dirty="0">
                <a:solidFill>
                  <a:srgbClr val="102A43"/>
                </a:solidFill>
              </a:rPr>
              <a:t>Create Entra registrations</a:t>
            </a:r>
            <a:endParaRPr lang="en-US" sz="1650" dirty="0"/>
          </a:p>
        </p:txBody>
      </p:sp>
      <p:sp>
        <p:nvSpPr>
          <p:cNvPr id="12" name="Text 10"/>
          <p:cNvSpPr/>
          <p:nvPr/>
        </p:nvSpPr>
        <p:spPr>
          <a:xfrm>
            <a:off x="4315968" y="1581912"/>
            <a:ext cx="6720840" cy="530352"/>
          </a:xfrm>
          <a:prstGeom prst="rect">
            <a:avLst/>
          </a:prstGeom>
          <a:noFill/>
          <a:ln/>
        </p:spPr>
        <p:txBody>
          <a:bodyPr wrap="square" lIns="0" tIns="0" rIns="0" bIns="0" rtlCol="0" anchor="ctr"/>
          <a:lstStyle/>
          <a:p>
            <a:pPr indent="0" marL="0">
              <a:buNone/>
            </a:pPr>
            <a:r>
              <a:rPr lang="en-US" sz="1280" dirty="0">
                <a:solidFill>
                  <a:srgbClr val="5D6B78"/>
                </a:solidFill>
              </a:rPr>
              <a:t>Create one app and credential per environment; add callback URLs after provisioning returns each host.</a:t>
            </a:r>
            <a:endParaRPr lang="en-US" sz="1280" dirty="0"/>
          </a:p>
        </p:txBody>
      </p:sp>
      <p:sp>
        <p:nvSpPr>
          <p:cNvPr id="13" name="Shape 11"/>
          <p:cNvSpPr/>
          <p:nvPr/>
        </p:nvSpPr>
        <p:spPr>
          <a:xfrm>
            <a:off x="658368" y="2615184"/>
            <a:ext cx="10881360" cy="932688"/>
          </a:xfrm>
          <a:prstGeom prst="roundRect">
            <a:avLst>
              <a:gd name="adj" fmla="val 5882"/>
            </a:avLst>
          </a:prstGeom>
          <a:solidFill>
            <a:srgbClr val="FFFFFF"/>
          </a:solidFill>
          <a:ln w="12700">
            <a:solidFill>
              <a:srgbClr val="D7E2EA"/>
            </a:solidFill>
            <a:prstDash val="solid"/>
          </a:ln>
        </p:spPr>
      </p:sp>
      <p:sp>
        <p:nvSpPr>
          <p:cNvPr id="14" name="Shape 12"/>
          <p:cNvSpPr/>
          <p:nvPr/>
        </p:nvSpPr>
        <p:spPr>
          <a:xfrm>
            <a:off x="877824" y="2788920"/>
            <a:ext cx="566928" cy="566928"/>
          </a:xfrm>
          <a:prstGeom prst="ellipse">
            <a:avLst/>
          </a:prstGeom>
          <a:solidFill>
            <a:srgbClr val="21B573"/>
          </a:solidFill>
          <a:ln w="12700">
            <a:solidFill>
              <a:srgbClr val="21B573"/>
            </a:solidFill>
            <a:prstDash val="solid"/>
          </a:ln>
        </p:spPr>
      </p:sp>
      <p:sp>
        <p:nvSpPr>
          <p:cNvPr id="15" name="Text 13"/>
          <p:cNvSpPr/>
          <p:nvPr/>
        </p:nvSpPr>
        <p:spPr>
          <a:xfrm>
            <a:off x="877824" y="2953512"/>
            <a:ext cx="566928" cy="18288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6" name="Text 14"/>
          <p:cNvSpPr/>
          <p:nvPr/>
        </p:nvSpPr>
        <p:spPr>
          <a:xfrm>
            <a:off x="1691640" y="2788920"/>
            <a:ext cx="2514600" cy="292608"/>
          </a:xfrm>
          <a:prstGeom prst="rect">
            <a:avLst/>
          </a:prstGeom>
          <a:noFill/>
          <a:ln/>
        </p:spPr>
        <p:txBody>
          <a:bodyPr wrap="square" lIns="0" tIns="0" rIns="0" bIns="0" rtlCol="0" anchor="ctr"/>
          <a:lstStyle/>
          <a:p>
            <a:pPr indent="0" marL="0">
              <a:buNone/>
            </a:pPr>
            <a:r>
              <a:rPr lang="en-US" sz="1650" b="1" dirty="0">
                <a:solidFill>
                  <a:srgbClr val="102A43"/>
                </a:solidFill>
              </a:rPr>
              <a:t>Azure validation passed</a:t>
            </a:r>
            <a:endParaRPr lang="en-US" sz="1650" dirty="0"/>
          </a:p>
        </p:txBody>
      </p:sp>
      <p:sp>
        <p:nvSpPr>
          <p:cNvPr id="17" name="Text 15"/>
          <p:cNvSpPr/>
          <p:nvPr/>
        </p:nvSpPr>
        <p:spPr>
          <a:xfrm>
            <a:off x="4315968" y="2779776"/>
            <a:ext cx="6720840" cy="530352"/>
          </a:xfrm>
          <a:prstGeom prst="rect">
            <a:avLst/>
          </a:prstGeom>
          <a:noFill/>
          <a:ln/>
        </p:spPr>
        <p:txBody>
          <a:bodyPr wrap="square" lIns="0" tIns="0" rIns="0" bIns="0" rtlCol="0" anchor="ctr"/>
          <a:lstStyle/>
          <a:p>
            <a:pPr indent="0" marL="0">
              <a:buNone/>
            </a:pPr>
            <a:r>
              <a:rPr lang="en-US" sz="1280" dirty="0">
                <a:solidFill>
                  <a:srgbClr val="5D6B78"/>
                </a:solidFill>
              </a:rPr>
              <a:t>Subscription preview, packaging, policy review, build, container, and RBAC checks completed.</a:t>
            </a:r>
            <a:endParaRPr lang="en-US" sz="1280" dirty="0"/>
          </a:p>
        </p:txBody>
      </p:sp>
      <p:sp>
        <p:nvSpPr>
          <p:cNvPr id="18" name="Shape 16"/>
          <p:cNvSpPr/>
          <p:nvPr/>
        </p:nvSpPr>
        <p:spPr>
          <a:xfrm>
            <a:off x="658368" y="3813048"/>
            <a:ext cx="10881360" cy="932688"/>
          </a:xfrm>
          <a:prstGeom prst="roundRect">
            <a:avLst>
              <a:gd name="adj" fmla="val 5882"/>
            </a:avLst>
          </a:prstGeom>
          <a:solidFill>
            <a:srgbClr val="FFFFFF"/>
          </a:solidFill>
          <a:ln w="12700">
            <a:solidFill>
              <a:srgbClr val="D7E2EA"/>
            </a:solidFill>
            <a:prstDash val="solid"/>
          </a:ln>
        </p:spPr>
      </p:sp>
      <p:sp>
        <p:nvSpPr>
          <p:cNvPr id="19" name="Shape 17"/>
          <p:cNvSpPr/>
          <p:nvPr/>
        </p:nvSpPr>
        <p:spPr>
          <a:xfrm>
            <a:off x="877824" y="3986784"/>
            <a:ext cx="566928" cy="566928"/>
          </a:xfrm>
          <a:prstGeom prst="ellipse">
            <a:avLst/>
          </a:prstGeom>
          <a:solidFill>
            <a:srgbClr val="F59E0B"/>
          </a:solidFill>
          <a:ln w="12700">
            <a:solidFill>
              <a:srgbClr val="F59E0B"/>
            </a:solidFill>
            <a:prstDash val="solid"/>
          </a:ln>
        </p:spPr>
      </p:sp>
      <p:sp>
        <p:nvSpPr>
          <p:cNvPr id="20" name="Text 18"/>
          <p:cNvSpPr/>
          <p:nvPr/>
        </p:nvSpPr>
        <p:spPr>
          <a:xfrm>
            <a:off x="877824" y="4151376"/>
            <a:ext cx="566928" cy="18288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21" name="Text 19"/>
          <p:cNvSpPr/>
          <p:nvPr/>
        </p:nvSpPr>
        <p:spPr>
          <a:xfrm>
            <a:off x="1691640" y="3986784"/>
            <a:ext cx="2514600" cy="292608"/>
          </a:xfrm>
          <a:prstGeom prst="rect">
            <a:avLst/>
          </a:prstGeom>
          <a:noFill/>
          <a:ln/>
        </p:spPr>
        <p:txBody>
          <a:bodyPr wrap="square" lIns="0" tIns="0" rIns="0" bIns="0" rtlCol="0" anchor="ctr"/>
          <a:lstStyle/>
          <a:p>
            <a:pPr indent="0" marL="0">
              <a:buNone/>
            </a:pPr>
            <a:r>
              <a:rPr lang="en-US" sz="1650" b="1" dirty="0">
                <a:solidFill>
                  <a:srgbClr val="102A43"/>
                </a:solidFill>
              </a:rPr>
              <a:t>Deploy and verify dev</a:t>
            </a:r>
            <a:endParaRPr lang="en-US" sz="1650" dirty="0"/>
          </a:p>
        </p:txBody>
      </p:sp>
      <p:sp>
        <p:nvSpPr>
          <p:cNvPr id="22" name="Text 20"/>
          <p:cNvSpPr/>
          <p:nvPr/>
        </p:nvSpPr>
        <p:spPr>
          <a:xfrm>
            <a:off x="4315968" y="3977640"/>
            <a:ext cx="6720840" cy="530352"/>
          </a:xfrm>
          <a:prstGeom prst="rect">
            <a:avLst/>
          </a:prstGeom>
          <a:noFill/>
          <a:ln/>
        </p:spPr>
        <p:txBody>
          <a:bodyPr wrap="square" lIns="0" tIns="0" rIns="0" bIns="0" rtlCol="0" anchor="ctr"/>
          <a:lstStyle/>
          <a:p>
            <a:pPr indent="0" marL="0">
              <a:buNone/>
            </a:pPr>
            <a:r>
              <a:rPr lang="en-US" sz="1280" dirty="0">
                <a:solidFill>
                  <a:srgbClr val="5D6B78"/>
                </a:solidFill>
              </a:rPr>
              <a:t>Provision private architecture, deploy immutable image, validate authenticated workflows and telemetry.</a:t>
            </a:r>
            <a:endParaRPr lang="en-US" sz="1280" dirty="0"/>
          </a:p>
        </p:txBody>
      </p:sp>
      <p:sp>
        <p:nvSpPr>
          <p:cNvPr id="23" name="Shape 21"/>
          <p:cNvSpPr/>
          <p:nvPr/>
        </p:nvSpPr>
        <p:spPr>
          <a:xfrm>
            <a:off x="658368" y="5010912"/>
            <a:ext cx="10881360" cy="932688"/>
          </a:xfrm>
          <a:prstGeom prst="roundRect">
            <a:avLst>
              <a:gd name="adj" fmla="val 5882"/>
            </a:avLst>
          </a:prstGeom>
          <a:solidFill>
            <a:srgbClr val="FFFFFF"/>
          </a:solidFill>
          <a:ln w="12700">
            <a:solidFill>
              <a:srgbClr val="D7E2EA"/>
            </a:solidFill>
            <a:prstDash val="solid"/>
          </a:ln>
        </p:spPr>
      </p:sp>
      <p:sp>
        <p:nvSpPr>
          <p:cNvPr id="24" name="Shape 22"/>
          <p:cNvSpPr/>
          <p:nvPr/>
        </p:nvSpPr>
        <p:spPr>
          <a:xfrm>
            <a:off x="877824" y="5184648"/>
            <a:ext cx="566928" cy="566928"/>
          </a:xfrm>
          <a:prstGeom prst="ellipse">
            <a:avLst/>
          </a:prstGeom>
          <a:solidFill>
            <a:srgbClr val="DC5A4A"/>
          </a:solidFill>
          <a:ln w="12700">
            <a:solidFill>
              <a:srgbClr val="DC5A4A"/>
            </a:solidFill>
            <a:prstDash val="solid"/>
          </a:ln>
        </p:spPr>
      </p:sp>
      <p:sp>
        <p:nvSpPr>
          <p:cNvPr id="25" name="Text 23"/>
          <p:cNvSpPr/>
          <p:nvPr/>
        </p:nvSpPr>
        <p:spPr>
          <a:xfrm>
            <a:off x="877824" y="5349240"/>
            <a:ext cx="566928" cy="18288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26" name="Text 24"/>
          <p:cNvSpPr/>
          <p:nvPr/>
        </p:nvSpPr>
        <p:spPr>
          <a:xfrm>
            <a:off x="1691640" y="5184648"/>
            <a:ext cx="2514600" cy="292608"/>
          </a:xfrm>
          <a:prstGeom prst="rect">
            <a:avLst/>
          </a:prstGeom>
          <a:noFill/>
          <a:ln/>
        </p:spPr>
        <p:txBody>
          <a:bodyPr wrap="square" lIns="0" tIns="0" rIns="0" bIns="0" rtlCol="0" anchor="ctr"/>
          <a:lstStyle/>
          <a:p>
            <a:pPr indent="0" marL="0">
              <a:buNone/>
            </a:pPr>
            <a:r>
              <a:rPr lang="en-US" sz="1650" b="1" dirty="0">
                <a:solidFill>
                  <a:srgbClr val="102A43"/>
                </a:solidFill>
              </a:rPr>
              <a:t>Promote to prod</a:t>
            </a:r>
            <a:endParaRPr lang="en-US" sz="1650" dirty="0"/>
          </a:p>
        </p:txBody>
      </p:sp>
      <p:sp>
        <p:nvSpPr>
          <p:cNvPr id="27" name="Text 25"/>
          <p:cNvSpPr/>
          <p:nvPr/>
        </p:nvSpPr>
        <p:spPr>
          <a:xfrm>
            <a:off x="4315968" y="5175504"/>
            <a:ext cx="6720840" cy="530352"/>
          </a:xfrm>
          <a:prstGeom prst="rect">
            <a:avLst/>
          </a:prstGeom>
          <a:noFill/>
          <a:ln/>
        </p:spPr>
        <p:txBody>
          <a:bodyPr wrap="square" lIns="0" tIns="0" rIns="0" bIns="0" rtlCol="0" anchor="ctr"/>
          <a:lstStyle/>
          <a:p>
            <a:pPr indent="0" marL="0">
              <a:buNone/>
            </a:pPr>
            <a:r>
              <a:rPr lang="en-US" sz="1280" dirty="0">
                <a:solidFill>
                  <a:srgbClr val="5D6B78"/>
                </a:solidFill>
              </a:rPr>
              <a:t>Approve production environment, deploy the same image SHA, test rollback and alert routing.</a:t>
            </a:r>
            <a:endParaRPr lang="en-US" sz="1280" dirty="0"/>
          </a:p>
        </p:txBody>
      </p:sp>
      <p:sp>
        <p:nvSpPr>
          <p:cNvPr id="28" name="Text 26"/>
          <p:cNvSpPr/>
          <p:nvPr/>
        </p:nvSpPr>
        <p:spPr>
          <a:xfrm>
            <a:off x="1828800" y="5961888"/>
            <a:ext cx="8503920" cy="274320"/>
          </a:xfrm>
          <a:prstGeom prst="rect">
            <a:avLst/>
          </a:prstGeom>
          <a:noFill/>
          <a:ln/>
        </p:spPr>
        <p:txBody>
          <a:bodyPr wrap="square" lIns="0" tIns="0" rIns="0" bIns="0" rtlCol="0" anchor="ctr"/>
          <a:lstStyle/>
          <a:p>
            <a:pPr algn="ctr" indent="0" marL="0">
              <a:buNone/>
            </a:pPr>
            <a:r>
              <a:rPr lang="en-US" sz="1400" b="1" dirty="0">
                <a:solidFill>
                  <a:srgbClr val="163B59"/>
                </a:solidFill>
              </a:rPr>
              <a:t>The remaining work is tenant- and environment-specific execution—not missing core implementation.</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F7FA"/>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78D4"/>
          </a:solidFill>
          <a:ln w="12700">
            <a:solidFill>
              <a:srgbClr val="0078D4"/>
            </a:solidFill>
            <a:prstDash val="solid"/>
          </a:ln>
        </p:spPr>
      </p:sp>
      <p:sp>
        <p:nvSpPr>
          <p:cNvPr id="3" name="Text 1"/>
          <p:cNvSpPr/>
          <p:nvPr/>
        </p:nvSpPr>
        <p:spPr>
          <a:xfrm>
            <a:off x="502920" y="6455664"/>
            <a:ext cx="4389120" cy="164592"/>
          </a:xfrm>
          <a:prstGeom prst="rect">
            <a:avLst/>
          </a:prstGeom>
          <a:noFill/>
          <a:ln/>
        </p:spPr>
        <p:txBody>
          <a:bodyPr wrap="square" lIns="0" tIns="0" rIns="0" bIns="0" rtlCol="0" anchor="ctr"/>
          <a:lstStyle/>
          <a:p>
            <a:pPr indent="0" marL="0">
              <a:buNone/>
            </a:pPr>
            <a:r>
              <a:rPr lang="en-US" sz="850" spc="100" kern="0" dirty="0">
                <a:solidFill>
                  <a:srgbClr val="778897"/>
                </a:solidFill>
              </a:rPr>
              <a:t>CLOUD WORKLOAD PROTECTION READINESS ANALYZER</a:t>
            </a:r>
            <a:endParaRPr lang="en-US" sz="850" dirty="0"/>
          </a:p>
        </p:txBody>
      </p:sp>
      <p:sp>
        <p:nvSpPr>
          <p:cNvPr id="4" name="Text 2"/>
          <p:cNvSpPr/>
          <p:nvPr/>
        </p:nvSpPr>
        <p:spPr>
          <a:xfrm>
            <a:off x="8503920" y="6455664"/>
            <a:ext cx="2743200" cy="164592"/>
          </a:xfrm>
          <a:prstGeom prst="rect">
            <a:avLst/>
          </a:prstGeom>
          <a:noFill/>
          <a:ln/>
        </p:spPr>
        <p:txBody>
          <a:bodyPr wrap="square" lIns="0" tIns="0" rIns="0" bIns="0" rtlCol="0" anchor="ctr"/>
          <a:lstStyle/>
          <a:p>
            <a:pPr algn="r" indent="0" marL="0">
              <a:buNone/>
            </a:pPr>
            <a:r>
              <a:rPr lang="en-US" sz="850" dirty="0">
                <a:solidFill>
                  <a:srgbClr val="778897"/>
                </a:solidFill>
              </a:rPr>
              <a:t>PRODUCTION IMPLEMENTATION</a:t>
            </a:r>
            <a:endParaRPr lang="en-US" sz="850" dirty="0"/>
          </a:p>
        </p:txBody>
      </p:sp>
      <p:sp>
        <p:nvSpPr>
          <p:cNvPr id="5" name="Text 3"/>
          <p:cNvSpPr/>
          <p:nvPr/>
        </p:nvSpPr>
        <p:spPr>
          <a:xfrm>
            <a:off x="11475720" y="6437376"/>
            <a:ext cx="228600" cy="164592"/>
          </a:xfrm>
          <a:prstGeom prst="rect">
            <a:avLst/>
          </a:prstGeom>
          <a:noFill/>
          <a:ln/>
        </p:spPr>
        <p:txBody>
          <a:bodyPr wrap="square" lIns="0" tIns="0" rIns="0" bIns="0" rtlCol="0" anchor="ctr"/>
          <a:lstStyle/>
          <a:p>
            <a:pPr algn="r" indent="0" marL="0">
              <a:buNone/>
            </a:pPr>
            <a:r>
              <a:rPr lang="en-US" sz="850" dirty="0">
                <a:solidFill>
                  <a:srgbClr val="778897"/>
                </a:solidFill>
              </a:rPr>
              <a:t>12</a:t>
            </a:r>
            <a:endParaRPr lang="en-US" sz="850" dirty="0"/>
          </a:p>
        </p:txBody>
      </p:sp>
      <p:sp>
        <p:nvSpPr>
          <p:cNvPr id="6" name="Text 4"/>
          <p:cNvSpPr/>
          <p:nvPr/>
        </p:nvSpPr>
        <p:spPr>
          <a:xfrm>
            <a:off x="548640" y="310896"/>
            <a:ext cx="5029200" cy="219456"/>
          </a:xfrm>
          <a:prstGeom prst="rect">
            <a:avLst/>
          </a:prstGeom>
          <a:noFill/>
          <a:ln/>
        </p:spPr>
        <p:txBody>
          <a:bodyPr wrap="square" lIns="0" tIns="0" rIns="0" bIns="0" rtlCol="0" anchor="ctr"/>
          <a:lstStyle/>
          <a:p>
            <a:pPr indent="0" marL="0">
              <a:buNone/>
            </a:pPr>
            <a:r>
              <a:rPr lang="en-US" sz="1050" b="1" spc="160" kern="0" dirty="0">
                <a:solidFill>
                  <a:srgbClr val="0078D4"/>
                </a:solidFill>
              </a:rPr>
              <a:t>FUTURE ENHANCEMENTS</a:t>
            </a:r>
            <a:endParaRPr lang="en-US" sz="1050" dirty="0"/>
          </a:p>
        </p:txBody>
      </p:sp>
      <p:sp>
        <p:nvSpPr>
          <p:cNvPr id="7" name="Text 5"/>
          <p:cNvSpPr/>
          <p:nvPr/>
        </p:nvSpPr>
        <p:spPr>
          <a:xfrm>
            <a:off x="548640" y="640080"/>
            <a:ext cx="11018520" cy="484632"/>
          </a:xfrm>
          <a:prstGeom prst="rect">
            <a:avLst/>
          </a:prstGeom>
          <a:noFill/>
          <a:ln/>
        </p:spPr>
        <p:txBody>
          <a:bodyPr wrap="square" lIns="0" tIns="0" rIns="0" bIns="0" rtlCol="0" anchor="ctr"/>
          <a:lstStyle/>
          <a:p>
            <a:pPr indent="0" marL="0">
              <a:buNone/>
            </a:pPr>
            <a:r>
              <a:rPr lang="en-US" sz="2900" b="1" dirty="0">
                <a:solidFill>
                  <a:srgbClr val="102A43"/>
                </a:solidFill>
              </a:rPr>
              <a:t>Extend depth, coverage, governance, and user value</a:t>
            </a:r>
            <a:endParaRPr lang="en-US" sz="2900" dirty="0"/>
          </a:p>
        </p:txBody>
      </p:sp>
      <p:sp>
        <p:nvSpPr>
          <p:cNvPr id="8" name="Shape 6"/>
          <p:cNvSpPr/>
          <p:nvPr/>
        </p:nvSpPr>
        <p:spPr>
          <a:xfrm>
            <a:off x="621792" y="1508760"/>
            <a:ext cx="3429000" cy="4343400"/>
          </a:xfrm>
          <a:prstGeom prst="roundRect">
            <a:avLst>
              <a:gd name="adj" fmla="val 2133"/>
            </a:avLst>
          </a:prstGeom>
          <a:solidFill>
            <a:srgbClr val="E7F4FC"/>
          </a:solidFill>
          <a:ln w="19050">
            <a:solidFill>
              <a:srgbClr val="0078D4"/>
            </a:solidFill>
            <a:prstDash val="solid"/>
          </a:ln>
        </p:spPr>
      </p:sp>
      <p:sp>
        <p:nvSpPr>
          <p:cNvPr id="9" name="Shape 7"/>
          <p:cNvSpPr/>
          <p:nvPr/>
        </p:nvSpPr>
        <p:spPr>
          <a:xfrm>
            <a:off x="1033272" y="1847088"/>
            <a:ext cx="1508760" cy="347472"/>
          </a:xfrm>
          <a:prstGeom prst="roundRect">
            <a:avLst>
              <a:gd name="adj" fmla="val 26316"/>
            </a:avLst>
          </a:prstGeom>
          <a:solidFill>
            <a:srgbClr val="0078D4"/>
          </a:solidFill>
          <a:ln w="12700">
            <a:solidFill>
              <a:srgbClr val="0078D4"/>
            </a:solidFill>
            <a:prstDash val="solid"/>
          </a:ln>
        </p:spPr>
      </p:sp>
      <p:sp>
        <p:nvSpPr>
          <p:cNvPr id="10" name="Text 8"/>
          <p:cNvSpPr/>
          <p:nvPr/>
        </p:nvSpPr>
        <p:spPr>
          <a:xfrm>
            <a:off x="1033272" y="1897380"/>
            <a:ext cx="1508760" cy="201168"/>
          </a:xfrm>
          <a:prstGeom prst="rect">
            <a:avLst/>
          </a:prstGeom>
          <a:noFill/>
          <a:ln/>
        </p:spPr>
        <p:txBody>
          <a:bodyPr wrap="square" lIns="0" tIns="0" rIns="0" bIns="0" rtlCol="0" anchor="ctr"/>
          <a:lstStyle/>
          <a:p>
            <a:pPr algn="ctr" indent="0" marL="0">
              <a:buNone/>
            </a:pPr>
            <a:r>
              <a:rPr lang="en-US" sz="1050" b="1" dirty="0">
                <a:solidFill>
                  <a:srgbClr val="FFFFFF"/>
                </a:solidFill>
              </a:rPr>
              <a:t>NEAR TERM</a:t>
            </a:r>
            <a:endParaRPr lang="en-US" sz="1050" dirty="0"/>
          </a:p>
        </p:txBody>
      </p:sp>
      <p:sp>
        <p:nvSpPr>
          <p:cNvPr id="11" name="Text 9"/>
          <p:cNvSpPr/>
          <p:nvPr/>
        </p:nvSpPr>
        <p:spPr>
          <a:xfrm>
            <a:off x="969264" y="2743200"/>
            <a:ext cx="2743200" cy="2194560"/>
          </a:xfrm>
          <a:prstGeom prst="rect">
            <a:avLst/>
          </a:prstGeom>
          <a:noFill/>
          <a:ln/>
        </p:spPr>
        <p:txBody>
          <a:bodyPr wrap="square" lIns="0" tIns="0" rIns="0" bIns="0" rtlCol="0" anchor="t"/>
          <a:lstStyle/>
          <a:p>
            <a:pPr indent="0" marL="0">
              <a:buNone/>
            </a:pPr>
            <a:r>
              <a:rPr lang="en-US" sz="1600" dirty="0">
                <a:solidFill>
                  <a:srgbClr val="203040"/>
                </a:solidFill>
              </a:rPr>
              <a:t>Authenticated multi-file editor</a:t>
            </a:r>
            <a:endParaRPr lang="en-US" sz="1600" dirty="0"/>
          </a:p>
          <a:p>
            <a:pPr indent="0" marL="0">
              <a:buNone/>
            </a:pPr>
            <a:r>
              <a:rPr lang="en-US" sz="1600" dirty="0">
                <a:solidFill>
                  <a:srgbClr val="203040"/>
                </a:solidFill>
              </a:rPr>
              <a:t>Rule evidence deep links</a:t>
            </a:r>
            <a:endParaRPr lang="en-US" sz="1600" dirty="0"/>
          </a:p>
          <a:p>
            <a:pPr indent="0" marL="0">
              <a:buNone/>
            </a:pPr>
            <a:r>
              <a:rPr lang="en-US" sz="1600" dirty="0">
                <a:solidFill>
                  <a:srgbClr val="203040"/>
                </a:solidFill>
              </a:rPr>
              <a:t>Policy mapping</a:t>
            </a:r>
            <a:endParaRPr lang="en-US" sz="1600" dirty="0"/>
          </a:p>
          <a:p>
            <a:pPr indent="0" marL="0">
              <a:buNone/>
            </a:pPr>
            <a:r>
              <a:rPr lang="en-US" sz="1600" dirty="0">
                <a:solidFill>
                  <a:srgbClr val="203040"/>
                </a:solidFill>
              </a:rPr>
              <a:t>Performance baselines</a:t>
            </a:r>
            <a:endParaRPr lang="en-US" sz="1600" dirty="0"/>
          </a:p>
        </p:txBody>
      </p:sp>
      <p:sp>
        <p:nvSpPr>
          <p:cNvPr id="12" name="Shape 10"/>
          <p:cNvSpPr/>
          <p:nvPr/>
        </p:nvSpPr>
        <p:spPr>
          <a:xfrm>
            <a:off x="4443984" y="1508760"/>
            <a:ext cx="3429000" cy="4343400"/>
          </a:xfrm>
          <a:prstGeom prst="roundRect">
            <a:avLst>
              <a:gd name="adj" fmla="val 2133"/>
            </a:avLst>
          </a:prstGeom>
          <a:solidFill>
            <a:srgbClr val="E5F7F2"/>
          </a:solidFill>
          <a:ln w="19050">
            <a:solidFill>
              <a:srgbClr val="008C83"/>
            </a:solidFill>
            <a:prstDash val="solid"/>
          </a:ln>
        </p:spPr>
      </p:sp>
      <p:sp>
        <p:nvSpPr>
          <p:cNvPr id="13" name="Shape 11"/>
          <p:cNvSpPr/>
          <p:nvPr/>
        </p:nvSpPr>
        <p:spPr>
          <a:xfrm>
            <a:off x="4855464" y="1847088"/>
            <a:ext cx="1508760" cy="347472"/>
          </a:xfrm>
          <a:prstGeom prst="roundRect">
            <a:avLst>
              <a:gd name="adj" fmla="val 26316"/>
            </a:avLst>
          </a:prstGeom>
          <a:solidFill>
            <a:srgbClr val="008C83"/>
          </a:solidFill>
          <a:ln w="12700">
            <a:solidFill>
              <a:srgbClr val="008C83"/>
            </a:solidFill>
            <a:prstDash val="solid"/>
          </a:ln>
        </p:spPr>
      </p:sp>
      <p:sp>
        <p:nvSpPr>
          <p:cNvPr id="14" name="Text 12"/>
          <p:cNvSpPr/>
          <p:nvPr/>
        </p:nvSpPr>
        <p:spPr>
          <a:xfrm>
            <a:off x="4855464" y="1897380"/>
            <a:ext cx="1508760" cy="201168"/>
          </a:xfrm>
          <a:prstGeom prst="rect">
            <a:avLst/>
          </a:prstGeom>
          <a:noFill/>
          <a:ln/>
        </p:spPr>
        <p:txBody>
          <a:bodyPr wrap="square" lIns="0" tIns="0" rIns="0" bIns="0" rtlCol="0" anchor="ctr"/>
          <a:lstStyle/>
          <a:p>
            <a:pPr algn="ctr" indent="0" marL="0">
              <a:buNone/>
            </a:pPr>
            <a:r>
              <a:rPr lang="en-US" sz="1050" b="1" dirty="0">
                <a:solidFill>
                  <a:srgbClr val="FFFFFF"/>
                </a:solidFill>
              </a:rPr>
              <a:t>NEXT</a:t>
            </a:r>
            <a:endParaRPr lang="en-US" sz="1050" dirty="0"/>
          </a:p>
        </p:txBody>
      </p:sp>
      <p:sp>
        <p:nvSpPr>
          <p:cNvPr id="15" name="Text 13"/>
          <p:cNvSpPr/>
          <p:nvPr/>
        </p:nvSpPr>
        <p:spPr>
          <a:xfrm>
            <a:off x="4791456" y="2743200"/>
            <a:ext cx="2743200" cy="2194560"/>
          </a:xfrm>
          <a:prstGeom prst="rect">
            <a:avLst/>
          </a:prstGeom>
          <a:noFill/>
          <a:ln/>
        </p:spPr>
        <p:txBody>
          <a:bodyPr wrap="square" lIns="0" tIns="0" rIns="0" bIns="0" rtlCol="0" anchor="t"/>
          <a:lstStyle/>
          <a:p>
            <a:pPr indent="0" marL="0">
              <a:buNone/>
            </a:pPr>
            <a:r>
              <a:rPr lang="en-US" sz="1600" dirty="0">
                <a:solidFill>
                  <a:srgbClr val="203040"/>
                </a:solidFill>
              </a:rPr>
              <a:t>Azure Verified Module awareness</a:t>
            </a:r>
            <a:endParaRPr lang="en-US" sz="1600" dirty="0"/>
          </a:p>
          <a:p>
            <a:pPr indent="0" marL="0">
              <a:buNone/>
            </a:pPr>
            <a:r>
              <a:rPr lang="en-US" sz="1600" dirty="0">
                <a:solidFill>
                  <a:srgbClr val="203040"/>
                </a:solidFill>
              </a:rPr>
              <a:t>SARIF export</a:t>
            </a:r>
            <a:endParaRPr lang="en-US" sz="1600" dirty="0"/>
          </a:p>
          <a:p>
            <a:pPr indent="0" marL="0">
              <a:buNone/>
            </a:pPr>
            <a:r>
              <a:rPr lang="en-US" sz="1600" dirty="0">
                <a:solidFill>
                  <a:srgbClr val="203040"/>
                </a:solidFill>
              </a:rPr>
              <a:t>Rule packs by workload</a:t>
            </a:r>
            <a:endParaRPr lang="en-US" sz="1600" dirty="0"/>
          </a:p>
          <a:p>
            <a:pPr indent="0" marL="0">
              <a:buNone/>
            </a:pPr>
            <a:r>
              <a:rPr lang="en-US" sz="1600" dirty="0">
                <a:solidFill>
                  <a:srgbClr val="203040"/>
                </a:solidFill>
              </a:rPr>
              <a:t>Custom organization policies</a:t>
            </a:r>
            <a:endParaRPr lang="en-US" sz="1600" dirty="0"/>
          </a:p>
        </p:txBody>
      </p:sp>
      <p:sp>
        <p:nvSpPr>
          <p:cNvPr id="16" name="Shape 14"/>
          <p:cNvSpPr/>
          <p:nvPr/>
        </p:nvSpPr>
        <p:spPr>
          <a:xfrm>
            <a:off x="8266176" y="1508760"/>
            <a:ext cx="3429000" cy="4343400"/>
          </a:xfrm>
          <a:prstGeom prst="roundRect">
            <a:avLst>
              <a:gd name="adj" fmla="val 2133"/>
            </a:avLst>
          </a:prstGeom>
          <a:solidFill>
            <a:srgbClr val="FFF4DB"/>
          </a:solidFill>
          <a:ln w="19050">
            <a:solidFill>
              <a:srgbClr val="F59E0B"/>
            </a:solidFill>
            <a:prstDash val="solid"/>
          </a:ln>
        </p:spPr>
      </p:sp>
      <p:sp>
        <p:nvSpPr>
          <p:cNvPr id="17" name="Shape 15"/>
          <p:cNvSpPr/>
          <p:nvPr/>
        </p:nvSpPr>
        <p:spPr>
          <a:xfrm>
            <a:off x="8677656" y="1847088"/>
            <a:ext cx="1508760" cy="347472"/>
          </a:xfrm>
          <a:prstGeom prst="roundRect">
            <a:avLst>
              <a:gd name="adj" fmla="val 26316"/>
            </a:avLst>
          </a:prstGeom>
          <a:solidFill>
            <a:srgbClr val="F59E0B"/>
          </a:solidFill>
          <a:ln w="12700">
            <a:solidFill>
              <a:srgbClr val="F59E0B"/>
            </a:solidFill>
            <a:prstDash val="solid"/>
          </a:ln>
        </p:spPr>
      </p:sp>
      <p:sp>
        <p:nvSpPr>
          <p:cNvPr id="18" name="Text 16"/>
          <p:cNvSpPr/>
          <p:nvPr/>
        </p:nvSpPr>
        <p:spPr>
          <a:xfrm>
            <a:off x="8677656" y="1897380"/>
            <a:ext cx="1508760" cy="201168"/>
          </a:xfrm>
          <a:prstGeom prst="rect">
            <a:avLst/>
          </a:prstGeom>
          <a:noFill/>
          <a:ln/>
        </p:spPr>
        <p:txBody>
          <a:bodyPr wrap="square" lIns="0" tIns="0" rIns="0" bIns="0" rtlCol="0" anchor="ctr"/>
          <a:lstStyle/>
          <a:p>
            <a:pPr algn="ctr" indent="0" marL="0">
              <a:buNone/>
            </a:pPr>
            <a:r>
              <a:rPr lang="en-US" sz="1050" b="1" dirty="0">
                <a:solidFill>
                  <a:srgbClr val="FFFFFF"/>
                </a:solidFill>
              </a:rPr>
              <a:t>LONGER TERM</a:t>
            </a:r>
            <a:endParaRPr lang="en-US" sz="1050" dirty="0"/>
          </a:p>
        </p:txBody>
      </p:sp>
      <p:sp>
        <p:nvSpPr>
          <p:cNvPr id="19" name="Text 17"/>
          <p:cNvSpPr/>
          <p:nvPr/>
        </p:nvSpPr>
        <p:spPr>
          <a:xfrm>
            <a:off x="8613648" y="2743200"/>
            <a:ext cx="2743200" cy="2194560"/>
          </a:xfrm>
          <a:prstGeom prst="rect">
            <a:avLst/>
          </a:prstGeom>
          <a:noFill/>
          <a:ln/>
        </p:spPr>
        <p:txBody>
          <a:bodyPr wrap="square" lIns="0" tIns="0" rIns="0" bIns="0" rtlCol="0" anchor="t"/>
          <a:lstStyle/>
          <a:p>
            <a:pPr indent="0" marL="0">
              <a:buNone/>
            </a:pPr>
            <a:r>
              <a:rPr lang="en-US" sz="1600" dirty="0">
                <a:solidFill>
                  <a:srgbClr val="203040"/>
                </a:solidFill>
              </a:rPr>
              <a:t>Deployed-state comparison</a:t>
            </a:r>
            <a:endParaRPr lang="en-US" sz="1600" dirty="0"/>
          </a:p>
          <a:p>
            <a:pPr indent="0" marL="0">
              <a:buNone/>
            </a:pPr>
            <a:r>
              <a:rPr lang="en-US" sz="1600" dirty="0">
                <a:solidFill>
                  <a:srgbClr val="203040"/>
                </a:solidFill>
              </a:rPr>
              <a:t>Defender for Cloud correlation</a:t>
            </a:r>
            <a:endParaRPr lang="en-US" sz="1600" dirty="0"/>
          </a:p>
          <a:p>
            <a:pPr indent="0" marL="0">
              <a:buNone/>
            </a:pPr>
            <a:r>
              <a:rPr lang="en-US" sz="1600" dirty="0">
                <a:solidFill>
                  <a:srgbClr val="203040"/>
                </a:solidFill>
              </a:rPr>
              <a:t>AI-assisted remediation PRs</a:t>
            </a:r>
            <a:endParaRPr lang="en-US" sz="1600" dirty="0"/>
          </a:p>
          <a:p>
            <a:pPr indent="0" marL="0">
              <a:buNone/>
            </a:pPr>
            <a:r>
              <a:rPr lang="en-US" sz="1600" dirty="0">
                <a:solidFill>
                  <a:srgbClr val="203040"/>
                </a:solidFill>
              </a:rPr>
              <a:t>Enterprise reporting</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F7FA"/>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78D4"/>
          </a:solidFill>
          <a:ln w="12700">
            <a:solidFill>
              <a:srgbClr val="0078D4"/>
            </a:solidFill>
            <a:prstDash val="solid"/>
          </a:ln>
        </p:spPr>
      </p:sp>
      <p:sp>
        <p:nvSpPr>
          <p:cNvPr id="3" name="Text 1"/>
          <p:cNvSpPr/>
          <p:nvPr/>
        </p:nvSpPr>
        <p:spPr>
          <a:xfrm>
            <a:off x="502920" y="6455664"/>
            <a:ext cx="4389120" cy="164592"/>
          </a:xfrm>
          <a:prstGeom prst="rect">
            <a:avLst/>
          </a:prstGeom>
          <a:noFill/>
          <a:ln/>
        </p:spPr>
        <p:txBody>
          <a:bodyPr wrap="square" lIns="0" tIns="0" rIns="0" bIns="0" rtlCol="0" anchor="ctr"/>
          <a:lstStyle/>
          <a:p>
            <a:pPr indent="0" marL="0">
              <a:buNone/>
            </a:pPr>
            <a:r>
              <a:rPr lang="en-US" sz="850" spc="100" kern="0" dirty="0">
                <a:solidFill>
                  <a:srgbClr val="778897"/>
                </a:solidFill>
              </a:rPr>
              <a:t>CLOUD WORKLOAD PROTECTION READINESS ANALYZER</a:t>
            </a:r>
            <a:endParaRPr lang="en-US" sz="850" dirty="0"/>
          </a:p>
        </p:txBody>
      </p:sp>
      <p:sp>
        <p:nvSpPr>
          <p:cNvPr id="4" name="Text 2"/>
          <p:cNvSpPr/>
          <p:nvPr/>
        </p:nvSpPr>
        <p:spPr>
          <a:xfrm>
            <a:off x="8503920" y="6455664"/>
            <a:ext cx="2743200" cy="164592"/>
          </a:xfrm>
          <a:prstGeom prst="rect">
            <a:avLst/>
          </a:prstGeom>
          <a:noFill/>
          <a:ln/>
        </p:spPr>
        <p:txBody>
          <a:bodyPr wrap="square" lIns="0" tIns="0" rIns="0" bIns="0" rtlCol="0" anchor="ctr"/>
          <a:lstStyle/>
          <a:p>
            <a:pPr algn="r" indent="0" marL="0">
              <a:buNone/>
            </a:pPr>
            <a:r>
              <a:rPr lang="en-US" sz="850" dirty="0">
                <a:solidFill>
                  <a:srgbClr val="778897"/>
                </a:solidFill>
              </a:rPr>
              <a:t>PRODUCTION IMPLEMENTATION</a:t>
            </a:r>
            <a:endParaRPr lang="en-US" sz="850" dirty="0"/>
          </a:p>
        </p:txBody>
      </p:sp>
      <p:sp>
        <p:nvSpPr>
          <p:cNvPr id="5" name="Text 3"/>
          <p:cNvSpPr/>
          <p:nvPr/>
        </p:nvSpPr>
        <p:spPr>
          <a:xfrm>
            <a:off x="11475720" y="6437376"/>
            <a:ext cx="228600" cy="164592"/>
          </a:xfrm>
          <a:prstGeom prst="rect">
            <a:avLst/>
          </a:prstGeom>
          <a:noFill/>
          <a:ln/>
        </p:spPr>
        <p:txBody>
          <a:bodyPr wrap="square" lIns="0" tIns="0" rIns="0" bIns="0" rtlCol="0" anchor="ctr"/>
          <a:lstStyle/>
          <a:p>
            <a:pPr algn="r" indent="0" marL="0">
              <a:buNone/>
            </a:pPr>
            <a:r>
              <a:rPr lang="en-US" sz="850" dirty="0">
                <a:solidFill>
                  <a:srgbClr val="778897"/>
                </a:solidFill>
              </a:rPr>
              <a:t>13</a:t>
            </a:r>
            <a:endParaRPr lang="en-US" sz="850" dirty="0"/>
          </a:p>
        </p:txBody>
      </p:sp>
      <p:sp>
        <p:nvSpPr>
          <p:cNvPr id="6" name="Text 4"/>
          <p:cNvSpPr/>
          <p:nvPr/>
        </p:nvSpPr>
        <p:spPr>
          <a:xfrm>
            <a:off x="548640" y="310896"/>
            <a:ext cx="5029200" cy="219456"/>
          </a:xfrm>
          <a:prstGeom prst="rect">
            <a:avLst/>
          </a:prstGeom>
          <a:noFill/>
          <a:ln/>
        </p:spPr>
        <p:txBody>
          <a:bodyPr wrap="square" lIns="0" tIns="0" rIns="0" bIns="0" rtlCol="0" anchor="ctr"/>
          <a:lstStyle/>
          <a:p>
            <a:pPr indent="0" marL="0">
              <a:buNone/>
            </a:pPr>
            <a:r>
              <a:rPr lang="en-US" sz="1050" b="1" spc="160" kern="0" dirty="0">
                <a:solidFill>
                  <a:srgbClr val="0078D4"/>
                </a:solidFill>
              </a:rPr>
              <a:t>BICEP Q&amp;A</a:t>
            </a:r>
            <a:endParaRPr lang="en-US" sz="1050" dirty="0"/>
          </a:p>
        </p:txBody>
      </p:sp>
      <p:sp>
        <p:nvSpPr>
          <p:cNvPr id="7" name="Text 5"/>
          <p:cNvSpPr/>
          <p:nvPr/>
        </p:nvSpPr>
        <p:spPr>
          <a:xfrm>
            <a:off x="548640" y="640080"/>
            <a:ext cx="11018520" cy="484632"/>
          </a:xfrm>
          <a:prstGeom prst="rect">
            <a:avLst/>
          </a:prstGeom>
          <a:noFill/>
          <a:ln/>
        </p:spPr>
        <p:txBody>
          <a:bodyPr wrap="square" lIns="0" tIns="0" rIns="0" bIns="0" rtlCol="0" anchor="ctr"/>
          <a:lstStyle/>
          <a:p>
            <a:pPr indent="0" marL="0">
              <a:buNone/>
            </a:pPr>
            <a:r>
              <a:rPr lang="en-US" sz="2900" b="1" dirty="0">
                <a:solidFill>
                  <a:srgbClr val="102A43"/>
                </a:solidFill>
              </a:rPr>
              <a:t>Questions reviewers are likely to ask</a:t>
            </a:r>
            <a:endParaRPr lang="en-US" sz="2900" dirty="0"/>
          </a:p>
        </p:txBody>
      </p:sp>
      <p:sp>
        <p:nvSpPr>
          <p:cNvPr id="8" name="Shape 6"/>
          <p:cNvSpPr/>
          <p:nvPr/>
        </p:nvSpPr>
        <p:spPr>
          <a:xfrm>
            <a:off x="594360" y="1298448"/>
            <a:ext cx="5257800" cy="694944"/>
          </a:xfrm>
          <a:prstGeom prst="roundRect">
            <a:avLst>
              <a:gd name="adj" fmla="val 6579"/>
            </a:avLst>
          </a:prstGeom>
          <a:solidFill>
            <a:srgbClr val="E7F4FC"/>
          </a:solidFill>
          <a:ln w="12700">
            <a:solidFill>
              <a:srgbClr val="B9DAEE"/>
            </a:solidFill>
            <a:prstDash val="solid"/>
          </a:ln>
        </p:spPr>
      </p:sp>
      <p:sp>
        <p:nvSpPr>
          <p:cNvPr id="9" name="Text 7"/>
          <p:cNvSpPr/>
          <p:nvPr/>
        </p:nvSpPr>
        <p:spPr>
          <a:xfrm>
            <a:off x="758952" y="1435608"/>
            <a:ext cx="1097280" cy="182880"/>
          </a:xfrm>
          <a:prstGeom prst="rect">
            <a:avLst/>
          </a:prstGeom>
          <a:noFill/>
          <a:ln/>
        </p:spPr>
        <p:txBody>
          <a:bodyPr wrap="square" lIns="0" tIns="0" rIns="0" bIns="0" rtlCol="0" anchor="ctr"/>
          <a:lstStyle/>
          <a:p>
            <a:pPr indent="0" marL="0">
              <a:buNone/>
            </a:pPr>
            <a:r>
              <a:rPr lang="en-US" sz="950" b="1" spc="80" kern="0" dirty="0">
                <a:solidFill>
                  <a:srgbClr val="0078D4"/>
                </a:solidFill>
              </a:rPr>
              <a:t>SCOPE</a:t>
            </a:r>
            <a:endParaRPr lang="en-US" sz="950" dirty="0"/>
          </a:p>
        </p:txBody>
      </p:sp>
      <p:sp>
        <p:nvSpPr>
          <p:cNvPr id="10" name="Text 8"/>
          <p:cNvSpPr/>
          <p:nvPr/>
        </p:nvSpPr>
        <p:spPr>
          <a:xfrm>
            <a:off x="1920240" y="1417320"/>
            <a:ext cx="3703320" cy="274320"/>
          </a:xfrm>
          <a:prstGeom prst="rect">
            <a:avLst/>
          </a:prstGeom>
          <a:noFill/>
          <a:ln/>
        </p:spPr>
        <p:txBody>
          <a:bodyPr wrap="square" lIns="0" tIns="0" rIns="0" bIns="0" rtlCol="0" anchor="ctr"/>
          <a:lstStyle/>
          <a:p>
            <a:pPr indent="0" marL="0">
              <a:buNone/>
            </a:pPr>
            <a:r>
              <a:rPr lang="en-US" sz="1330" b="1" dirty="0">
                <a:solidFill>
                  <a:srgbClr val="102A43"/>
                </a:solidFill>
              </a:rPr>
              <a:t>Why subscription scope for main.bicep?</a:t>
            </a:r>
            <a:endParaRPr lang="en-US" sz="1330" dirty="0"/>
          </a:p>
        </p:txBody>
      </p:sp>
      <p:sp>
        <p:nvSpPr>
          <p:cNvPr id="11" name="Shape 9"/>
          <p:cNvSpPr/>
          <p:nvPr/>
        </p:nvSpPr>
        <p:spPr>
          <a:xfrm>
            <a:off x="6217920" y="1298448"/>
            <a:ext cx="5257800" cy="694944"/>
          </a:xfrm>
          <a:prstGeom prst="roundRect">
            <a:avLst>
              <a:gd name="adj" fmla="val 6579"/>
            </a:avLst>
          </a:prstGeom>
          <a:solidFill>
            <a:srgbClr val="E5F7F2"/>
          </a:solidFill>
          <a:ln w="12700">
            <a:solidFill>
              <a:srgbClr val="B6DED5"/>
            </a:solidFill>
            <a:prstDash val="solid"/>
          </a:ln>
        </p:spPr>
      </p:sp>
      <p:sp>
        <p:nvSpPr>
          <p:cNvPr id="12" name="Text 10"/>
          <p:cNvSpPr/>
          <p:nvPr/>
        </p:nvSpPr>
        <p:spPr>
          <a:xfrm>
            <a:off x="6382512" y="1435608"/>
            <a:ext cx="1097280" cy="182880"/>
          </a:xfrm>
          <a:prstGeom prst="rect">
            <a:avLst/>
          </a:prstGeom>
          <a:noFill/>
          <a:ln/>
        </p:spPr>
        <p:txBody>
          <a:bodyPr wrap="square" lIns="0" tIns="0" rIns="0" bIns="0" rtlCol="0" anchor="ctr"/>
          <a:lstStyle/>
          <a:p>
            <a:pPr indent="0" marL="0">
              <a:buNone/>
            </a:pPr>
            <a:r>
              <a:rPr lang="en-US" sz="950" b="1" spc="80" kern="0" dirty="0">
                <a:solidFill>
                  <a:srgbClr val="008C83"/>
                </a:solidFill>
              </a:rPr>
              <a:t>NAMES</a:t>
            </a:r>
            <a:endParaRPr lang="en-US" sz="950" dirty="0"/>
          </a:p>
        </p:txBody>
      </p:sp>
      <p:sp>
        <p:nvSpPr>
          <p:cNvPr id="13" name="Text 11"/>
          <p:cNvSpPr/>
          <p:nvPr/>
        </p:nvSpPr>
        <p:spPr>
          <a:xfrm>
            <a:off x="7543800" y="1417320"/>
            <a:ext cx="3703320" cy="274320"/>
          </a:xfrm>
          <a:prstGeom prst="rect">
            <a:avLst/>
          </a:prstGeom>
          <a:noFill/>
          <a:ln/>
        </p:spPr>
        <p:txBody>
          <a:bodyPr wrap="square" lIns="0" tIns="0" rIns="0" bIns="0" rtlCol="0" anchor="ctr"/>
          <a:lstStyle/>
          <a:p>
            <a:pPr indent="0" marL="0">
              <a:buNone/>
            </a:pPr>
            <a:r>
              <a:rPr lang="en-US" sz="1330" b="1" dirty="0">
                <a:solidFill>
                  <a:srgbClr val="102A43"/>
                </a:solidFill>
              </a:rPr>
              <a:t>How are ACR and Key Vault names globally unique?</a:t>
            </a:r>
            <a:endParaRPr lang="en-US" sz="1330" dirty="0"/>
          </a:p>
        </p:txBody>
      </p:sp>
      <p:sp>
        <p:nvSpPr>
          <p:cNvPr id="14" name="Shape 12"/>
          <p:cNvSpPr/>
          <p:nvPr/>
        </p:nvSpPr>
        <p:spPr>
          <a:xfrm>
            <a:off x="594360" y="2231136"/>
            <a:ext cx="5257800" cy="694944"/>
          </a:xfrm>
          <a:prstGeom prst="roundRect">
            <a:avLst>
              <a:gd name="adj" fmla="val 6579"/>
            </a:avLst>
          </a:prstGeom>
          <a:solidFill>
            <a:srgbClr val="E7F4FC"/>
          </a:solidFill>
          <a:ln w="12700">
            <a:solidFill>
              <a:srgbClr val="B9DAEE"/>
            </a:solidFill>
            <a:prstDash val="solid"/>
          </a:ln>
        </p:spPr>
      </p:sp>
      <p:sp>
        <p:nvSpPr>
          <p:cNvPr id="15" name="Text 13"/>
          <p:cNvSpPr/>
          <p:nvPr/>
        </p:nvSpPr>
        <p:spPr>
          <a:xfrm>
            <a:off x="758952" y="2368296"/>
            <a:ext cx="1097280" cy="182880"/>
          </a:xfrm>
          <a:prstGeom prst="rect">
            <a:avLst/>
          </a:prstGeom>
          <a:noFill/>
          <a:ln/>
        </p:spPr>
        <p:txBody>
          <a:bodyPr wrap="square" lIns="0" tIns="0" rIns="0" bIns="0" rtlCol="0" anchor="ctr"/>
          <a:lstStyle/>
          <a:p>
            <a:pPr indent="0" marL="0">
              <a:buNone/>
            </a:pPr>
            <a:r>
              <a:rPr lang="en-US" sz="950" b="1" spc="80" kern="0" dirty="0">
                <a:solidFill>
                  <a:srgbClr val="0078D4"/>
                </a:solidFill>
              </a:rPr>
              <a:t>IDENTITY</a:t>
            </a:r>
            <a:endParaRPr lang="en-US" sz="950" dirty="0"/>
          </a:p>
        </p:txBody>
      </p:sp>
      <p:sp>
        <p:nvSpPr>
          <p:cNvPr id="16" name="Text 14"/>
          <p:cNvSpPr/>
          <p:nvPr/>
        </p:nvSpPr>
        <p:spPr>
          <a:xfrm>
            <a:off x="1920240" y="2350008"/>
            <a:ext cx="3703320" cy="274320"/>
          </a:xfrm>
          <a:prstGeom prst="rect">
            <a:avLst/>
          </a:prstGeom>
          <a:noFill/>
          <a:ln/>
        </p:spPr>
        <p:txBody>
          <a:bodyPr wrap="square" lIns="0" tIns="0" rIns="0" bIns="0" rtlCol="0" anchor="ctr"/>
          <a:lstStyle/>
          <a:p>
            <a:pPr indent="0" marL="0">
              <a:buNone/>
            </a:pPr>
            <a:r>
              <a:rPr lang="en-US" sz="1330" b="1" dirty="0">
                <a:solidFill>
                  <a:srgbClr val="102A43"/>
                </a:solidFill>
              </a:rPr>
              <a:t>Why user-assigned managed identity?</a:t>
            </a:r>
            <a:endParaRPr lang="en-US" sz="1330" dirty="0"/>
          </a:p>
        </p:txBody>
      </p:sp>
      <p:sp>
        <p:nvSpPr>
          <p:cNvPr id="17" name="Shape 15"/>
          <p:cNvSpPr/>
          <p:nvPr/>
        </p:nvSpPr>
        <p:spPr>
          <a:xfrm>
            <a:off x="6217920" y="2231136"/>
            <a:ext cx="5257800" cy="694944"/>
          </a:xfrm>
          <a:prstGeom prst="roundRect">
            <a:avLst>
              <a:gd name="adj" fmla="val 6579"/>
            </a:avLst>
          </a:prstGeom>
          <a:solidFill>
            <a:srgbClr val="E5F7F2"/>
          </a:solidFill>
          <a:ln w="12700">
            <a:solidFill>
              <a:srgbClr val="B6DED5"/>
            </a:solidFill>
            <a:prstDash val="solid"/>
          </a:ln>
        </p:spPr>
      </p:sp>
      <p:sp>
        <p:nvSpPr>
          <p:cNvPr id="18" name="Text 16"/>
          <p:cNvSpPr/>
          <p:nvPr/>
        </p:nvSpPr>
        <p:spPr>
          <a:xfrm>
            <a:off x="6382512" y="2368296"/>
            <a:ext cx="1097280" cy="182880"/>
          </a:xfrm>
          <a:prstGeom prst="rect">
            <a:avLst/>
          </a:prstGeom>
          <a:noFill/>
          <a:ln/>
        </p:spPr>
        <p:txBody>
          <a:bodyPr wrap="square" lIns="0" tIns="0" rIns="0" bIns="0" rtlCol="0" anchor="ctr"/>
          <a:lstStyle/>
          <a:p>
            <a:pPr indent="0" marL="0">
              <a:buNone/>
            </a:pPr>
            <a:r>
              <a:rPr lang="en-US" sz="950" b="1" spc="80" kern="0" dirty="0">
                <a:solidFill>
                  <a:srgbClr val="008C83"/>
                </a:solidFill>
              </a:rPr>
              <a:t>PRIVATE ACCESS</a:t>
            </a:r>
            <a:endParaRPr lang="en-US" sz="950" dirty="0"/>
          </a:p>
        </p:txBody>
      </p:sp>
      <p:sp>
        <p:nvSpPr>
          <p:cNvPr id="19" name="Text 17"/>
          <p:cNvSpPr/>
          <p:nvPr/>
        </p:nvSpPr>
        <p:spPr>
          <a:xfrm>
            <a:off x="7543800" y="2350008"/>
            <a:ext cx="3703320" cy="274320"/>
          </a:xfrm>
          <a:prstGeom prst="rect">
            <a:avLst/>
          </a:prstGeom>
          <a:noFill/>
          <a:ln/>
        </p:spPr>
        <p:txBody>
          <a:bodyPr wrap="square" lIns="0" tIns="0" rIns="0" bIns="0" rtlCol="0" anchor="ctr"/>
          <a:lstStyle/>
          <a:p>
            <a:pPr indent="0" marL="0">
              <a:buNone/>
            </a:pPr>
            <a:r>
              <a:rPr lang="en-US" sz="1330" b="1" dirty="0">
                <a:solidFill>
                  <a:srgbClr val="102A43"/>
                </a:solidFill>
              </a:rPr>
              <a:t>Why ACR Premium and private DNS?</a:t>
            </a:r>
            <a:endParaRPr lang="en-US" sz="1330" dirty="0"/>
          </a:p>
        </p:txBody>
      </p:sp>
      <p:sp>
        <p:nvSpPr>
          <p:cNvPr id="20" name="Shape 18"/>
          <p:cNvSpPr/>
          <p:nvPr/>
        </p:nvSpPr>
        <p:spPr>
          <a:xfrm>
            <a:off x="594360" y="3163824"/>
            <a:ext cx="5257800" cy="694944"/>
          </a:xfrm>
          <a:prstGeom prst="roundRect">
            <a:avLst>
              <a:gd name="adj" fmla="val 6579"/>
            </a:avLst>
          </a:prstGeom>
          <a:solidFill>
            <a:srgbClr val="E7F4FC"/>
          </a:solidFill>
          <a:ln w="12700">
            <a:solidFill>
              <a:srgbClr val="B9DAEE"/>
            </a:solidFill>
            <a:prstDash val="solid"/>
          </a:ln>
        </p:spPr>
      </p:sp>
      <p:sp>
        <p:nvSpPr>
          <p:cNvPr id="21" name="Text 19"/>
          <p:cNvSpPr/>
          <p:nvPr/>
        </p:nvSpPr>
        <p:spPr>
          <a:xfrm>
            <a:off x="758952" y="3300984"/>
            <a:ext cx="1097280" cy="182880"/>
          </a:xfrm>
          <a:prstGeom prst="rect">
            <a:avLst/>
          </a:prstGeom>
          <a:noFill/>
          <a:ln/>
        </p:spPr>
        <p:txBody>
          <a:bodyPr wrap="square" lIns="0" tIns="0" rIns="0" bIns="0" rtlCol="0" anchor="ctr"/>
          <a:lstStyle/>
          <a:p>
            <a:pPr indent="0" marL="0">
              <a:buNone/>
            </a:pPr>
            <a:r>
              <a:rPr lang="en-US" sz="950" b="1" spc="80" kern="0" dirty="0">
                <a:solidFill>
                  <a:srgbClr val="0078D4"/>
                </a:solidFill>
              </a:rPr>
              <a:t>COMPILER</a:t>
            </a:r>
            <a:endParaRPr lang="en-US" sz="950" dirty="0"/>
          </a:p>
        </p:txBody>
      </p:sp>
      <p:sp>
        <p:nvSpPr>
          <p:cNvPr id="22" name="Text 20"/>
          <p:cNvSpPr/>
          <p:nvPr/>
        </p:nvSpPr>
        <p:spPr>
          <a:xfrm>
            <a:off x="1920240" y="3282696"/>
            <a:ext cx="3703320" cy="274320"/>
          </a:xfrm>
          <a:prstGeom prst="rect">
            <a:avLst/>
          </a:prstGeom>
          <a:noFill/>
          <a:ln/>
        </p:spPr>
        <p:txBody>
          <a:bodyPr wrap="square" lIns="0" tIns="0" rIns="0" bIns="0" rtlCol="0" anchor="ctr"/>
          <a:lstStyle/>
          <a:p>
            <a:pPr indent="0" marL="0">
              <a:buNone/>
            </a:pPr>
            <a:r>
              <a:rPr lang="en-US" sz="1330" b="1" dirty="0">
                <a:solidFill>
                  <a:srgbClr val="102A43"/>
                </a:solidFill>
              </a:rPr>
              <a:t>Why official CLI instead of a TS AST package?</a:t>
            </a:r>
            <a:endParaRPr lang="en-US" sz="1330" dirty="0"/>
          </a:p>
        </p:txBody>
      </p:sp>
      <p:sp>
        <p:nvSpPr>
          <p:cNvPr id="23" name="Shape 21"/>
          <p:cNvSpPr/>
          <p:nvPr/>
        </p:nvSpPr>
        <p:spPr>
          <a:xfrm>
            <a:off x="6217920" y="3163824"/>
            <a:ext cx="5257800" cy="694944"/>
          </a:xfrm>
          <a:prstGeom prst="roundRect">
            <a:avLst>
              <a:gd name="adj" fmla="val 6579"/>
            </a:avLst>
          </a:prstGeom>
          <a:solidFill>
            <a:srgbClr val="E5F7F2"/>
          </a:solidFill>
          <a:ln w="12700">
            <a:solidFill>
              <a:srgbClr val="B6DED5"/>
            </a:solidFill>
            <a:prstDash val="solid"/>
          </a:ln>
        </p:spPr>
      </p:sp>
      <p:sp>
        <p:nvSpPr>
          <p:cNvPr id="24" name="Text 22"/>
          <p:cNvSpPr/>
          <p:nvPr/>
        </p:nvSpPr>
        <p:spPr>
          <a:xfrm>
            <a:off x="6382512" y="3300984"/>
            <a:ext cx="1097280" cy="182880"/>
          </a:xfrm>
          <a:prstGeom prst="rect">
            <a:avLst/>
          </a:prstGeom>
          <a:noFill/>
          <a:ln/>
        </p:spPr>
        <p:txBody>
          <a:bodyPr wrap="square" lIns="0" tIns="0" rIns="0" bIns="0" rtlCol="0" anchor="ctr"/>
          <a:lstStyle/>
          <a:p>
            <a:pPr indent="0" marL="0">
              <a:buNone/>
            </a:pPr>
            <a:r>
              <a:rPr lang="en-US" sz="950" b="1" spc="80" kern="0" dirty="0">
                <a:solidFill>
                  <a:srgbClr val="008C83"/>
                </a:solidFill>
              </a:rPr>
              <a:t>MODULES</a:t>
            </a:r>
            <a:endParaRPr lang="en-US" sz="950" dirty="0"/>
          </a:p>
        </p:txBody>
      </p:sp>
      <p:sp>
        <p:nvSpPr>
          <p:cNvPr id="25" name="Text 23"/>
          <p:cNvSpPr/>
          <p:nvPr/>
        </p:nvSpPr>
        <p:spPr>
          <a:xfrm>
            <a:off x="7543800" y="3282696"/>
            <a:ext cx="3703320" cy="274320"/>
          </a:xfrm>
          <a:prstGeom prst="rect">
            <a:avLst/>
          </a:prstGeom>
          <a:noFill/>
          <a:ln/>
        </p:spPr>
        <p:txBody>
          <a:bodyPr wrap="square" lIns="0" tIns="0" rIns="0" bIns="0" rtlCol="0" anchor="ctr"/>
          <a:lstStyle/>
          <a:p>
            <a:pPr indent="0" marL="0">
              <a:buNone/>
            </a:pPr>
            <a:r>
              <a:rPr lang="en-US" sz="1330" b="1" dirty="0">
                <a:solidFill>
                  <a:srgbClr val="102A43"/>
                </a:solidFill>
              </a:rPr>
              <a:t>How are local modules supported safely?</a:t>
            </a:r>
            <a:endParaRPr lang="en-US" sz="1330" dirty="0"/>
          </a:p>
        </p:txBody>
      </p:sp>
      <p:sp>
        <p:nvSpPr>
          <p:cNvPr id="26" name="Shape 24"/>
          <p:cNvSpPr/>
          <p:nvPr/>
        </p:nvSpPr>
        <p:spPr>
          <a:xfrm>
            <a:off x="594360" y="4096512"/>
            <a:ext cx="5257800" cy="694944"/>
          </a:xfrm>
          <a:prstGeom prst="roundRect">
            <a:avLst>
              <a:gd name="adj" fmla="val 6579"/>
            </a:avLst>
          </a:prstGeom>
          <a:solidFill>
            <a:srgbClr val="E7F4FC"/>
          </a:solidFill>
          <a:ln w="12700">
            <a:solidFill>
              <a:srgbClr val="B9DAEE"/>
            </a:solidFill>
            <a:prstDash val="solid"/>
          </a:ln>
        </p:spPr>
      </p:sp>
      <p:sp>
        <p:nvSpPr>
          <p:cNvPr id="27" name="Text 25"/>
          <p:cNvSpPr/>
          <p:nvPr/>
        </p:nvSpPr>
        <p:spPr>
          <a:xfrm>
            <a:off x="758952" y="4233672"/>
            <a:ext cx="1097280" cy="182880"/>
          </a:xfrm>
          <a:prstGeom prst="rect">
            <a:avLst/>
          </a:prstGeom>
          <a:noFill/>
          <a:ln/>
        </p:spPr>
        <p:txBody>
          <a:bodyPr wrap="square" lIns="0" tIns="0" rIns="0" bIns="0" rtlCol="0" anchor="ctr"/>
          <a:lstStyle/>
          <a:p>
            <a:pPr indent="0" marL="0">
              <a:buNone/>
            </a:pPr>
            <a:r>
              <a:rPr lang="en-US" sz="950" b="1" spc="80" kern="0" dirty="0">
                <a:solidFill>
                  <a:srgbClr val="0078D4"/>
                </a:solidFill>
              </a:rPr>
              <a:t>DEPENDENCIES</a:t>
            </a:r>
            <a:endParaRPr lang="en-US" sz="950" dirty="0"/>
          </a:p>
        </p:txBody>
      </p:sp>
      <p:sp>
        <p:nvSpPr>
          <p:cNvPr id="28" name="Text 26"/>
          <p:cNvSpPr/>
          <p:nvPr/>
        </p:nvSpPr>
        <p:spPr>
          <a:xfrm>
            <a:off x="1920240" y="4215384"/>
            <a:ext cx="3703320" cy="274320"/>
          </a:xfrm>
          <a:prstGeom prst="rect">
            <a:avLst/>
          </a:prstGeom>
          <a:noFill/>
          <a:ln/>
        </p:spPr>
        <p:txBody>
          <a:bodyPr wrap="square" lIns="0" tIns="0" rIns="0" bIns="0" rtlCol="0" anchor="ctr"/>
          <a:lstStyle/>
          <a:p>
            <a:pPr indent="0" marL="0">
              <a:buNone/>
            </a:pPr>
            <a:r>
              <a:rPr lang="en-US" sz="1330" b="1" dirty="0">
                <a:solidFill>
                  <a:srgbClr val="102A43"/>
                </a:solidFill>
              </a:rPr>
              <a:t>When is explicit dependsOn required?</a:t>
            </a:r>
            <a:endParaRPr lang="en-US" sz="1330" dirty="0"/>
          </a:p>
        </p:txBody>
      </p:sp>
      <p:sp>
        <p:nvSpPr>
          <p:cNvPr id="29" name="Shape 27"/>
          <p:cNvSpPr/>
          <p:nvPr/>
        </p:nvSpPr>
        <p:spPr>
          <a:xfrm>
            <a:off x="6217920" y="4096512"/>
            <a:ext cx="5257800" cy="694944"/>
          </a:xfrm>
          <a:prstGeom prst="roundRect">
            <a:avLst>
              <a:gd name="adj" fmla="val 6579"/>
            </a:avLst>
          </a:prstGeom>
          <a:solidFill>
            <a:srgbClr val="E5F7F2"/>
          </a:solidFill>
          <a:ln w="12700">
            <a:solidFill>
              <a:srgbClr val="B6DED5"/>
            </a:solidFill>
            <a:prstDash val="solid"/>
          </a:ln>
        </p:spPr>
      </p:sp>
      <p:sp>
        <p:nvSpPr>
          <p:cNvPr id="30" name="Text 28"/>
          <p:cNvSpPr/>
          <p:nvPr/>
        </p:nvSpPr>
        <p:spPr>
          <a:xfrm>
            <a:off x="6382512" y="4233672"/>
            <a:ext cx="1097280" cy="182880"/>
          </a:xfrm>
          <a:prstGeom prst="rect">
            <a:avLst/>
          </a:prstGeom>
          <a:noFill/>
          <a:ln/>
        </p:spPr>
        <p:txBody>
          <a:bodyPr wrap="square" lIns="0" tIns="0" rIns="0" bIns="0" rtlCol="0" anchor="ctr"/>
          <a:lstStyle/>
          <a:p>
            <a:pPr indent="0" marL="0">
              <a:buNone/>
            </a:pPr>
            <a:r>
              <a:rPr lang="en-US" sz="950" b="1" spc="80" kern="0" dirty="0">
                <a:solidFill>
                  <a:srgbClr val="008C83"/>
                </a:solidFill>
              </a:rPr>
              <a:t>ENVIRONMENTS</a:t>
            </a:r>
            <a:endParaRPr lang="en-US" sz="950" dirty="0"/>
          </a:p>
        </p:txBody>
      </p:sp>
      <p:sp>
        <p:nvSpPr>
          <p:cNvPr id="31" name="Text 29"/>
          <p:cNvSpPr/>
          <p:nvPr/>
        </p:nvSpPr>
        <p:spPr>
          <a:xfrm>
            <a:off x="7543800" y="4215384"/>
            <a:ext cx="3703320" cy="274320"/>
          </a:xfrm>
          <a:prstGeom prst="rect">
            <a:avLst/>
          </a:prstGeom>
          <a:noFill/>
          <a:ln/>
        </p:spPr>
        <p:txBody>
          <a:bodyPr wrap="square" lIns="0" tIns="0" rIns="0" bIns="0" rtlCol="0" anchor="ctr"/>
          <a:lstStyle/>
          <a:p>
            <a:pPr indent="0" marL="0">
              <a:buNone/>
            </a:pPr>
            <a:r>
              <a:rPr lang="en-US" sz="1330" b="1" dirty="0">
                <a:solidFill>
                  <a:srgbClr val="102A43"/>
                </a:solidFill>
              </a:rPr>
              <a:t>How does one template serve dev and prod?</a:t>
            </a:r>
            <a:endParaRPr lang="en-US" sz="1330" dirty="0"/>
          </a:p>
        </p:txBody>
      </p:sp>
      <p:sp>
        <p:nvSpPr>
          <p:cNvPr id="32" name="Shape 30"/>
          <p:cNvSpPr/>
          <p:nvPr/>
        </p:nvSpPr>
        <p:spPr>
          <a:xfrm>
            <a:off x="594360" y="5029200"/>
            <a:ext cx="5257800" cy="694944"/>
          </a:xfrm>
          <a:prstGeom prst="roundRect">
            <a:avLst>
              <a:gd name="adj" fmla="val 6579"/>
            </a:avLst>
          </a:prstGeom>
          <a:solidFill>
            <a:srgbClr val="E7F4FC"/>
          </a:solidFill>
          <a:ln w="12700">
            <a:solidFill>
              <a:srgbClr val="B9DAEE"/>
            </a:solidFill>
            <a:prstDash val="solid"/>
          </a:ln>
        </p:spPr>
      </p:sp>
      <p:sp>
        <p:nvSpPr>
          <p:cNvPr id="33" name="Text 31"/>
          <p:cNvSpPr/>
          <p:nvPr/>
        </p:nvSpPr>
        <p:spPr>
          <a:xfrm>
            <a:off x="758952" y="5166360"/>
            <a:ext cx="1097280" cy="182880"/>
          </a:xfrm>
          <a:prstGeom prst="rect">
            <a:avLst/>
          </a:prstGeom>
          <a:noFill/>
          <a:ln/>
        </p:spPr>
        <p:txBody>
          <a:bodyPr wrap="square" lIns="0" tIns="0" rIns="0" bIns="0" rtlCol="0" anchor="ctr"/>
          <a:lstStyle/>
          <a:p>
            <a:pPr indent="0" marL="0">
              <a:buNone/>
            </a:pPr>
            <a:r>
              <a:rPr lang="en-US" sz="950" b="1" spc="80" kern="0" dirty="0">
                <a:solidFill>
                  <a:srgbClr val="0078D4"/>
                </a:solidFill>
              </a:rPr>
              <a:t>VALIDATION</a:t>
            </a:r>
            <a:endParaRPr lang="en-US" sz="950" dirty="0"/>
          </a:p>
        </p:txBody>
      </p:sp>
      <p:sp>
        <p:nvSpPr>
          <p:cNvPr id="34" name="Text 32"/>
          <p:cNvSpPr/>
          <p:nvPr/>
        </p:nvSpPr>
        <p:spPr>
          <a:xfrm>
            <a:off x="1920240" y="5148072"/>
            <a:ext cx="3703320" cy="274320"/>
          </a:xfrm>
          <a:prstGeom prst="rect">
            <a:avLst/>
          </a:prstGeom>
          <a:noFill/>
          <a:ln/>
        </p:spPr>
        <p:txBody>
          <a:bodyPr wrap="square" lIns="0" tIns="0" rIns="0" bIns="0" rtlCol="0" anchor="ctr"/>
          <a:lstStyle/>
          <a:p>
            <a:pPr indent="0" marL="0">
              <a:buNone/>
            </a:pPr>
            <a:r>
              <a:rPr lang="en-US" sz="1330" b="1" dirty="0">
                <a:solidFill>
                  <a:srgbClr val="102A43"/>
                </a:solidFill>
              </a:rPr>
              <a:t>Compile, lint, preview—what does each prove?</a:t>
            </a:r>
            <a:endParaRPr lang="en-US" sz="1330" dirty="0"/>
          </a:p>
        </p:txBody>
      </p:sp>
      <p:sp>
        <p:nvSpPr>
          <p:cNvPr id="35" name="Shape 33"/>
          <p:cNvSpPr/>
          <p:nvPr/>
        </p:nvSpPr>
        <p:spPr>
          <a:xfrm>
            <a:off x="6217920" y="5029200"/>
            <a:ext cx="5257800" cy="694944"/>
          </a:xfrm>
          <a:prstGeom prst="roundRect">
            <a:avLst>
              <a:gd name="adj" fmla="val 6579"/>
            </a:avLst>
          </a:prstGeom>
          <a:solidFill>
            <a:srgbClr val="E5F7F2"/>
          </a:solidFill>
          <a:ln w="12700">
            <a:solidFill>
              <a:srgbClr val="B6DED5"/>
            </a:solidFill>
            <a:prstDash val="solid"/>
          </a:ln>
        </p:spPr>
      </p:sp>
      <p:sp>
        <p:nvSpPr>
          <p:cNvPr id="36" name="Text 34"/>
          <p:cNvSpPr/>
          <p:nvPr/>
        </p:nvSpPr>
        <p:spPr>
          <a:xfrm>
            <a:off x="6382512" y="5166360"/>
            <a:ext cx="1097280" cy="182880"/>
          </a:xfrm>
          <a:prstGeom prst="rect">
            <a:avLst/>
          </a:prstGeom>
          <a:noFill/>
          <a:ln/>
        </p:spPr>
        <p:txBody>
          <a:bodyPr wrap="square" lIns="0" tIns="0" rIns="0" bIns="0" rtlCol="0" anchor="ctr"/>
          <a:lstStyle/>
          <a:p>
            <a:pPr indent="0" marL="0">
              <a:buNone/>
            </a:pPr>
            <a:r>
              <a:rPr lang="en-US" sz="950" b="1" spc="80" kern="0" dirty="0">
                <a:solidFill>
                  <a:srgbClr val="008C83"/>
                </a:solidFill>
              </a:rPr>
              <a:t>ROLLBACK</a:t>
            </a:r>
            <a:endParaRPr lang="en-US" sz="950" dirty="0"/>
          </a:p>
        </p:txBody>
      </p:sp>
      <p:sp>
        <p:nvSpPr>
          <p:cNvPr id="37" name="Text 35"/>
          <p:cNvSpPr/>
          <p:nvPr/>
        </p:nvSpPr>
        <p:spPr>
          <a:xfrm>
            <a:off x="7543800" y="5148072"/>
            <a:ext cx="3703320" cy="274320"/>
          </a:xfrm>
          <a:prstGeom prst="rect">
            <a:avLst/>
          </a:prstGeom>
          <a:noFill/>
          <a:ln/>
        </p:spPr>
        <p:txBody>
          <a:bodyPr wrap="square" lIns="0" tIns="0" rIns="0" bIns="0" rtlCol="0" anchor="ctr"/>
          <a:lstStyle/>
          <a:p>
            <a:pPr indent="0" marL="0">
              <a:buNone/>
            </a:pPr>
            <a:r>
              <a:rPr lang="en-US" sz="1330" b="1" dirty="0">
                <a:solidFill>
                  <a:srgbClr val="102A43"/>
                </a:solidFill>
              </a:rPr>
              <a:t>How is a previous release restored?</a:t>
            </a:r>
            <a:endParaRPr lang="en-US" sz="1330" dirty="0"/>
          </a:p>
        </p:txBody>
      </p:sp>
      <p:sp>
        <p:nvSpPr>
          <p:cNvPr id="38" name="Text 36"/>
          <p:cNvSpPr/>
          <p:nvPr/>
        </p:nvSpPr>
        <p:spPr>
          <a:xfrm>
            <a:off x="1828800" y="6080760"/>
            <a:ext cx="8503920" cy="228600"/>
          </a:xfrm>
          <a:prstGeom prst="rect">
            <a:avLst/>
          </a:prstGeom>
          <a:noFill/>
          <a:ln/>
        </p:spPr>
        <p:txBody>
          <a:bodyPr wrap="square" lIns="0" tIns="0" rIns="0" bIns="0" rtlCol="0" anchor="ctr"/>
          <a:lstStyle/>
          <a:p>
            <a:pPr algn="ctr" indent="0" marL="0">
              <a:buNone/>
            </a:pPr>
            <a:r>
              <a:rPr lang="en-US" sz="1250" i="1" dirty="0">
                <a:solidFill>
                  <a:srgbClr val="5D6B78"/>
                </a:solidFill>
              </a:rPr>
              <a:t>Detailed answers are embedded in the speaker notes and companion notes document.</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02A43"/>
        </a:solidFill>
      </p:bgPr>
    </p:bg>
    <p:spTree>
      <p:nvGrpSpPr>
        <p:cNvPr id="1" name=""/>
        <p:cNvGrpSpPr/>
        <p:nvPr/>
      </p:nvGrpSpPr>
      <p:grpSpPr>
        <a:xfrm>
          <a:off x="0" y="0"/>
          <a:ext cx="0" cy="0"/>
          <a:chOff x="0" y="0"/>
          <a:chExt cx="0" cy="0"/>
        </a:xfrm>
      </p:grpSpPr>
      <p:sp>
        <p:nvSpPr>
          <p:cNvPr id="2" name="Text 0"/>
          <p:cNvSpPr/>
          <p:nvPr/>
        </p:nvSpPr>
        <p:spPr>
          <a:xfrm>
            <a:off x="658368" y="566928"/>
            <a:ext cx="2743200" cy="246888"/>
          </a:xfrm>
          <a:prstGeom prst="rect">
            <a:avLst/>
          </a:prstGeom>
          <a:noFill/>
          <a:ln/>
        </p:spPr>
        <p:txBody>
          <a:bodyPr wrap="square" lIns="0" tIns="0" rIns="0" bIns="0" rtlCol="0" anchor="ctr"/>
          <a:lstStyle/>
          <a:p>
            <a:pPr indent="0" marL="0">
              <a:buNone/>
            </a:pPr>
            <a:r>
              <a:rPr lang="en-US" sz="1100" b="1" spc="200" kern="0" dirty="0">
                <a:solidFill>
                  <a:srgbClr val="84D5FF"/>
                </a:solidFill>
              </a:rPr>
              <a:t>PROJECT OUTCOME</a:t>
            </a:r>
            <a:endParaRPr lang="en-US" sz="1100" dirty="0"/>
          </a:p>
        </p:txBody>
      </p:sp>
      <p:sp>
        <p:nvSpPr>
          <p:cNvPr id="3" name="Text 1"/>
          <p:cNvSpPr/>
          <p:nvPr/>
        </p:nvSpPr>
        <p:spPr>
          <a:xfrm>
            <a:off x="658368" y="1143000"/>
            <a:ext cx="6583680" cy="2011680"/>
          </a:xfrm>
          <a:prstGeom prst="rect">
            <a:avLst/>
          </a:prstGeom>
          <a:noFill/>
          <a:ln/>
        </p:spPr>
        <p:txBody>
          <a:bodyPr wrap="square" lIns="0" tIns="0" rIns="0" bIns="0" rtlCol="0" anchor="ctr"/>
          <a:lstStyle/>
          <a:p>
            <a:pPr indent="0" marL="0">
              <a:buNone/>
            </a:pPr>
            <a:r>
              <a:rPr lang="en-US" sz="3700" b="1" dirty="0">
                <a:solidFill>
                  <a:srgbClr val="FFFFFF"/>
                </a:solidFill>
              </a:rPr>
              <a:t>Bicep understanding</a:t>
            </a:r>
            <a:endParaRPr lang="en-US" sz="3700" dirty="0"/>
          </a:p>
          <a:p>
            <a:pPr indent="0" marL="0">
              <a:buNone/>
            </a:pPr>
            <a:r>
              <a:rPr lang="en-US" sz="3700" b="1" dirty="0">
                <a:solidFill>
                  <a:srgbClr val="FFFFFF"/>
                </a:solidFill>
              </a:rPr>
              <a:t>became an operational</a:t>
            </a:r>
            <a:endParaRPr lang="en-US" sz="3700" dirty="0"/>
          </a:p>
          <a:p>
            <a:pPr indent="0" marL="0">
              <a:buNone/>
            </a:pPr>
            <a:r>
              <a:rPr lang="en-US" sz="3700" b="1" dirty="0">
                <a:solidFill>
                  <a:srgbClr val="FFFFFF"/>
                </a:solidFill>
              </a:rPr>
              <a:t>Azure system.</a:t>
            </a:r>
            <a:endParaRPr lang="en-US" sz="3700" dirty="0"/>
          </a:p>
        </p:txBody>
      </p:sp>
      <p:sp>
        <p:nvSpPr>
          <p:cNvPr id="4" name="Text 2"/>
          <p:cNvSpPr/>
          <p:nvPr/>
        </p:nvSpPr>
        <p:spPr>
          <a:xfrm>
            <a:off x="685800" y="3767328"/>
            <a:ext cx="6217920" cy="365760"/>
          </a:xfrm>
          <a:prstGeom prst="rect">
            <a:avLst/>
          </a:prstGeom>
          <a:noFill/>
          <a:ln/>
        </p:spPr>
        <p:txBody>
          <a:bodyPr wrap="square" lIns="0" tIns="0" rIns="0" bIns="0" rtlCol="0" anchor="ctr"/>
          <a:lstStyle/>
          <a:p>
            <a:pPr indent="0" marL="0">
              <a:buNone/>
            </a:pPr>
            <a:r>
              <a:rPr lang="en-US" sz="1900" dirty="0">
                <a:solidFill>
                  <a:srgbClr val="CFDCE6"/>
                </a:solidFill>
              </a:rPr>
              <a:t>Semantic • Secure • Observable • Reproducible</a:t>
            </a:r>
            <a:endParaRPr lang="en-US" sz="1900" dirty="0"/>
          </a:p>
        </p:txBody>
      </p:sp>
      <p:sp>
        <p:nvSpPr>
          <p:cNvPr id="5" name="Shape 3"/>
          <p:cNvSpPr/>
          <p:nvPr/>
        </p:nvSpPr>
        <p:spPr>
          <a:xfrm>
            <a:off x="8229600" y="1143000"/>
            <a:ext cx="2880360" cy="2880360"/>
          </a:xfrm>
          <a:prstGeom prst="ellipse">
            <a:avLst/>
          </a:prstGeom>
          <a:solidFill>
            <a:srgbClr val="0078D4"/>
          </a:solidFill>
          <a:ln w="38100">
            <a:solidFill>
              <a:srgbClr val="00A4EF"/>
            </a:solidFill>
            <a:prstDash val="solid"/>
          </a:ln>
        </p:spPr>
      </p:sp>
      <p:sp>
        <p:nvSpPr>
          <p:cNvPr id="6" name="Text 4"/>
          <p:cNvSpPr/>
          <p:nvPr/>
        </p:nvSpPr>
        <p:spPr>
          <a:xfrm>
            <a:off x="8641080" y="1874520"/>
            <a:ext cx="2057400" cy="1280160"/>
          </a:xfrm>
          <a:prstGeom prst="rect">
            <a:avLst/>
          </a:prstGeom>
          <a:noFill/>
          <a:ln/>
        </p:spPr>
        <p:txBody>
          <a:bodyPr wrap="square" lIns="0" tIns="0" rIns="0" bIns="0" rtlCol="0" anchor="ctr"/>
          <a:lstStyle/>
          <a:p>
            <a:pPr algn="ctr" indent="0" marL="0">
              <a:buNone/>
            </a:pPr>
            <a:r>
              <a:rPr lang="en-US" sz="2400" b="1" dirty="0">
                <a:solidFill>
                  <a:srgbClr val="FFFFFF"/>
                </a:solidFill>
              </a:rPr>
              <a:t>AZURE</a:t>
            </a:r>
            <a:endParaRPr lang="en-US" sz="2400" dirty="0"/>
          </a:p>
          <a:p>
            <a:pPr algn="ctr" indent="0" marL="0">
              <a:buNone/>
            </a:pPr>
            <a:r>
              <a:rPr lang="en-US" sz="2400" b="1" dirty="0">
                <a:solidFill>
                  <a:srgbClr val="FFFFFF"/>
                </a:solidFill>
              </a:rPr>
              <a:t>VALIDATED</a:t>
            </a:r>
            <a:endParaRPr lang="en-US" sz="2400" dirty="0"/>
          </a:p>
          <a:p>
            <a:pPr algn="ctr" indent="0" marL="0">
              <a:buNone/>
            </a:pPr>
            <a:r>
              <a:rPr lang="en-US" sz="2400" b="1" dirty="0">
                <a:solidFill>
                  <a:srgbClr val="FFFFFF"/>
                </a:solidFill>
              </a:rPr>
              <a:t>READY FOR DEV</a:t>
            </a:r>
            <a:endParaRPr lang="en-US" sz="2400" dirty="0"/>
          </a:p>
        </p:txBody>
      </p:sp>
      <p:sp>
        <p:nvSpPr>
          <p:cNvPr id="7" name="Shape 5"/>
          <p:cNvSpPr/>
          <p:nvPr/>
        </p:nvSpPr>
        <p:spPr>
          <a:xfrm>
            <a:off x="685800" y="4892040"/>
            <a:ext cx="2103120" cy="347472"/>
          </a:xfrm>
          <a:prstGeom prst="roundRect">
            <a:avLst>
              <a:gd name="adj" fmla="val 26316"/>
            </a:avLst>
          </a:prstGeom>
          <a:solidFill>
            <a:srgbClr val="008C83"/>
          </a:solidFill>
          <a:ln w="12700">
            <a:solidFill>
              <a:srgbClr val="008C83"/>
            </a:solidFill>
            <a:prstDash val="solid"/>
          </a:ln>
        </p:spPr>
      </p:sp>
      <p:sp>
        <p:nvSpPr>
          <p:cNvPr id="8" name="Text 6"/>
          <p:cNvSpPr/>
          <p:nvPr/>
        </p:nvSpPr>
        <p:spPr>
          <a:xfrm>
            <a:off x="685800" y="4942332"/>
            <a:ext cx="2103120" cy="201168"/>
          </a:xfrm>
          <a:prstGeom prst="rect">
            <a:avLst/>
          </a:prstGeom>
          <a:noFill/>
          <a:ln/>
        </p:spPr>
        <p:txBody>
          <a:bodyPr wrap="square" lIns="0" tIns="0" rIns="0" bIns="0" rtlCol="0" anchor="ctr"/>
          <a:lstStyle/>
          <a:p>
            <a:pPr algn="ctr" indent="0" marL="0">
              <a:buNone/>
            </a:pPr>
            <a:r>
              <a:rPr lang="en-US" sz="1050" b="1" dirty="0">
                <a:solidFill>
                  <a:srgbClr val="FFFFFF"/>
                </a:solidFill>
              </a:rPr>
              <a:t>CREATE ENTRA APPS</a:t>
            </a:r>
            <a:endParaRPr lang="en-US" sz="1050" dirty="0"/>
          </a:p>
        </p:txBody>
      </p:sp>
      <p:sp>
        <p:nvSpPr>
          <p:cNvPr id="9" name="Shape 7"/>
          <p:cNvSpPr/>
          <p:nvPr/>
        </p:nvSpPr>
        <p:spPr>
          <a:xfrm>
            <a:off x="2971800" y="4892040"/>
            <a:ext cx="1965960" cy="347472"/>
          </a:xfrm>
          <a:prstGeom prst="roundRect">
            <a:avLst>
              <a:gd name="adj" fmla="val 26316"/>
            </a:avLst>
          </a:prstGeom>
          <a:solidFill>
            <a:srgbClr val="0078D4"/>
          </a:solidFill>
          <a:ln w="12700">
            <a:solidFill>
              <a:srgbClr val="0078D4"/>
            </a:solidFill>
            <a:prstDash val="solid"/>
          </a:ln>
        </p:spPr>
      </p:sp>
      <p:sp>
        <p:nvSpPr>
          <p:cNvPr id="10" name="Text 8"/>
          <p:cNvSpPr/>
          <p:nvPr/>
        </p:nvSpPr>
        <p:spPr>
          <a:xfrm>
            <a:off x="2971800" y="4942332"/>
            <a:ext cx="1965960" cy="201168"/>
          </a:xfrm>
          <a:prstGeom prst="rect">
            <a:avLst/>
          </a:prstGeom>
          <a:noFill/>
          <a:ln/>
        </p:spPr>
        <p:txBody>
          <a:bodyPr wrap="square" lIns="0" tIns="0" rIns="0" bIns="0" rtlCol="0" anchor="ctr"/>
          <a:lstStyle/>
          <a:p>
            <a:pPr algn="ctr" indent="0" marL="0">
              <a:buNone/>
            </a:pPr>
            <a:r>
              <a:rPr lang="en-US" sz="1050" b="1" dirty="0">
                <a:solidFill>
                  <a:srgbClr val="FFFFFF"/>
                </a:solidFill>
              </a:rPr>
              <a:t>AZURE VALIDATED</a:t>
            </a:r>
            <a:endParaRPr lang="en-US" sz="1050" dirty="0"/>
          </a:p>
        </p:txBody>
      </p:sp>
      <p:sp>
        <p:nvSpPr>
          <p:cNvPr id="11" name="Shape 9"/>
          <p:cNvSpPr/>
          <p:nvPr/>
        </p:nvSpPr>
        <p:spPr>
          <a:xfrm>
            <a:off x="5120640" y="4892040"/>
            <a:ext cx="1828800" cy="347472"/>
          </a:xfrm>
          <a:prstGeom prst="roundRect">
            <a:avLst>
              <a:gd name="adj" fmla="val 26316"/>
            </a:avLst>
          </a:prstGeom>
          <a:solidFill>
            <a:srgbClr val="F59E0B"/>
          </a:solidFill>
          <a:ln w="12700">
            <a:solidFill>
              <a:srgbClr val="F59E0B"/>
            </a:solidFill>
            <a:prstDash val="solid"/>
          </a:ln>
        </p:spPr>
      </p:sp>
      <p:sp>
        <p:nvSpPr>
          <p:cNvPr id="12" name="Text 10"/>
          <p:cNvSpPr/>
          <p:nvPr/>
        </p:nvSpPr>
        <p:spPr>
          <a:xfrm>
            <a:off x="5120640" y="4942332"/>
            <a:ext cx="1828800" cy="201168"/>
          </a:xfrm>
          <a:prstGeom prst="rect">
            <a:avLst/>
          </a:prstGeom>
          <a:noFill/>
          <a:ln/>
        </p:spPr>
        <p:txBody>
          <a:bodyPr wrap="square" lIns="0" tIns="0" rIns="0" bIns="0" rtlCol="0" anchor="ctr"/>
          <a:lstStyle/>
          <a:p>
            <a:pPr algn="ctr" indent="0" marL="0">
              <a:buNone/>
            </a:pPr>
            <a:r>
              <a:rPr lang="en-US" sz="1050" b="1" dirty="0">
                <a:solidFill>
                  <a:srgbClr val="102A43"/>
                </a:solidFill>
              </a:rPr>
              <a:t>DEPLOY DEV</a:t>
            </a:r>
            <a:endParaRPr lang="en-US" sz="1050" dirty="0"/>
          </a:p>
        </p:txBody>
      </p:sp>
      <p:sp>
        <p:nvSpPr>
          <p:cNvPr id="13" name="Shape 11"/>
          <p:cNvSpPr/>
          <p:nvPr/>
        </p:nvSpPr>
        <p:spPr>
          <a:xfrm>
            <a:off x="7132320" y="4892040"/>
            <a:ext cx="1965960" cy="347472"/>
          </a:xfrm>
          <a:prstGeom prst="roundRect">
            <a:avLst>
              <a:gd name="adj" fmla="val 26316"/>
            </a:avLst>
          </a:prstGeom>
          <a:solidFill>
            <a:srgbClr val="21B573"/>
          </a:solidFill>
          <a:ln w="12700">
            <a:solidFill>
              <a:srgbClr val="21B573"/>
            </a:solidFill>
            <a:prstDash val="solid"/>
          </a:ln>
        </p:spPr>
      </p:sp>
      <p:sp>
        <p:nvSpPr>
          <p:cNvPr id="14" name="Text 12"/>
          <p:cNvSpPr/>
          <p:nvPr/>
        </p:nvSpPr>
        <p:spPr>
          <a:xfrm>
            <a:off x="7132320" y="4942332"/>
            <a:ext cx="1965960" cy="201168"/>
          </a:xfrm>
          <a:prstGeom prst="rect">
            <a:avLst/>
          </a:prstGeom>
          <a:noFill/>
          <a:ln/>
        </p:spPr>
        <p:txBody>
          <a:bodyPr wrap="square" lIns="0" tIns="0" rIns="0" bIns="0" rtlCol="0" anchor="ctr"/>
          <a:lstStyle/>
          <a:p>
            <a:pPr algn="ctr" indent="0" marL="0">
              <a:buNone/>
            </a:pPr>
            <a:r>
              <a:rPr lang="en-US" sz="1050" b="1" dirty="0">
                <a:solidFill>
                  <a:srgbClr val="102A43"/>
                </a:solidFill>
              </a:rPr>
              <a:t>PROMOTE PROD</a:t>
            </a:r>
            <a:endParaRPr lang="en-US" sz="1050" dirty="0"/>
          </a:p>
        </p:txBody>
      </p:sp>
      <p:sp>
        <p:nvSpPr>
          <p:cNvPr id="15" name="Text 13"/>
          <p:cNvSpPr/>
          <p:nvPr/>
        </p:nvSpPr>
        <p:spPr>
          <a:xfrm>
            <a:off x="694944" y="6108192"/>
            <a:ext cx="7498080" cy="237744"/>
          </a:xfrm>
          <a:prstGeom prst="rect">
            <a:avLst/>
          </a:prstGeom>
          <a:noFill/>
          <a:ln/>
        </p:spPr>
        <p:txBody>
          <a:bodyPr wrap="square" lIns="0" tIns="0" rIns="0" bIns="0" rtlCol="0" anchor="ctr"/>
          <a:lstStyle/>
          <a:p>
            <a:pPr indent="0" marL="0">
              <a:buNone/>
            </a:pPr>
            <a:r>
              <a:rPr lang="en-US" sz="1150" dirty="0">
                <a:solidFill>
                  <a:srgbClr val="9EB7C8"/>
                </a:solidFill>
              </a:rPr>
              <a:t>Next gate: tenant configuration and environment deployment verification</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Production Engineering Project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Cloud Workload Protection Readiness Analyzer</dc:title>
  <dc:subject>Project accomplishments, architecture, Bicep implementation, remaining work, and roadmap</dc:subject>
  <dc:creator>Cloud Workload Protection Readiness Analyzer</dc:creator>
  <cp:lastModifiedBy>Cloud Workload Protection Readiness Analyzer</cp:lastModifiedBy>
  <cp:revision>1</cp:revision>
  <dcterms:created xsi:type="dcterms:W3CDTF">2026-09-15T22:58:15Z</dcterms:created>
  <dcterms:modified xsi:type="dcterms:W3CDTF">2026-09-15T22:58:15Z</dcterms:modified>
</cp:coreProperties>
</file>